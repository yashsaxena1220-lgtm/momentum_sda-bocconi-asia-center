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0" r:id="rId22"/>
    <p:sldId id="259" r:id="rId11"/>
    <p:sldId id="271" r:id="rId23"/>
    <p:sldId id="260" r:id="rId12"/>
    <p:sldId id="272" r:id="rId24"/>
    <p:sldId id="261" r:id="rId13"/>
    <p:sldId id="262" r:id="rId14"/>
    <p:sldId id="273" r:id="rId25"/>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4.xml"/><Relationship Id="rId23" Type="http://schemas.openxmlformats.org/officeDocument/2006/relationships/slide" Target="slides/slide6.xml"/><Relationship Id="rId24" Type="http://schemas.openxmlformats.org/officeDocument/2006/relationships/slide" Target="slides/slide8.xml"/><Relationship Id="rId25"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Average PM2.5, Mar 2019 to Feb 2020 (µg/m³)</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dPt>
            <c:idx val="0"/>
            <c:spPr>
              <a:solidFill>
                <a:srgbClr val="B23A2E"/>
              </a:solidFill>
            </c:spPr>
          </c:dPt>
          <c:dPt>
            <c:idx val="1"/>
            <c:spPr>
              <a:solidFill>
                <a:srgbClr val="B23A2E"/>
              </a:solidFill>
            </c:spPr>
          </c:dPt>
          <c:dPt>
            <c:idx val="2"/>
            <c:spPr>
              <a:solidFill>
                <a:srgbClr val="B23A2E"/>
              </a:solidFill>
            </c:spPr>
          </c:dPt>
          <c:cat>
            <c:strRef>
              <c:f>Sheet1!$A$2:$A$9</c:f>
              <c:strCache>
                <c:ptCount val="8"/>
                <c:pt idx="0">
                  <c:v>Delhi</c:v>
                </c:pt>
                <c:pt idx="1">
                  <c:v>Lucknow</c:v>
                </c:pt>
                <c:pt idx="2">
                  <c:v>Patna</c:v>
                </c:pt>
                <c:pt idx="3">
                  <c:v>Kolkata</c:v>
                </c:pt>
                <c:pt idx="4">
                  <c:v>Chennai</c:v>
                </c:pt>
                <c:pt idx="5">
                  <c:v>Hyderabad</c:v>
                </c:pt>
                <c:pt idx="6">
                  <c:v>Mumbai</c:v>
                </c:pt>
                <c:pt idx="7">
                  <c:v>Bengaluru</c:v>
                </c:pt>
              </c:strCache>
            </c:strRef>
          </c:cat>
          <c:val>
            <c:numRef>
              <c:f>Sheet1!$B$2:$B$9</c:f>
              <c:numCache>
                <c:formatCode>General</c:formatCode>
                <c:ptCount val="8"/>
                <c:pt idx="0">
                  <c:v>104.0</c:v>
                </c:pt>
                <c:pt idx="1">
                  <c:v>94.0</c:v>
                </c:pt>
                <c:pt idx="2">
                  <c:v>88.0</c:v>
                </c:pt>
                <c:pt idx="3">
                  <c:v>56.0</c:v>
                </c:pt>
                <c:pt idx="4">
                  <c:v>41.0</c:v>
                </c:pt>
                <c:pt idx="5">
                  <c:v>39.0</c:v>
                </c:pt>
                <c:pt idx="6">
                  <c:v>36.0</c:v>
                </c:pt>
                <c:pt idx="7">
                  <c:v>34.0</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3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Patients by age group: every adult generation</a:t>
            </a:r>
          </a:p>
        </c:rich>
      </c:tx>
      <c:layout/>
      <c:overlay val="0"/>
    </c:title>
    <c:autoTitleDeleted val="0"/>
    <c:plotArea>
      <c:barChart>
        <c:barDir val="col"/>
        <c:grouping val="clustered"/>
        <c:ser>
          <c:idx val="0"/>
          <c:order val="0"/>
          <c:tx>
            <c:strRef>
              <c:f>Sheet1!$B$1</c:f>
              <c:strCache>
                <c:ptCount val="1"/>
                <c:pt idx="0">
                  <c:v>s</c:v>
                </c:pt>
              </c:strCache>
            </c:strRef>
          </c:tx>
          <c:spPr>
            <a:solidFill>
              <a:srgbClr val="2F5597"/>
            </a:solidFill>
          </c:spPr>
          <c:cat>
            <c:strRef>
              <c:f>Sheet1!$A$2:$A$8</c:f>
              <c:strCache>
                <c:ptCount val="7"/>
                <c:pt idx="0">
                  <c:v>22-29</c:v>
                </c:pt>
                <c:pt idx="1">
                  <c:v>30-39</c:v>
                </c:pt>
                <c:pt idx="2">
                  <c:v>40-49</c:v>
                </c:pt>
                <c:pt idx="3">
                  <c:v>50-59</c:v>
                </c:pt>
                <c:pt idx="4">
                  <c:v>60-69</c:v>
                </c:pt>
                <c:pt idx="5">
                  <c:v>70-79</c:v>
                </c:pt>
                <c:pt idx="6">
                  <c:v>80+</c:v>
                </c:pt>
              </c:strCache>
            </c:strRef>
          </c:cat>
          <c:val>
            <c:numRef>
              <c:f>Sheet1!$B$2:$B$8</c:f>
              <c:numCache>
                <c:formatCode>General</c:formatCode>
                <c:ptCount val="7"/>
                <c:pt idx="0">
                  <c:v>20</c:v>
                </c:pt>
                <c:pt idx="1">
                  <c:v>40</c:v>
                </c:pt>
                <c:pt idx="2">
                  <c:v>49</c:v>
                </c:pt>
                <c:pt idx="3">
                  <c:v>62</c:v>
                </c:pt>
                <c:pt idx="4">
                  <c:v>67</c:v>
                </c:pt>
                <c:pt idx="5">
                  <c:v>79</c:v>
                </c:pt>
                <c:pt idx="6">
                  <c:v>103</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20.0"/>
          <c:min val="0.0"/>
        </c:scaling>
        <c:delete val="0"/>
        <c:axPos val="l"/>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Prediction quality by data stream (AUROC)</a:t>
            </a:r>
          </a:p>
        </c:rich>
      </c:tx>
      <c:layout/>
      <c:overlay val="0"/>
    </c:title>
    <c:autoTitleDeleted val="0"/>
    <c:plotArea>
      <c:barChart>
        <c:barDir val="bar"/>
        <c:grouping val="clustered"/>
        <c:ser>
          <c:idx val="0"/>
          <c:order val="0"/>
          <c:tx>
            <c:strRef>
              <c:f>Sheet1!$B$1</c:f>
              <c:strCache>
                <c:ptCount val="1"/>
                <c:pt idx="0">
                  <c:v>s</c:v>
                </c:pt>
              </c:strCache>
            </c:strRef>
          </c:tx>
          <c:spPr>
            <a:solidFill>
              <a:srgbClr val="9FB7C2"/>
            </a:solidFill>
          </c:spPr>
          <c:dPt>
            <c:idx val="4"/>
            <c:spPr>
              <a:solidFill>
                <a:srgbClr val="B23A2E"/>
              </a:solidFill>
            </c:spPr>
          </c:dPt>
          <c:cat>
            <c:strRef>
              <c:f>Sheet1!$A$2:$A$6</c:f>
              <c:strCache>
                <c:ptCount val="5"/>
                <c:pt idx="0">
                  <c:v>Record only</c:v>
                </c:pt>
                <c:pt idx="1">
                  <c:v>Air + weather only</c:v>
                </c:pt>
                <c:pt idx="2">
                  <c:v>Wearables only</c:v>
                </c:pt>
                <c:pt idx="3">
                  <c:v>Wearables + record</c:v>
                </c:pt>
                <c:pt idx="4">
                  <c:v>All three (twin)</c:v>
                </c:pt>
              </c:strCache>
            </c:strRef>
          </c:cat>
          <c:val>
            <c:numRef>
              <c:f>Sheet1!$B$2:$B$6</c:f>
              <c:numCache>
                <c:formatCode>General</c:formatCode>
                <c:ptCount val="5"/>
                <c:pt idx="0">
                  <c:v>0.593</c:v>
                </c:pt>
                <c:pt idx="1">
                  <c:v>0.566</c:v>
                </c:pt>
                <c:pt idx="2">
                  <c:v>0.818</c:v>
                </c:pt>
                <c:pt idx="3">
                  <c:v>0.818</c:v>
                </c:pt>
                <c:pt idx="4">
                  <c:v>0.815</c:v>
                </c:pt>
              </c:numCache>
            </c:numRef>
          </c:val>
        </c:ser>
        <c:dLbls>
          <c:numFmt formatCode="0.0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Share of the twin's reasoning by factor (%)</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cat>
            <c:strRef>
              <c:f>Sheet1!$A$2:$A$9</c:f>
              <c:strCache>
                <c:ptCount val="8"/>
                <c:pt idx="0">
                  <c:v>Health record</c:v>
                </c:pt>
                <c:pt idx="1">
                  <c:v>Breathing rate</c:v>
                </c:pt>
                <c:pt idx="2">
                  <c:v>Rescue inhaler use</c:v>
                </c:pt>
                <c:pt idx="3">
                  <c:v>Heart rate</c:v>
                </c:pt>
                <c:pt idx="4">
                  <c:v>Blood oxygen</c:v>
                </c:pt>
                <c:pt idx="5">
                  <c:v>Cold snap</c:v>
                </c:pt>
                <c:pt idx="6">
                  <c:v>Activity</c:v>
                </c:pt>
                <c:pt idx="7">
                  <c:v>Air pollution</c:v>
                </c:pt>
              </c:strCache>
            </c:strRef>
          </c:cat>
          <c:val>
            <c:numRef>
              <c:f>Sheet1!$B$2:$B$9</c:f>
              <c:numCache>
                <c:formatCode>General</c:formatCode>
                <c:ptCount val="8"/>
                <c:pt idx="0">
                  <c:v>39.5</c:v>
                </c:pt>
                <c:pt idx="1">
                  <c:v>12.5</c:v>
                </c:pt>
                <c:pt idx="2">
                  <c:v>10.7</c:v>
                </c:pt>
                <c:pt idx="3">
                  <c:v>9.8</c:v>
                </c:pt>
                <c:pt idx="4">
                  <c:v>9.3</c:v>
                </c:pt>
                <c:pt idx="5">
                  <c:v>7.6</c:v>
                </c:pt>
                <c:pt idx="6">
                  <c:v>3.9</c:v>
                </c:pt>
                <c:pt idx="7">
                  <c:v>2.3</c:v>
                </c:pt>
              </c:numCache>
            </c:numRef>
          </c:val>
        </c:ser>
        <c:dLbls>
          <c:numFmt formatCode="0&quot;%&quot;"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4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BreatheTwin is a digital twin of a COPD patient. It learns the patient's own normal, watches their city's air and weather, and warns 1 to 3 days before a likely flare-up.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 huge COPD burden, flare-ups are the dangerous moments, the body warns days earlier, and India's winter air makes things worse. The chart uses real CPCB data from our replay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columns: what it is, the three data streams it fuses, what the doctor sees, and how it differs from usual care and generic wearables.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Each reading is compared with the patient's own last four weeks. A LightGBM model learns from body signals, inhaler use, weather and the record; air pollution uses a published dose-response. The twin then produces five outputs.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 and weather are real. No open dataset of Indian COPD patients with wearables exists, so patients, watch readings and flare-ups are simulated from published studies. We also checked our record code on real MIMIC-IV demo patients.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LightGBM gradient-boosted trees, trained on 280 patients and tested on 120 it never saw. Safety rules stop nonsense answers. Explanations come from per-factor contributions (SHAP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0.80 sits inside the published real-world range of 0.68 to 0.85. Body signals carry the 3-day warning; the record sets each person's starting risk. Measured on simulated patients.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ranks all 400 patients by risk with the main reason and record facts. The patient page shows the risk dial, today's readings against the patient's own normal, safety checks and what would lower the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record has its own section and shows how much it raises or lowers risk. The what-if lab lets a doctor try a smog week, a cold snap, stopped inhaler, or record changes like eosinophils.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 the record, usual readings and readings now, and optionally today's PM2.5 from an AQI app. We tested it: same readings give low risk, warning signs give high risk, higher eosinophils raise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Smog and cold warnings for the next 3 days use India's CPCB bands and give plain advice. The one-page visit summary is what a family can print and take to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twin, different views: a ranked list for doctors, a short call list for health workers, plain advice and a printable summary for families.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is simulated and assumed. The roadmap starts with validation on real Indian patients before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which devices the twin plugs into. Left: every signal the twin reads, the sensor that measures it, the devices that carry that sensor, and where it enters the model. Right: three kits, from a full set to a no-watch option. Nothing needs a needle or a blood test. Be clear that in the prototype these readings are simulated or typed in; the device links go through Health Connect, Apple HealthKit and vendor APIs, which is the integration plan. Air and weather are already real.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top to bottom. One: collect the three streams. Two: clean them into one row per patient per day; a missing sensor stays missing, never zero. Three: the twin compares today with the patient's own normal, the hybrid engine scores risk, and rule checks run in parallel. Four: decide high, medium or low. Five: act, with the call list, reasons, what-if, smog alerts and the visit summary. The outcome feeds back so the baseline updates the next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All of the environment is real: CPCB air quality and Open-Meteo weather for 8 cities over a full year. Everything about the patients used for training is synthetic, because no open dataset links COPD wearables to labelled flare-ups. By volume that makes about 1% of the training values real. That is exactly why we added a stress test on 100 real, de-identified hospital patients from MIMIC-III, never used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fed the twin 100 real, de-identified ICU patients from the open MIMIC-III demo: 55 women and 45 men, aged 18 to 90. Their real record and real heart rate, breathing rate and oxygen go in exactly like the 'Check a new person' page; air and weather are held fixed so only the person differs. 75 had enough data. No crash, no impossible output, even with a missing oxygen sensor. Risk rises with real worsening signs. Be honest about the limits: an oxygen drop alone barely moves the learned risk, though the rule layer flags it urgent; risk did not predict in-hospital death, which is a different event; and the sex comparison rests on small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chart" Target="../charts/chart3.xml"/><Relationship Id="rId5"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6.png"/><Relationship Id="rId5"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 Id="rId4" Type="http://schemas.openxmlformats.org/officeDocument/2006/relationships/image" Target="../media/image9.png"/><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itle card"/>
          <p:cNvSpPr/>
          <p:nvPr/>
        </p:nvSpPr>
        <p:spPr>
          <a:xfrm>
            <a:off x="3108960" y="1874519"/>
            <a:ext cx="5989320" cy="2240280"/>
          </a:xfrm>
          <a:prstGeom prst="rect">
            <a:avLst/>
          </a:prstGeom>
          <a:solidFill>
            <a:srgbClr val="3F6FD1"/>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FFFFFF"/>
                </a:solidFill>
                <a:latin typeface="Times New Roman"/>
              </a:rPr>
              <a:t>BreatheTwin</a:t>
            </a:r>
          </a:p>
          <a:p>
            <a:pPr algn="ctr"/>
            <a:r>
              <a:rPr sz="2200" b="1" i="1">
                <a:solidFill>
                  <a:srgbClr val="FFFFFF"/>
                </a:solidFill>
                <a:latin typeface="Times New Roman"/>
              </a:rPr>
              <a:t>A COPD digital twin for India</a:t>
            </a:r>
          </a:p>
          <a:p>
            <a:pPr algn="ctr"/>
            <a:r>
              <a:rPr sz="1700" b="0" i="0">
                <a:solidFill>
                  <a:srgbClr val="FFFFFF"/>
                </a:solidFill>
                <a:latin typeface="Times New Roman"/>
              </a:rPr>
              <a:t>Warns 1 to 3 days before a flare-up, explains why, and shows what to do</a:t>
            </a:r>
          </a:p>
          <a:p>
            <a:pPr algn="ctr">
              <a:spcBef>
                <a:spcPts val="800"/>
              </a:spcBef>
            </a:pPr>
            <a:r>
              <a:rPr sz="1400" b="1" i="0">
                <a:solidFill>
                  <a:srgbClr val="FFFFFF"/>
                </a:solidFill>
                <a:latin typeface="Times New Roman"/>
              </a:rPr>
              <a:t>Team MOMENTUM · SDA Bocconi Asia Center, Mumbai</a:t>
            </a:r>
          </a:p>
          <a:p>
            <a:pPr algn="ctr"/>
            <a:r>
              <a:rPr sz="1300" b="0" i="1">
                <a:solidFill>
                  <a:srgbClr val="FFFFFF"/>
                </a:solidFill>
                <a:latin typeface="Times New Roman"/>
              </a:rPr>
              <a:t>Digital Twin Challenge 2026 · Happiest Health</a:t>
            </a:r>
          </a:p>
        </p:txBody>
      </p:sp>
      <p:sp>
        <p:nvSpPr>
          <p:cNvPr id="9" name="Avatar Anushka Tomar"/>
          <p:cNvSpPr/>
          <p:nvPr/>
        </p:nvSpPr>
        <p:spPr>
          <a:xfrm>
            <a:off x="4572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AT</a:t>
            </a:r>
          </a:p>
        </p:txBody>
      </p:sp>
      <p:sp>
        <p:nvSpPr>
          <p:cNvPr id="10" name="Name Anushka Tomar"/>
          <p:cNvSpPr txBox="1"/>
          <p:nvPr/>
        </p:nvSpPr>
        <p:spPr>
          <a:xfrm>
            <a:off x="3886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Anushka Tomar</a:t>
            </a:r>
          </a:p>
          <a:p>
            <a:pPr algn="ctr">
              <a:spcAft>
                <a:spcPts val="0"/>
              </a:spcAft>
              <a:buNone/>
            </a:pPr>
            <a:r>
              <a:rPr sz="1800" b="0" i="1">
                <a:solidFill>
                  <a:srgbClr val="111111"/>
                </a:solidFill>
                <a:latin typeface="Times New Roman"/>
              </a:rPr>
              <a:t>Team leader</a:t>
            </a:r>
          </a:p>
        </p:txBody>
      </p:sp>
      <p:sp>
        <p:nvSpPr>
          <p:cNvPr id="11" name="Avatar Yash Saxena"/>
          <p:cNvSpPr/>
          <p:nvPr/>
        </p:nvSpPr>
        <p:spPr>
          <a:xfrm>
            <a:off x="6858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YS</a:t>
            </a:r>
          </a:p>
        </p:txBody>
      </p:sp>
      <p:sp>
        <p:nvSpPr>
          <p:cNvPr id="12" name="Name Yash Saxena"/>
          <p:cNvSpPr txBox="1"/>
          <p:nvPr/>
        </p:nvSpPr>
        <p:spPr>
          <a:xfrm>
            <a:off x="6172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Yash Saxena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Flare-ups warn days ahead, yet India catches them too late</a:t>
            </a:r>
          </a:p>
        </p:txBody>
      </p:sp>
      <p:sp>
        <p:nvSpPr>
          <p:cNvPr id="10" name="Burden box"/>
          <p:cNvSpPr/>
          <p:nvPr/>
        </p:nvSpPr>
        <p:spPr>
          <a:xfrm>
            <a:off x="731520" y="2011680"/>
            <a:ext cx="3703320" cy="3730752"/>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urden text"/>
          <p:cNvSpPr txBox="1"/>
          <p:nvPr/>
        </p:nvSpPr>
        <p:spPr>
          <a:xfrm>
            <a:off x="932688" y="2157984"/>
            <a:ext cx="3364992" cy="3566160"/>
          </a:xfrm>
          <a:prstGeom prst="rect">
            <a:avLst/>
          </a:prstGeom>
          <a:noFill/>
        </p:spPr>
        <p:txBody>
          <a:bodyPr wrap="square" anchor="t" lIns="54864" rIns="54864" tIns="27432" bIns="27432">
            <a:spAutoFit/>
          </a:bodyPr>
          <a:lstStyle/>
          <a:p>
            <a:pPr algn="l">
              <a:spcAft>
                <a:spcPts val="300"/>
              </a:spcAft>
              <a:buNone/>
            </a:pPr>
            <a:r>
              <a:rPr sz="1350" b="1" i="0">
                <a:solidFill>
                  <a:srgbClr val="111111"/>
                </a:solidFill>
                <a:latin typeface="Times New Roman"/>
              </a:rPr>
              <a:t>India's COPD burden is large</a:t>
            </a:r>
          </a:p>
          <a:p>
            <a:pPr algn="l" marL="164592" indent="-164592">
              <a:spcAft>
                <a:spcPts val="300"/>
              </a:spcAft>
              <a:buChar char="•"/>
            </a:pPr>
            <a:r>
              <a:rPr sz="1250" b="1" i="0">
                <a:solidFill>
                  <a:srgbClr val="111111"/>
                </a:solidFill>
                <a:latin typeface="Times New Roman"/>
              </a:rPr>
              <a:t>55 million</a:t>
            </a:r>
            <a:r>
              <a:rPr sz="1250" b="0" i="0">
                <a:solidFill>
                  <a:srgbClr val="111111"/>
                </a:solidFill>
                <a:latin typeface="Times New Roman"/>
              </a:rPr>
              <a:t> people in India lived with COPD in 2016 </a:t>
            </a:r>
            <a:r>
              <a:rPr sz="1250" b="0" i="1">
                <a:solidFill>
                  <a:srgbClr val="111111"/>
                </a:solidFill>
                <a:latin typeface="Times New Roman"/>
              </a:rPr>
              <a:t>(India State-Level Disease Burden Initiative, Lancet Global Health 2018)</a:t>
            </a:r>
          </a:p>
          <a:p>
            <a:pPr algn="l" marL="164592" indent="-164592">
              <a:spcAft>
                <a:spcPts val="300"/>
              </a:spcAft>
              <a:buChar char="•"/>
            </a:pPr>
            <a:r>
              <a:rPr sz="1250" b="0" i="0">
                <a:solidFill>
                  <a:srgbClr val="111111"/>
                </a:solidFill>
                <a:latin typeface="Times New Roman"/>
              </a:rPr>
              <a:t>Chronic respiratory disease caused </a:t>
            </a:r>
            <a:r>
              <a:rPr sz="1250" b="1" i="0">
                <a:solidFill>
                  <a:srgbClr val="111111"/>
                </a:solidFill>
                <a:latin typeface="Times New Roman"/>
              </a:rPr>
              <a:t>10.9%</a:t>
            </a:r>
            <a:r>
              <a:rPr sz="1250" b="0" i="0">
                <a:solidFill>
                  <a:srgbClr val="111111"/>
                </a:solidFill>
                <a:latin typeface="Times New Roman"/>
              </a:rPr>
              <a:t> of all deaths in India in 2016 </a:t>
            </a:r>
            <a:r>
              <a:rPr sz="1250" b="0" i="1">
                <a:solidFill>
                  <a:srgbClr val="111111"/>
                </a:solidFill>
                <a:latin typeface="Times New Roman"/>
              </a:rPr>
              <a:t>(same study)</a:t>
            </a:r>
          </a:p>
          <a:p>
            <a:pPr algn="l">
              <a:spcBef>
                <a:spcPts val="500"/>
              </a:spcBef>
              <a:spcAft>
                <a:spcPts val="300"/>
              </a:spcAft>
              <a:buNone/>
            </a:pPr>
            <a:r>
              <a:rPr sz="1350" b="1" i="0">
                <a:solidFill>
                  <a:srgbClr val="111111"/>
                </a:solidFill>
                <a:latin typeface="Times New Roman"/>
              </a:rPr>
              <a:t>Flare-ups are the dangerous moments</a:t>
            </a:r>
          </a:p>
          <a:p>
            <a:pPr algn="l" marL="164592" indent="-164592">
              <a:spcAft>
                <a:spcPts val="300"/>
              </a:spcAft>
              <a:buChar char="•"/>
            </a:pPr>
            <a:r>
              <a:rPr sz="1250" b="0" i="0">
                <a:solidFill>
                  <a:srgbClr val="111111"/>
                </a:solidFill>
                <a:latin typeface="Times New Roman"/>
              </a:rPr>
              <a:t>Patients have about </a:t>
            </a:r>
            <a:r>
              <a:rPr sz="1250" b="1" i="0">
                <a:solidFill>
                  <a:srgbClr val="111111"/>
                </a:solidFill>
                <a:latin typeface="Times New Roman"/>
              </a:rPr>
              <a:t>1 to 2 flare-ups a year</a:t>
            </a:r>
            <a:r>
              <a:rPr sz="1250" b="0" i="0">
                <a:solidFill>
                  <a:srgbClr val="111111"/>
                </a:solidFill>
                <a:latin typeface="Times New Roman"/>
              </a:rPr>
              <a:t>, more as COPD worsens </a:t>
            </a:r>
            <a:r>
              <a:rPr sz="1250" b="0" i="1">
                <a:solidFill>
                  <a:srgbClr val="111111"/>
                </a:solidFill>
                <a:latin typeface="Times New Roman"/>
              </a:rPr>
              <a:t>(ECLIPSE, NEJM 2010)</a:t>
            </a:r>
          </a:p>
          <a:p>
            <a:pPr algn="l" marL="164592" indent="-164592">
              <a:spcAft>
                <a:spcPts val="300"/>
              </a:spcAft>
              <a:buChar char="•"/>
            </a:pPr>
            <a:r>
              <a:rPr sz="1250" b="0" i="0">
                <a:solidFill>
                  <a:srgbClr val="111111"/>
                </a:solidFill>
                <a:latin typeface="Times New Roman"/>
              </a:rPr>
              <a:t>Warning signs start </a:t>
            </a:r>
            <a:r>
              <a:rPr sz="1250" b="1" i="0">
                <a:solidFill>
                  <a:srgbClr val="111111"/>
                </a:solidFill>
                <a:latin typeface="Times New Roman"/>
              </a:rPr>
              <a:t>5 to 7 days</a:t>
            </a:r>
            <a:r>
              <a:rPr sz="1250" b="0" i="0">
                <a:solidFill>
                  <a:srgbClr val="111111"/>
                </a:solidFill>
                <a:latin typeface="Times New Roman"/>
              </a:rPr>
              <a:t> earlier: breathing rises by </a:t>
            </a:r>
            <a:r>
              <a:rPr sz="1250" b="1" i="0">
                <a:solidFill>
                  <a:srgbClr val="111111"/>
                </a:solidFill>
                <a:latin typeface="Times New Roman"/>
              </a:rPr>
              <a:t>4.4 breaths/min</a:t>
            </a:r>
            <a:r>
              <a:rPr sz="1250" b="0" i="0">
                <a:solidFill>
                  <a:srgbClr val="111111"/>
                </a:solidFill>
                <a:latin typeface="Times New Roman"/>
              </a:rPr>
              <a:t> the day before </a:t>
            </a:r>
            <a:r>
              <a:rPr sz="1250" b="0" i="1">
                <a:solidFill>
                  <a:srgbClr val="111111"/>
                </a:solidFill>
                <a:latin typeface="Times New Roman"/>
              </a:rPr>
              <a:t>(Yañez 2012; Hurst 2010)</a:t>
            </a:r>
          </a:p>
          <a:p>
            <a:pPr algn="l" marL="164592" indent="-164592">
              <a:spcAft>
                <a:spcPts val="300"/>
              </a:spcAft>
              <a:buChar char="•"/>
            </a:pPr>
            <a:r>
              <a:rPr sz="1250" b="0" i="0">
                <a:solidFill>
                  <a:srgbClr val="111111"/>
                </a:solidFill>
                <a:latin typeface="Times New Roman"/>
              </a:rPr>
              <a:t>Today they are noticed only when the patient is already struggling</a:t>
            </a:r>
          </a:p>
        </p:txBody>
      </p:sp>
      <p:sp>
        <p:nvSpPr>
          <p:cNvPr id="12" name="Tag: The Care Gap"/>
          <p:cNvSpPr/>
          <p:nvPr/>
        </p:nvSpPr>
        <p:spPr>
          <a:xfrm>
            <a:off x="461772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Care Gap</a:t>
            </a:r>
          </a:p>
        </p:txBody>
      </p:sp>
      <p:graphicFrame>
        <p:nvGraphicFramePr>
          <p:cNvPr id="13" name="Care gap table"/>
          <p:cNvGraphicFramePr>
            <a:graphicFrameLocks noGrp="1"/>
          </p:cNvGraphicFramePr>
          <p:nvPr/>
        </p:nvGraphicFramePr>
        <p:xfrm>
          <a:off x="4617720" y="2542032"/>
          <a:ext cx="3611880" cy="1920240"/>
        </p:xfrm>
        <a:graphic>
          <a:graphicData uri="http://schemas.openxmlformats.org/drawingml/2006/table">
            <a:tbl>
              <a:tblPr firstRow="0" bandRow="0">
                <a:tableStyleId>{5940675A-B579-460E-94D1-54222C63F5DA}</a:tableStyleId>
              </a:tblPr>
              <a:tblGrid>
                <a:gridCol w="1691640"/>
                <a:gridCol w="1920240"/>
              </a:tblGrid>
              <a:tr h="384048">
                <a:tc>
                  <a:txBody>
                    <a:bodyPr wrap="square"/>
                    <a:lstStyle/>
                    <a:p>
                      <a:pPr algn="ctr"/>
                      <a:r>
                        <a:rPr sz="1250" b="1" i="0">
                          <a:solidFill>
                            <a:srgbClr val="111111"/>
                          </a:solidFill>
                          <a:latin typeface="Times New Roman"/>
                        </a:rPr>
                        <a:t>Care 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patients need</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Check-ups every few months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daily watch against their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Acts after symptoms appear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warning 1 to 3 days ahead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Same alarm limits for everyone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Limits personal to each patient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Ignores city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Record, body and air in one view</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Air box"/>
          <p:cNvSpPr/>
          <p:nvPr/>
        </p:nvSpPr>
        <p:spPr>
          <a:xfrm>
            <a:off x="4617720" y="4553712"/>
            <a:ext cx="3611880" cy="1188720"/>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ir text"/>
          <p:cNvSpPr txBox="1"/>
          <p:nvPr/>
        </p:nvSpPr>
        <p:spPr>
          <a:xfrm>
            <a:off x="4709160" y="4590288"/>
            <a:ext cx="3474720" cy="1143000"/>
          </a:xfrm>
          <a:prstGeom prst="rect">
            <a:avLst/>
          </a:prstGeom>
          <a:noFill/>
        </p:spPr>
        <p:txBody>
          <a:bodyPr wrap="square" anchor="t" lIns="54864" rIns="54864" tIns="27432" bIns="27432">
            <a:spAutoFit/>
          </a:bodyPr>
          <a:lstStyle/>
          <a:p>
            <a:pPr algn="l">
              <a:spcAft>
                <a:spcPts val="100"/>
              </a:spcAft>
              <a:buNone/>
            </a:pPr>
            <a:r>
              <a:rPr sz="1250" b="1" i="0">
                <a:solidFill>
                  <a:srgbClr val="111111"/>
                </a:solidFill>
                <a:latin typeface="Times New Roman"/>
              </a:rPr>
              <a:t>Air makes it worse </a:t>
            </a:r>
            <a:r>
              <a:rPr sz="1250" b="1" i="1">
                <a:solidFill>
                  <a:srgbClr val="111111"/>
                </a:solidFill>
                <a:latin typeface="Times New Roman"/>
              </a:rPr>
              <a:t>(real CPCB data, 2019-20)</a:t>
            </a:r>
          </a:p>
          <a:p>
            <a:pPr algn="l" marL="164592" indent="-164592">
              <a:spcAft>
                <a:spcPts val="100"/>
              </a:spcAft>
              <a:buChar char="•"/>
            </a:pPr>
            <a:r>
              <a:rPr sz="1150" b="0" i="0">
                <a:solidFill>
                  <a:srgbClr val="111111"/>
                </a:solidFill>
                <a:latin typeface="Times New Roman"/>
              </a:rPr>
              <a:t>Delhi PM2.5 averaged </a:t>
            </a:r>
            <a:r>
              <a:rPr sz="1150" b="1" i="0">
                <a:solidFill>
                  <a:srgbClr val="111111"/>
                </a:solidFill>
                <a:latin typeface="Times New Roman"/>
              </a:rPr>
              <a:t>104 µg/m³</a:t>
            </a:r>
            <a:r>
              <a:rPr sz="1150" b="0" i="0">
                <a:solidFill>
                  <a:srgbClr val="111111"/>
                </a:solidFill>
                <a:latin typeface="Times New Roman"/>
              </a:rPr>
              <a:t>, about </a:t>
            </a:r>
            <a:r>
              <a:rPr sz="1150" b="1" i="0">
                <a:solidFill>
                  <a:srgbClr val="111111"/>
                </a:solidFill>
                <a:latin typeface="Times New Roman"/>
              </a:rPr>
              <a:t>7×</a:t>
            </a:r>
            <a:r>
              <a:rPr sz="1150" b="0" i="0">
                <a:solidFill>
                  <a:srgbClr val="111111"/>
                </a:solidFill>
                <a:latin typeface="Times New Roman"/>
              </a:rPr>
              <a:t> the WHO daily safe level of 15</a:t>
            </a:r>
          </a:p>
          <a:p>
            <a:pPr algn="l" marL="164592" indent="-164592">
              <a:spcAft>
                <a:spcPts val="100"/>
              </a:spcAft>
              <a:buChar char="•"/>
            </a:pPr>
            <a:r>
              <a:rPr sz="1150" b="0" i="0">
                <a:solidFill>
                  <a:srgbClr val="111111"/>
                </a:solidFill>
                <a:latin typeface="Times New Roman"/>
              </a:rPr>
              <a:t>Winter air was </a:t>
            </a:r>
            <a:r>
              <a:rPr sz="1150" b="1" i="0">
                <a:solidFill>
                  <a:srgbClr val="111111"/>
                </a:solidFill>
                <a:latin typeface="Times New Roman"/>
              </a:rPr>
              <a:t>3× dirtier</a:t>
            </a:r>
            <a:r>
              <a:rPr sz="1150" b="0" i="0">
                <a:solidFill>
                  <a:srgbClr val="111111"/>
                </a:solidFill>
                <a:latin typeface="Times New Roman"/>
              </a:rPr>
              <a:t> than monsoon air (104 vs 32 µg/m³)</a:t>
            </a:r>
          </a:p>
        </p:txBody>
      </p:sp>
      <p:graphicFrame>
        <p:nvGraphicFramePr>
          <p:cNvPr id="16" name="City PM2.5 chart"/>
          <p:cNvGraphicFramePr>
            <a:graphicFrameLocks noGrp="1"/>
          </p:cNvGraphicFramePr>
          <p:nvPr/>
        </p:nvGraphicFramePr>
        <p:xfrm>
          <a:off x="8412480" y="2011680"/>
          <a:ext cx="3063240" cy="3730752"/>
        </p:xfrm>
        <a:graphic>
          <a:graphicData uri="http://schemas.openxmlformats.org/drawingml/2006/chart">
            <c:chart xmlns:c="http://schemas.openxmlformats.org/drawingml/2006/chart" r:id="rId4"/>
          </a:graphicData>
        </a:graphic>
      </p:graphicFrame>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The opportunity:</a:t>
            </a:r>
          </a:p>
          <a:p>
            <a:pPr algn="ctr"/>
            <a:r>
              <a:rPr sz="1500" b="0" i="1">
                <a:solidFill>
                  <a:srgbClr val="111111"/>
                </a:solidFill>
                <a:latin typeface="Times New Roman"/>
              </a:rPr>
              <a:t>Use the days of warning the body already gives: a personal twin that spots a flare-up early, explains why, and tells families what to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BreatheTwin: a twin that warns 1 to 3 days before a flare-up</a:t>
            </a:r>
          </a:p>
        </p:txBody>
      </p:sp>
      <p:sp>
        <p:nvSpPr>
          <p:cNvPr id="10" name="Tag: Core Proposition"/>
          <p:cNvSpPr/>
          <p:nvPr/>
        </p:nvSpPr>
        <p:spPr>
          <a:xfrm>
            <a:off x="731520" y="2029968"/>
            <a:ext cx="237744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Core Proposition</a:t>
            </a:r>
          </a:p>
        </p:txBody>
      </p:sp>
      <p:sp>
        <p:nvSpPr>
          <p:cNvPr id="11" name="Tag: 3 Data Streams"/>
          <p:cNvSpPr/>
          <p:nvPr/>
        </p:nvSpPr>
        <p:spPr>
          <a:xfrm>
            <a:off x="3291840" y="2029968"/>
            <a:ext cx="28803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3 Data Streams</a:t>
            </a:r>
          </a:p>
        </p:txBody>
      </p:sp>
      <p:sp>
        <p:nvSpPr>
          <p:cNvPr id="12" name="Tag: Tech &amp; Experience"/>
          <p:cNvSpPr/>
          <p:nvPr/>
        </p:nvSpPr>
        <p:spPr>
          <a:xfrm>
            <a:off x="6355080" y="2029968"/>
            <a:ext cx="228600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Tech &amp; Experience</a:t>
            </a:r>
          </a:p>
        </p:txBody>
      </p:sp>
      <p:sp>
        <p:nvSpPr>
          <p:cNvPr id="13" name="Tag: Key Differentiator"/>
          <p:cNvSpPr/>
          <p:nvPr/>
        </p:nvSpPr>
        <p:spPr>
          <a:xfrm>
            <a:off x="8823960" y="2029968"/>
            <a:ext cx="26517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Key Differentiator</a:t>
            </a:r>
          </a:p>
        </p:txBody>
      </p:sp>
      <p:sp>
        <p:nvSpPr>
          <p:cNvPr id="14" name="Proposition box"/>
          <p:cNvSpPr/>
          <p:nvPr/>
        </p:nvSpPr>
        <p:spPr>
          <a:xfrm>
            <a:off x="731520" y="2606040"/>
            <a:ext cx="237744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position text"/>
          <p:cNvSpPr txBox="1"/>
          <p:nvPr/>
        </p:nvSpPr>
        <p:spPr>
          <a:xfrm>
            <a:off x="822960" y="2697480"/>
            <a:ext cx="2240280" cy="3749039"/>
          </a:xfrm>
          <a:prstGeom prst="rect">
            <a:avLst/>
          </a:prstGeom>
          <a:noFill/>
        </p:spPr>
        <p:txBody>
          <a:bodyPr wrap="square" anchor="t" lIns="54864" rIns="54864" tIns="27432" bIns="27432">
            <a:spAutoFit/>
          </a:bodyPr>
          <a:lstStyle/>
          <a:p>
            <a:pPr algn="l">
              <a:spcAft>
                <a:spcPts val="500"/>
              </a:spcAft>
              <a:buNone/>
            </a:pPr>
            <a:r>
              <a:rPr sz="1500" b="1" i="0">
                <a:solidFill>
                  <a:srgbClr val="111111"/>
                </a:solidFill>
                <a:latin typeface="Times New Roman"/>
              </a:rPr>
              <a:t>A personal twin for every COPD patient that:</a:t>
            </a:r>
          </a:p>
          <a:p>
            <a:pPr algn="l" marL="164592" indent="-164592">
              <a:spcAft>
                <a:spcPts val="500"/>
              </a:spcAft>
              <a:buChar char="•"/>
            </a:pPr>
            <a:r>
              <a:rPr sz="1400" b="0" i="0">
                <a:solidFill>
                  <a:srgbClr val="111111"/>
                </a:solidFill>
                <a:latin typeface="Times New Roman"/>
              </a:rPr>
              <a:t>Learns each person's </a:t>
            </a:r>
            <a:r>
              <a:rPr sz="1400" b="1" i="0">
                <a:solidFill>
                  <a:srgbClr val="111111"/>
                </a:solidFill>
                <a:latin typeface="Times New Roman"/>
              </a:rPr>
              <a:t>own normal</a:t>
            </a:r>
          </a:p>
          <a:p>
            <a:pPr algn="l" marL="164592" indent="-164592">
              <a:spcAft>
                <a:spcPts val="500"/>
              </a:spcAft>
              <a:buChar char="•"/>
            </a:pPr>
            <a:r>
              <a:rPr sz="1400" b="0" i="0">
                <a:solidFill>
                  <a:srgbClr val="111111"/>
                </a:solidFill>
                <a:latin typeface="Times New Roman"/>
              </a:rPr>
              <a:t>Predicts a </a:t>
            </a:r>
            <a:r>
              <a:rPr sz="1400" b="1" i="0">
                <a:solidFill>
                  <a:srgbClr val="111111"/>
                </a:solidFill>
                <a:latin typeface="Times New Roman"/>
              </a:rPr>
              <a:t>flare-up 1 to 3 days ahead</a:t>
            </a:r>
          </a:p>
          <a:p>
            <a:pPr algn="l" marL="164592" indent="-164592">
              <a:spcAft>
                <a:spcPts val="500"/>
              </a:spcAft>
              <a:buChar char="•"/>
            </a:pPr>
            <a:r>
              <a:rPr sz="1400" b="1" i="0">
                <a:solidFill>
                  <a:srgbClr val="111111"/>
                </a:solidFill>
                <a:latin typeface="Times New Roman"/>
              </a:rPr>
              <a:t>Explains the reasons</a:t>
            </a:r>
            <a:r>
              <a:rPr sz="1400" b="0" i="0">
                <a:solidFill>
                  <a:srgbClr val="111111"/>
                </a:solidFill>
                <a:latin typeface="Times New Roman"/>
              </a:rPr>
              <a:t> in plain words</a:t>
            </a:r>
          </a:p>
          <a:p>
            <a:pPr algn="l" marL="164592" indent="-164592">
              <a:spcAft>
                <a:spcPts val="500"/>
              </a:spcAft>
              <a:buChar char="•"/>
            </a:pPr>
            <a:r>
              <a:rPr sz="1400" b="0" i="0">
                <a:solidFill>
                  <a:srgbClr val="111111"/>
                </a:solidFill>
                <a:latin typeface="Times New Roman"/>
              </a:rPr>
              <a:t>Shows what would </a:t>
            </a:r>
            <a:r>
              <a:rPr sz="1400" b="1" i="0">
                <a:solidFill>
                  <a:srgbClr val="111111"/>
                </a:solidFill>
                <a:latin typeface="Times New Roman"/>
              </a:rPr>
              <a:t>lower the risk</a:t>
            </a:r>
          </a:p>
          <a:p>
            <a:pPr algn="l" marL="164592" indent="-164592">
              <a:spcAft>
                <a:spcPts val="500"/>
              </a:spcAft>
              <a:buChar char="•"/>
            </a:pPr>
            <a:r>
              <a:rPr sz="1400" b="0" i="0">
                <a:solidFill>
                  <a:srgbClr val="111111"/>
                </a:solidFill>
                <a:latin typeface="Times New Roman"/>
              </a:rPr>
              <a:t>Gives families </a:t>
            </a:r>
            <a:r>
              <a:rPr sz="1400" b="1" i="0">
                <a:solidFill>
                  <a:srgbClr val="111111"/>
                </a:solidFill>
                <a:latin typeface="Times New Roman"/>
              </a:rPr>
              <a:t>smog warnings</a:t>
            </a:r>
            <a:r>
              <a:rPr sz="1400" b="0" i="0">
                <a:solidFill>
                  <a:srgbClr val="111111"/>
                </a:solidFill>
                <a:latin typeface="Times New Roman"/>
              </a:rPr>
              <a:t> and a </a:t>
            </a:r>
            <a:r>
              <a:rPr sz="1400" b="1" i="0">
                <a:solidFill>
                  <a:srgbClr val="111111"/>
                </a:solidFill>
                <a:latin typeface="Times New Roman"/>
              </a:rPr>
              <a:t>visit summary</a:t>
            </a:r>
            <a:r>
              <a:rPr sz="1400" b="0" i="0">
                <a:solidFill>
                  <a:srgbClr val="111111"/>
                </a:solidFill>
                <a:latin typeface="Times New Roman"/>
              </a:rPr>
              <a:t> for the doctor</a:t>
            </a:r>
          </a:p>
        </p:txBody>
      </p:sp>
      <p:graphicFrame>
        <p:nvGraphicFramePr>
          <p:cNvPr id="16" name="Streams table"/>
          <p:cNvGraphicFramePr>
            <a:graphicFrameLocks noGrp="1"/>
          </p:cNvGraphicFramePr>
          <p:nvPr/>
        </p:nvGraphicFramePr>
        <p:xfrm>
          <a:off x="3291840" y="2606040"/>
          <a:ext cx="2880360" cy="3291840"/>
        </p:xfrm>
        <a:graphic>
          <a:graphicData uri="http://schemas.openxmlformats.org/drawingml/2006/table">
            <a:tbl>
              <a:tblPr firstRow="0" bandRow="0">
                <a:tableStyleId>{5940675A-B579-460E-94D1-54222C63F5DA}</a:tableStyleId>
              </a:tblPr>
              <a:tblGrid>
                <a:gridCol w="1051560"/>
                <a:gridCol w="1828800"/>
              </a:tblGrid>
              <a:tr h="82296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it adds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Health record (EHR)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Severity, past flare-ups, smoking, blood tests, other illnesses: the </a:t>
                      </a:r>
                      <a:r>
                        <a:rPr sz="1150" b="0" i="1">
                          <a:solidFill>
                            <a:srgbClr val="111111"/>
                          </a:solidFill>
                          <a:latin typeface="Times New Roman"/>
                        </a:rPr>
                        <a:t>starting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Wearable + smart inhaler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Daily heart rate, breathing, oxygen, steps, sleep, inhaler use: the </a:t>
                      </a:r>
                      <a:r>
                        <a:rPr sz="1150" b="0" i="1">
                          <a:solidFill>
                            <a:srgbClr val="111111"/>
                          </a:solidFill>
                          <a:latin typeface="Times New Roman"/>
                        </a:rPr>
                        <a:t>early warning</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City air +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PM2.5, cold snaps, humidity: the </a:t>
                      </a:r>
                      <a:r>
                        <a:rPr sz="1150" b="0" i="1">
                          <a:solidFill>
                            <a:srgbClr val="111111"/>
                          </a:solidFill>
                          <a:latin typeface="Times New Roman"/>
                        </a:rPr>
                        <a:t>seasonal trigger</a:t>
                      </a:r>
                      <a:r>
                        <a:rPr sz="1150" b="0" i="0">
                          <a:solidFill>
                            <a:srgbClr val="111111"/>
                          </a:solidFill>
                          <a:latin typeface="Times New Roman"/>
                        </a:rPr>
                        <a:t> and the advice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7" name="Tech box"/>
          <p:cNvSpPr/>
          <p:nvPr/>
        </p:nvSpPr>
        <p:spPr>
          <a:xfrm>
            <a:off x="6355080" y="2606040"/>
            <a:ext cx="228600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Dashboard screenshot" descr="calllist.png"/>
          <p:cNvPicPr>
            <a:picLocks noChangeAspect="1"/>
          </p:cNvPicPr>
          <p:nvPr/>
        </p:nvPicPr>
        <p:blipFill>
          <a:blip r:embed="rId4"/>
          <a:stretch>
            <a:fillRect/>
          </a:stretch>
        </p:blipFill>
        <p:spPr>
          <a:xfrm>
            <a:off x="6428232" y="2840398"/>
            <a:ext cx="2139696" cy="2923706"/>
          </a:xfrm>
          <a:prstGeom prst="rect">
            <a:avLst/>
          </a:prstGeom>
          <a:ln w="9525">
            <a:solidFill>
              <a:srgbClr val="BFBFBF"/>
            </a:solidFill>
          </a:ln>
        </p:spPr>
      </p:pic>
      <p:sp>
        <p:nvSpPr>
          <p:cNvPr id="19" name="TextBox 18"/>
          <p:cNvSpPr txBox="1"/>
          <p:nvPr/>
        </p:nvSpPr>
        <p:spPr>
          <a:xfrm>
            <a:off x="6400800" y="5943600"/>
            <a:ext cx="2194560" cy="502920"/>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Doctor's view: the risk, who to call today, and why</a:t>
            </a:r>
          </a:p>
        </p:txBody>
      </p:sp>
      <p:graphicFrame>
        <p:nvGraphicFramePr>
          <p:cNvPr id="20" name="Differentiator table"/>
          <p:cNvGraphicFramePr>
            <a:graphicFrameLocks noGrp="1"/>
          </p:cNvGraphicFramePr>
          <p:nvPr/>
        </p:nvGraphicFramePr>
        <p:xfrm>
          <a:off x="8823960" y="2834640"/>
          <a:ext cx="2651760" cy="3017520"/>
        </p:xfrm>
        <a:graphic>
          <a:graphicData uri="http://schemas.openxmlformats.org/drawingml/2006/table">
            <a:tbl>
              <a:tblPr firstRow="0" bandRow="0">
                <a:tableStyleId>{5940675A-B579-460E-94D1-54222C63F5DA}</a:tableStyleId>
              </a:tblPr>
              <a:tblGrid>
                <a:gridCol w="804672"/>
                <a:gridCol w="868680"/>
                <a:gridCol w="978408"/>
              </a:tblGrid>
              <a:tr h="603504">
                <a:tc>
                  <a:txBody>
                    <a:bodyPr wrap="square"/>
                    <a:lstStyle/>
                    <a:p>
                      <a:pPr algn="ctr"/>
                      <a:r>
                        <a:rPr sz="1200" b="1" i="0">
                          <a:solidFill>
                            <a:srgbClr val="111111"/>
                          </a:solidFill>
                          <a:latin typeface="Times New Roman"/>
                        </a:rPr>
                        <a:t>Usual care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Wearables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Reactive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Raw numbers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Predictive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No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No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Record + body + air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Doctor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User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Doctor +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Works with the wearables and IoT devices patients can already buy</a:t>
            </a:r>
          </a:p>
        </p:txBody>
      </p:sp>
      <p:sp>
        <p:nvSpPr>
          <p:cNvPr id="10" name="Tag: Which sensor tracks which signal"/>
          <p:cNvSpPr/>
          <p:nvPr/>
        </p:nvSpPr>
        <p:spPr>
          <a:xfrm>
            <a:off x="731520" y="2011680"/>
            <a:ext cx="6903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Which sensor tracks which signal</a:t>
            </a:r>
          </a:p>
        </p:txBody>
      </p:sp>
      <p:graphicFrame>
        <p:nvGraphicFramePr>
          <p:cNvPr id="11" name="Sensor table"/>
          <p:cNvGraphicFramePr>
            <a:graphicFrameLocks noGrp="1"/>
          </p:cNvGraphicFramePr>
          <p:nvPr/>
        </p:nvGraphicFramePr>
        <p:xfrm>
          <a:off x="731520" y="2542032"/>
          <a:ext cx="6903720" cy="3209544"/>
        </p:xfrm>
        <a:graphic>
          <a:graphicData uri="http://schemas.openxmlformats.org/drawingml/2006/table">
            <a:tbl>
              <a:tblPr>
                <a:tableStyleId>{5C22544A-7EE6-4342-B048-85BDC9FD1C3A}</a:tableStyleId>
              </a:tblPr>
              <a:tblGrid>
                <a:gridCol w="1463040"/>
                <a:gridCol w="1783080"/>
                <a:gridCol w="2011680"/>
                <a:gridCol w="1645920"/>
              </a:tblGrid>
              <a:tr h="356616">
                <a:tc>
                  <a:txBody>
                    <a:bodyPr wrap="square"/>
                    <a:lstStyle/>
                    <a:p>
                      <a:pPr algn="ctr"/>
                      <a:r>
                        <a:rPr sz="1100" b="1">
                          <a:solidFill>
                            <a:srgbClr val="111111"/>
                          </a:solidFill>
                          <a:latin typeface="Times New Roman"/>
                        </a:rPr>
                        <a:t>Signal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Sensor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Devices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Twin uses it as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356616">
                <a:tc>
                  <a:txBody>
                    <a:bodyPr wrap="square"/>
                    <a:lstStyle/>
                    <a:p>
                      <a:pPr algn="l"/>
                      <a:r>
                        <a:rPr sz="1000" b="0">
                          <a:solidFill>
                            <a:srgbClr val="111111"/>
                          </a:solidFill>
                          <a:latin typeface="Times New Roman"/>
                        </a:rPr>
                        <a:t>Resting heart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Optical PPG (green light)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Any smartwatch, band, oximeter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Breathing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PPG + motion, during sleep</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Fitbit, Apple, Galaxy, Garmin watch</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Blood oxygen (SpO2)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Red + infrared light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Fingertip / ring oximeter, watch</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urgent below 90%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Steps / activity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Accelerometer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Watch, band or phone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Sleep hours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Accelerometer + heart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Watch or band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Rescue puffs, doses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Clip-on actuation sensor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ADHERO (Lupin), Propeller, Hailie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Puffs vs normal; adherence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Blood pressure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Cuff pressure (oscillometric)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Omron Bluetooth monitor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Shown to the doctor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PM2.5, temperature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CPCB stations, weather API</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City networks (no device)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Dose-response, cold snaps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Tag: Three ways to equip a patient"/>
          <p:cNvSpPr/>
          <p:nvPr/>
        </p:nvSpPr>
        <p:spPr>
          <a:xfrm>
            <a:off x="786384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Three ways to equip a patient</a:t>
            </a:r>
          </a:p>
        </p:txBody>
      </p:sp>
      <p:sp>
        <p:nvSpPr>
          <p:cNvPr id="12" name="Kit Minimum kit"/>
          <p:cNvSpPr/>
          <p:nvPr/>
        </p:nvSpPr>
        <p:spPr>
          <a:xfrm>
            <a:off x="7863840" y="2542032"/>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it text Minimum kit"/>
          <p:cNvSpPr txBox="1"/>
          <p:nvPr/>
        </p:nvSpPr>
        <p:spPr>
          <a:xfrm>
            <a:off x="7936992" y="2596896"/>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Minimum kit: </a:t>
            </a:r>
            <a:r>
              <a:rPr sz="1250">
                <a:solidFill>
                  <a:srgbClr val="111111"/>
                </a:solidFill>
                <a:latin typeface="Times New Roman"/>
              </a:rPr>
              <a:t>Any watch that syncs to Health Connect or Apple Health + fingertip oximeter. Gives heart rate, breathing, SpO2, steps, sleep.</a:t>
            </a:r>
          </a:p>
        </p:txBody>
      </p:sp>
      <p:sp>
        <p:nvSpPr>
          <p:cNvPr id="14" name="Kit Full kit"/>
          <p:cNvSpPr/>
          <p:nvPr/>
        </p:nvSpPr>
        <p:spPr>
          <a:xfrm>
            <a:off x="7863840" y="3639311"/>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Kit text Full kit"/>
          <p:cNvSpPr txBox="1"/>
          <p:nvPr/>
        </p:nvSpPr>
        <p:spPr>
          <a:xfrm>
            <a:off x="7936992" y="3694175"/>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Full kit: </a:t>
            </a:r>
            <a:r>
              <a:rPr sz="1250">
                <a:solidFill>
                  <a:srgbClr val="111111"/>
                </a:solidFill>
                <a:latin typeface="Times New Roman"/>
              </a:rPr>
              <a:t>+ smart inhaler clip (ADHERO, launched in India by Lupin) + Omron BP cuff. Adds automatic inhaler tracking.</a:t>
            </a:r>
          </a:p>
        </p:txBody>
      </p:sp>
      <p:sp>
        <p:nvSpPr>
          <p:cNvPr id="16" name="Kit No-watch kit"/>
          <p:cNvSpPr/>
          <p:nvPr/>
        </p:nvSpPr>
        <p:spPr>
          <a:xfrm>
            <a:off x="7863840" y="4736592"/>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Kit text No-watch kit"/>
          <p:cNvSpPr txBox="1"/>
          <p:nvPr/>
        </p:nvSpPr>
        <p:spPr>
          <a:xfrm>
            <a:off x="7936992" y="4791455"/>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No-watch kit: </a:t>
            </a:r>
            <a:r>
              <a:rPr sz="1250">
                <a:solidFill>
                  <a:srgbClr val="111111"/>
                </a:solidFill>
                <a:latin typeface="Times New Roman"/>
              </a:rPr>
              <a:t>Phone + oximeter; the family types SpO2 and a 30-second breathing count. Near-zero cost.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No needle, no blood test, nothing under the skin:</a:t>
            </a:r>
          </a:p>
          <a:p>
            <a:pPr algn="ctr"/>
            <a:r>
              <a:rPr sz="1500" b="0" i="1">
                <a:solidFill>
                  <a:srgbClr val="111111"/>
                </a:solidFill>
                <a:latin typeface="Times New Roman"/>
              </a:rPr>
              <a:t>a watch and a clip-on oximeter carry the daily signal; data flows phone → Health Connect / HealthKit → BreatheTwin.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the twin works: three data streams, one personal model</a:t>
            </a:r>
          </a:p>
        </p:txBody>
      </p:sp>
      <p:sp>
        <p:nvSpPr>
          <p:cNvPr id="10" name="Tag: Data In"/>
          <p:cNvSpPr/>
          <p:nvPr/>
        </p:nvSpPr>
        <p:spPr>
          <a:xfrm>
            <a:off x="731520" y="2011680"/>
            <a:ext cx="25146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In</a:t>
            </a:r>
          </a:p>
        </p:txBody>
      </p:sp>
      <p:sp>
        <p:nvSpPr>
          <p:cNvPr id="11" name="Tag: The Twin"/>
          <p:cNvSpPr/>
          <p:nvPr/>
        </p:nvSpPr>
        <p:spPr>
          <a:xfrm>
            <a:off x="3611880" y="2011680"/>
            <a:ext cx="43434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Twin</a:t>
            </a:r>
          </a:p>
        </p:txBody>
      </p:sp>
      <p:sp>
        <p:nvSpPr>
          <p:cNvPr id="12" name="Tag: What Comes Out"/>
          <p:cNvSpPr/>
          <p:nvPr/>
        </p:nvSpPr>
        <p:spPr>
          <a:xfrm>
            <a:off x="8321040" y="2011680"/>
            <a:ext cx="3154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Comes Out</a:t>
            </a:r>
          </a:p>
        </p:txBody>
      </p:sp>
      <p:sp>
        <p:nvSpPr>
          <p:cNvPr id="13" name="Stream Health record (EHR)"/>
          <p:cNvSpPr/>
          <p:nvPr/>
        </p:nvSpPr>
        <p:spPr>
          <a:xfrm>
            <a:off x="731520" y="2542032"/>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Health record (EHR)</a:t>
            </a:r>
          </a:p>
          <a:p>
            <a:pPr algn="ctr"/>
            <a:r>
              <a:rPr sz="1100" b="0" i="1">
                <a:solidFill>
                  <a:srgbClr val="111111"/>
                </a:solidFill>
                <a:latin typeface="Times New Roman"/>
              </a:rPr>
              <a:t>420 synthetic patients: Synthea + India overlay</a:t>
            </a:r>
          </a:p>
        </p:txBody>
      </p:sp>
      <p:sp>
        <p:nvSpPr>
          <p:cNvPr id="14" name="Stream Wearable + smart inhaler"/>
          <p:cNvSpPr/>
          <p:nvPr/>
        </p:nvSpPr>
        <p:spPr>
          <a:xfrm>
            <a:off x="731520" y="3438144"/>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Wearable + smart inhaler</a:t>
            </a:r>
          </a:p>
          <a:p>
            <a:pPr algn="ctr"/>
            <a:r>
              <a:rPr sz="1100" b="0" i="1">
                <a:solidFill>
                  <a:srgbClr val="111111"/>
                </a:solidFill>
                <a:latin typeface="Times New Roman"/>
              </a:rPr>
              <a:t>heart rate, breathing, SpO2, steps, sleep, puffs, doses</a:t>
            </a:r>
          </a:p>
        </p:txBody>
      </p:sp>
      <p:sp>
        <p:nvSpPr>
          <p:cNvPr id="15" name="Stream City air + weather"/>
          <p:cNvSpPr/>
          <p:nvPr/>
        </p:nvSpPr>
        <p:spPr>
          <a:xfrm>
            <a:off x="731520" y="4334256"/>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City air + weather</a:t>
            </a:r>
          </a:p>
          <a:p>
            <a:pPr algn="ctr"/>
            <a:r>
              <a:rPr sz="1100" b="0" i="1">
                <a:solidFill>
                  <a:srgbClr val="111111"/>
                </a:solidFill>
                <a:latin typeface="Times New Roman"/>
              </a:rPr>
              <a:t>real CPCB PM2.5 and Open-Meteo, 8 cities</a:t>
            </a:r>
          </a:p>
        </p:txBody>
      </p:sp>
      <p:sp>
        <p:nvSpPr>
          <p:cNvPr id="16" name="Arrow"/>
          <p:cNvSpPr/>
          <p:nvPr/>
        </p:nvSpPr>
        <p:spPr>
          <a:xfrm>
            <a:off x="3291840"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1. Personal baseline"/>
          <p:cNvSpPr/>
          <p:nvPr/>
        </p:nvSpPr>
        <p:spPr>
          <a:xfrm>
            <a:off x="3630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03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1. Personal baseline</a:t>
            </a:r>
          </a:p>
          <a:p>
            <a:pPr algn="ctr">
              <a:spcAft>
                <a:spcPts val="300"/>
              </a:spcAft>
              <a:buNone/>
            </a:pPr>
            <a:r>
              <a:rPr sz="1250" b="0" i="0">
                <a:solidFill>
                  <a:srgbClr val="111111"/>
                </a:solidFill>
                <a:latin typeface="Times New Roman"/>
              </a:rPr>
              <a:t>Every reading compared with the patient's </a:t>
            </a:r>
            <a:r>
              <a:rPr sz="1250" b="1" i="0">
                <a:solidFill>
                  <a:srgbClr val="111111"/>
                </a:solidFill>
                <a:latin typeface="Times New Roman"/>
              </a:rPr>
              <a:t>own last 4 weeks</a:t>
            </a:r>
            <a:r>
              <a:rPr sz="1250" b="0" i="0">
                <a:solidFill>
                  <a:srgbClr val="111111"/>
                </a:solidFill>
                <a:latin typeface="Times New Roman"/>
              </a:rPr>
              <a:t>, not a textbook range</a:t>
            </a:r>
          </a:p>
        </p:txBody>
      </p:sp>
      <p:sp>
        <p:nvSpPr>
          <p:cNvPr id="19" name="2. Hybrid risk engine"/>
          <p:cNvSpPr/>
          <p:nvPr/>
        </p:nvSpPr>
        <p:spPr>
          <a:xfrm>
            <a:off x="5916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89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2. Hybrid risk engine</a:t>
            </a:r>
          </a:p>
          <a:p>
            <a:pPr algn="ctr">
              <a:spcAft>
                <a:spcPts val="300"/>
              </a:spcAft>
              <a:buNone/>
            </a:pPr>
            <a:r>
              <a:rPr sz="1250" b="1" i="0">
                <a:solidFill>
                  <a:srgbClr val="111111"/>
                </a:solidFill>
                <a:latin typeface="Times New Roman"/>
              </a:rPr>
              <a:t>LightGBM</a:t>
            </a:r>
            <a:r>
              <a:rPr sz="1250" b="0" i="0">
                <a:solidFill>
                  <a:srgbClr val="111111"/>
                </a:solidFill>
                <a:latin typeface="Times New Roman"/>
              </a:rPr>
              <a:t> learns body signals, inhaler use, weather and record  ×  </a:t>
            </a:r>
            <a:r>
              <a:rPr sz="1250" b="1" i="0">
                <a:solidFill>
                  <a:srgbClr val="111111"/>
                </a:solidFill>
                <a:latin typeface="Times New Roman"/>
              </a:rPr>
              <a:t>published PM2.5 effect</a:t>
            </a:r>
            <a:r>
              <a:rPr sz="1250" b="0" i="0">
                <a:solidFill>
                  <a:srgbClr val="111111"/>
                </a:solidFill>
                <a:latin typeface="Times New Roman"/>
              </a:rPr>
              <a:t> (DeVries 2017)</a:t>
            </a:r>
          </a:p>
        </p:txBody>
      </p:sp>
      <p:sp>
        <p:nvSpPr>
          <p:cNvPr id="21" name="Arrow"/>
          <p:cNvSpPr/>
          <p:nvPr/>
        </p:nvSpPr>
        <p:spPr>
          <a:xfrm>
            <a:off x="5669280" y="3611880"/>
            <a:ext cx="22860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rrow"/>
          <p:cNvSpPr/>
          <p:nvPr/>
        </p:nvSpPr>
        <p:spPr>
          <a:xfrm>
            <a:off x="7973568"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utput 1"/>
          <p:cNvSpPr/>
          <p:nvPr/>
        </p:nvSpPr>
        <p:spPr>
          <a:xfrm>
            <a:off x="8321040" y="2542032"/>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Risk of a flare-up in the next 3 days</a:t>
            </a:r>
          </a:p>
        </p:txBody>
      </p:sp>
      <p:sp>
        <p:nvSpPr>
          <p:cNvPr id="24" name="Output 2"/>
          <p:cNvSpPr/>
          <p:nvPr/>
        </p:nvSpPr>
        <p:spPr>
          <a:xfrm>
            <a:off x="8321040" y="3063239"/>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Reasons, ranked by how much they push risk</a:t>
            </a:r>
          </a:p>
        </p:txBody>
      </p:sp>
      <p:sp>
        <p:nvSpPr>
          <p:cNvPr id="25" name="Output 3"/>
          <p:cNvSpPr/>
          <p:nvPr/>
        </p:nvSpPr>
        <p:spPr>
          <a:xfrm>
            <a:off x="8321040" y="3584448"/>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Safety checks against own normal</a:t>
            </a:r>
          </a:p>
        </p:txBody>
      </p:sp>
      <p:sp>
        <p:nvSpPr>
          <p:cNvPr id="26" name="Output 4"/>
          <p:cNvSpPr/>
          <p:nvPr/>
        </p:nvSpPr>
        <p:spPr>
          <a:xfrm>
            <a:off x="8321040" y="4105656"/>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What-if answers for doctor and family</a:t>
            </a:r>
          </a:p>
        </p:txBody>
      </p:sp>
      <p:sp>
        <p:nvSpPr>
          <p:cNvPr id="27" name="Output 5"/>
          <p:cNvSpPr/>
          <p:nvPr/>
        </p:nvSpPr>
        <p:spPr>
          <a:xfrm>
            <a:off x="8321040" y="4626864"/>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Smog warnings + one-page visit summary</a:t>
            </a:r>
          </a:p>
        </p:txBody>
      </p:sp>
      <p:sp>
        <p:nvSpPr>
          <p:cNvPr id="28" name="TextBox 27"/>
          <p:cNvSpPr txBox="1"/>
          <p:nvPr/>
        </p:nvSpPr>
        <p:spPr>
          <a:xfrm>
            <a:off x="731520" y="5230368"/>
            <a:ext cx="36576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Twin journey</a:t>
            </a:r>
          </a:p>
        </p:txBody>
      </p:sp>
      <p:sp>
        <p:nvSpPr>
          <p:cNvPr id="29" name="Step 1: Health record"/>
          <p:cNvSpPr/>
          <p:nvPr/>
        </p:nvSpPr>
        <p:spPr>
          <a:xfrm>
            <a:off x="731520" y="5577840"/>
            <a:ext cx="1859280" cy="68580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Health record</a:t>
            </a:r>
          </a:p>
        </p:txBody>
      </p:sp>
      <p:sp>
        <p:nvSpPr>
          <p:cNvPr id="30" name="Step 2: Daily readings"/>
          <p:cNvSpPr/>
          <p:nvPr/>
        </p:nvSpPr>
        <p:spPr>
          <a:xfrm>
            <a:off x="2481072"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Daily readings</a:t>
            </a:r>
          </a:p>
        </p:txBody>
      </p:sp>
      <p:sp>
        <p:nvSpPr>
          <p:cNvPr id="31" name="Step 3: Own normal"/>
          <p:cNvSpPr/>
          <p:nvPr/>
        </p:nvSpPr>
        <p:spPr>
          <a:xfrm>
            <a:off x="4230624"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Own normal</a:t>
            </a:r>
          </a:p>
        </p:txBody>
      </p:sp>
      <p:sp>
        <p:nvSpPr>
          <p:cNvPr id="32" name="Step 4: Risk score"/>
          <p:cNvSpPr/>
          <p:nvPr/>
        </p:nvSpPr>
        <p:spPr>
          <a:xfrm>
            <a:off x="5980176"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Risk score</a:t>
            </a:r>
          </a:p>
        </p:txBody>
      </p:sp>
      <p:sp>
        <p:nvSpPr>
          <p:cNvPr id="33" name="Step 5: Reasons"/>
          <p:cNvSpPr/>
          <p:nvPr/>
        </p:nvSpPr>
        <p:spPr>
          <a:xfrm>
            <a:off x="7729728"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Reasons</a:t>
            </a:r>
          </a:p>
        </p:txBody>
      </p:sp>
      <p:sp>
        <p:nvSpPr>
          <p:cNvPr id="34" name="Step 6: Action + advice"/>
          <p:cNvSpPr/>
          <p:nvPr/>
        </p:nvSpPr>
        <p:spPr>
          <a:xfrm>
            <a:off x="9479280"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Action + advice</a:t>
            </a:r>
          </a:p>
        </p:txBody>
      </p:sp>
      <p:sp>
        <p:nvSpPr>
          <p:cNvPr id="35" name="TextBox 34"/>
          <p:cNvSpPr txBox="1"/>
          <p:nvPr/>
        </p:nvSpPr>
        <p:spPr>
          <a:xfrm>
            <a:off x="731520" y="6291072"/>
            <a:ext cx="10744200" cy="292608"/>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Why hybrid: the body-signal patterns are complex and best learned from data; the air-pollution effect is small and well measured in large studies, so we take it from the literature.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Flowchart: what BreatheTwin does for every patient, every morning</a:t>
            </a:r>
          </a:p>
        </p:txBody>
      </p:sp>
      <p:pic>
        <p:nvPicPr>
          <p:cNvPr id="10" name="Flowchart" descr="flow_deck.png"/>
          <p:cNvPicPr>
            <a:picLocks noChangeAspect="1"/>
          </p:cNvPicPr>
          <p:nvPr/>
        </p:nvPicPr>
        <p:blipFill>
          <a:blip r:embed="rId4"/>
          <a:stretch>
            <a:fillRect/>
          </a:stretch>
        </p:blipFill>
        <p:spPr>
          <a:xfrm>
            <a:off x="731520" y="1993392"/>
            <a:ext cx="7317938" cy="4526280"/>
          </a:xfrm>
          <a:prstGeom prst="rect">
            <a:avLst/>
          </a:prstGeom>
        </p:spPr>
      </p:pic>
      <p:sp>
        <p:nvSpPr>
          <p:cNvPr id="11" name="Steps panel"/>
          <p:cNvSpPr/>
          <p:nvPr/>
        </p:nvSpPr>
        <p:spPr>
          <a:xfrm>
            <a:off x="8278058" y="1993392"/>
            <a:ext cx="3197662" cy="4526280"/>
          </a:xfrm>
          <a:prstGeom prst="rect">
            <a:avLst/>
          </a:prstGeom>
          <a:solidFill>
            <a:srgbClr val="F2F6FC"/>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s text"/>
          <p:cNvSpPr txBox="1"/>
          <p:nvPr/>
        </p:nvSpPr>
        <p:spPr>
          <a:xfrm>
            <a:off x="8369498" y="2148840"/>
            <a:ext cx="3014782" cy="4297680"/>
          </a:xfrm>
          <a:prstGeom prst="rect">
            <a:avLst/>
          </a:prstGeom>
          <a:noFill/>
        </p:spPr>
        <p:txBody>
          <a:bodyPr wrap="square" lIns="45720" rIns="45720">
            <a:spAutoFit/>
          </a:bodyPr>
          <a:lstStyle/>
          <a:p>
            <a:pPr>
              <a:spcAft>
                <a:spcPts val="500"/>
              </a:spcAft>
            </a:pPr>
            <a:r>
              <a:rPr b="1" sz="1400">
                <a:solidFill>
                  <a:srgbClr val="111111"/>
                </a:solidFill>
                <a:latin typeface="Times New Roman"/>
              </a:rPr>
              <a:t>1 Collect. </a:t>
            </a:r>
            <a:r>
              <a:rPr sz="1400">
                <a:solidFill>
                  <a:srgbClr val="111111"/>
                </a:solidFill>
                <a:latin typeface="Times New Roman"/>
              </a:rPr>
              <a:t>Watch, oximeter, inhaler clip; health record; real city air and weather.</a:t>
            </a:r>
          </a:p>
          <a:p>
            <a:pPr>
              <a:spcAft>
                <a:spcPts val="500"/>
              </a:spcAft>
            </a:pPr>
            <a:r>
              <a:rPr b="1" sz="1400">
                <a:solidFill>
                  <a:srgbClr val="111111"/>
                </a:solidFill>
                <a:latin typeface="Times New Roman"/>
              </a:rPr>
              <a:t>2 Clean. </a:t>
            </a:r>
            <a:r>
              <a:rPr sz="1400">
                <a:solidFill>
                  <a:srgbClr val="111111"/>
                </a:solidFill>
                <a:latin typeface="Times New Roman"/>
              </a:rPr>
              <a:t>One row per patient per day; range checks; missing stays missing.</a:t>
            </a:r>
          </a:p>
          <a:p>
            <a:pPr>
              <a:spcAft>
                <a:spcPts val="500"/>
              </a:spcAft>
            </a:pPr>
            <a:r>
              <a:rPr b="1" sz="1400">
                <a:solidFill>
                  <a:srgbClr val="111111"/>
                </a:solidFill>
                <a:latin typeface="Times New Roman"/>
              </a:rPr>
              <a:t>3 Twin. </a:t>
            </a:r>
            <a:r>
              <a:rPr sz="1400">
                <a:solidFill>
                  <a:srgbClr val="111111"/>
                </a:solidFill>
                <a:latin typeface="Times New Roman"/>
              </a:rPr>
              <a:t>Today vs own normal (days t-28 to t-8), hybrid risk engine, rule checks.</a:t>
            </a:r>
          </a:p>
          <a:p>
            <a:pPr>
              <a:spcAft>
                <a:spcPts val="500"/>
              </a:spcAft>
            </a:pPr>
            <a:r>
              <a:rPr b="1" sz="1400">
                <a:solidFill>
                  <a:srgbClr val="111111"/>
                </a:solidFill>
                <a:latin typeface="Times New Roman"/>
              </a:rPr>
              <a:t>4 Decide. </a:t>
            </a:r>
            <a:r>
              <a:rPr sz="1400">
                <a:solidFill>
                  <a:srgbClr val="111111"/>
                </a:solidFill>
                <a:latin typeface="Times New Roman"/>
              </a:rPr>
              <a:t>High: call today. Medium: watch. Low: no action.</a:t>
            </a:r>
          </a:p>
          <a:p>
            <a:pPr>
              <a:spcAft>
                <a:spcPts val="500"/>
              </a:spcAft>
            </a:pPr>
            <a:r>
              <a:rPr b="1" sz="1400">
                <a:solidFill>
                  <a:srgbClr val="111111"/>
                </a:solidFill>
                <a:latin typeface="Times New Roman"/>
              </a:rPr>
              <a:t>5 Act. </a:t>
            </a:r>
            <a:r>
              <a:rPr sz="1400">
                <a:solidFill>
                  <a:srgbClr val="111111"/>
                </a:solidFill>
                <a:latin typeface="Times New Roman"/>
              </a:rPr>
              <a:t>Call list, reasons, what-if, smog alerts, visit summary; outcome feeds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Open, anonymised or synthetic data, and clear about which</a:t>
            </a:r>
          </a:p>
        </p:txBody>
      </p:sp>
      <p:sp>
        <p:nvSpPr>
          <p:cNvPr id="10" name="Tag: Data Sources"/>
          <p:cNvSpPr/>
          <p:nvPr/>
        </p:nvSpPr>
        <p:spPr>
          <a:xfrm>
            <a:off x="731520" y="2011680"/>
            <a:ext cx="6172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Sources</a:t>
            </a:r>
          </a:p>
        </p:txBody>
      </p:sp>
      <p:graphicFrame>
        <p:nvGraphicFramePr>
          <p:cNvPr id="11" name="Sources table"/>
          <p:cNvGraphicFramePr>
            <a:graphicFrameLocks noGrp="1"/>
          </p:cNvGraphicFramePr>
          <p:nvPr/>
        </p:nvGraphicFramePr>
        <p:xfrm>
          <a:off x="731520" y="2542032"/>
          <a:ext cx="6172200" cy="2743200"/>
        </p:xfrm>
        <a:graphic>
          <a:graphicData uri="http://schemas.openxmlformats.org/drawingml/2006/table">
            <a:tbl>
              <a:tblPr firstRow="0" bandRow="0">
                <a:tableStyleId>{5940675A-B579-460E-94D1-54222C63F5DA}</a:tableStyleId>
              </a:tblPr>
              <a:tblGrid>
                <a:gridCol w="1325880"/>
                <a:gridCol w="2743200"/>
                <a:gridCol w="1143000"/>
                <a:gridCol w="960120"/>
              </a:tblGrid>
              <a:tr h="45720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Source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Real or synthetic</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Licence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Health records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Synthea COPD cohort + our India overlay and younger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Apache 2.0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Wearables and flare-ups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Simulated; every effect size from a published study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Ours (MIT)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Air quality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CPCB daily PM2.5, 8 cities (Kaggle 'Air Quality Data in India')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Open-Meteo archive: temperature, humidity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 BY 4.0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Real-data check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MIMIC-IV Clinical Database Demo v2.2 (14 COPD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r>
                        <a:rPr sz="1150" b="0" i="0">
                          <a:solidFill>
                            <a:srgbClr val="111111"/>
                          </a:solidFill>
                          <a:latin typeface="Times New Roman"/>
                        </a:rPr>
                        <a:t>, aggregate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ODbL 1.0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MIMIC box"/>
          <p:cNvSpPr/>
          <p:nvPr/>
        </p:nvSpPr>
        <p:spPr>
          <a:xfrm>
            <a:off x="731520" y="5376672"/>
            <a:ext cx="6172200" cy="411480"/>
          </a:xfrm>
          <a:prstGeom prst="roundRect">
            <a:avLst>
              <a:gd name="adj" fmla="val 3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394960"/>
            <a:ext cx="6035040" cy="384048"/>
          </a:xfrm>
          <a:prstGeom prst="rect">
            <a:avLst/>
          </a:prstGeom>
          <a:noFill/>
        </p:spPr>
        <p:txBody>
          <a:bodyPr wrap="square" anchor="ctr" lIns="54864" rIns="54864" tIns="27432" bIns="27432">
            <a:spAutoFit/>
          </a:bodyPr>
          <a:lstStyle/>
          <a:p>
            <a:pPr algn="l">
              <a:spcAft>
                <a:spcPts val="300"/>
              </a:spcAft>
              <a:buNone/>
            </a:pPr>
            <a:r>
              <a:rPr sz="1150" b="1" i="0">
                <a:solidFill>
                  <a:srgbClr val="111111"/>
                </a:solidFill>
                <a:latin typeface="Times New Roman"/>
              </a:rPr>
              <a:t>Real-data check:</a:t>
            </a:r>
            <a:r>
              <a:rPr sz="1150" b="0" i="0">
                <a:solidFill>
                  <a:srgbClr val="111111"/>
                </a:solidFill>
                <a:latin typeface="Times New Roman"/>
              </a:rPr>
              <a:t> sex mix and heart disease match real patients; heart failure and diabetes are lower in synthetic records.</a:t>
            </a:r>
          </a:p>
        </p:txBody>
      </p:sp>
      <p:sp>
        <p:nvSpPr>
          <p:cNvPr id="14" name="Tag: Our Patient Cohort (400)"/>
          <p:cNvSpPr/>
          <p:nvPr/>
        </p:nvSpPr>
        <p:spPr>
          <a:xfrm>
            <a:off x="7132320" y="2011680"/>
            <a:ext cx="4343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Our Patient Cohort (420)</a:t>
            </a:r>
          </a:p>
        </p:txBody>
      </p:sp>
      <p:graphicFrame>
        <p:nvGraphicFramePr>
          <p:cNvPr id="15" name="Age chart"/>
          <p:cNvGraphicFramePr>
            <a:graphicFrameLocks noGrp="1"/>
          </p:cNvGraphicFramePr>
          <p:nvPr/>
        </p:nvGraphicFramePr>
        <p:xfrm>
          <a:off x="7132320" y="2487168"/>
          <a:ext cx="4343400" cy="2514600"/>
        </p:xfrm>
        <a:graphic>
          <a:graphicData uri="http://schemas.openxmlformats.org/drawingml/2006/chart">
            <c:chart xmlns:c="http://schemas.openxmlformats.org/drawingml/2006/chart" r:id="rId4"/>
          </a:graphicData>
        </a:graphic>
      </p:graphicFrame>
      <p:sp>
        <p:nvSpPr>
          <p:cNvPr id="16" name="Cohort text"/>
          <p:cNvSpPr txBox="1"/>
          <p:nvPr/>
        </p:nvSpPr>
        <p:spPr>
          <a:xfrm>
            <a:off x="7178040" y="5029200"/>
            <a:ext cx="4297680" cy="777240"/>
          </a:xfrm>
          <a:prstGeom prst="rect">
            <a:avLst/>
          </a:prstGeom>
          <a:noFill/>
        </p:spPr>
        <p:txBody>
          <a:bodyPr wrap="square" anchor="t" lIns="54864" rIns="54864" tIns="27432" bIns="27432">
            <a:spAutoFit/>
          </a:bodyPr>
          <a:lstStyle/>
          <a:p>
            <a:pPr algn="l" marL="164592" indent="-164592">
              <a:spcAft>
                <a:spcPts val="100"/>
              </a:spcAft>
              <a:buChar char="•"/>
            </a:pPr>
            <a:r>
              <a:rPr sz="1150" b="0" i="0">
                <a:solidFill>
                  <a:srgbClr val="111111"/>
                </a:solidFill>
                <a:latin typeface="Times New Roman"/>
              </a:rPr>
              <a:t>Severity GOLD 1 / 2 / 3 / 4: </a:t>
            </a:r>
            <a:r>
              <a:rPr sz="1150" b="1" i="0">
                <a:solidFill>
                  <a:srgbClr val="111111"/>
                </a:solidFill>
                <a:latin typeface="Times New Roman"/>
              </a:rPr>
              <a:t>18% / 43% / 28% / 11%</a:t>
            </a:r>
          </a:p>
          <a:p>
            <a:pPr algn="l" marL="164592" indent="-164592">
              <a:spcAft>
                <a:spcPts val="100"/>
              </a:spcAft>
              <a:buChar char="•"/>
            </a:pPr>
            <a:r>
              <a:rPr sz="1150" b="0" i="0">
                <a:solidFill>
                  <a:srgbClr val="111111"/>
                </a:solidFill>
                <a:latin typeface="Times New Roman"/>
              </a:rPr>
              <a:t>Current smokers 19% · cooking smoke at home 32% · 8 cities</a:t>
            </a:r>
            <a:r>
              <a:rPr sz="1150" b="1" i="0">
                <a:solidFill>
                  <a:srgbClr val="111111"/>
                </a:solidFill>
                <a:latin typeface="Times New Roman"/>
              </a:rPr>
              <a:t/>
            </a:r>
            <a:r>
              <a:rPr sz="1150" b="0" i="0">
                <a:solidFill>
                  <a:srgbClr val="111111"/>
                </a:solidFill>
                <a:latin typeface="Times New Roman"/>
              </a:rPr>
              <a:t/>
            </a:r>
            <a:r>
              <a:rPr sz="1150" b="1" i="0">
                <a:solidFill>
                  <a:srgbClr val="111111"/>
                </a:solidFill>
                <a:latin typeface="Times New Roman"/>
              </a:rPr>
              <a:t/>
            </a:r>
            <a:r>
              <a:rPr sz="1150" b="0" i="0">
                <a:solidFill>
                  <a:srgbClr val="111111"/>
                </a:solidFill>
                <a:latin typeface="Times New Roman"/>
              </a:rPr>
              <a:t/>
            </a:r>
          </a:p>
        </p:txBody>
      </p:sp>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Honest by design:</a:t>
            </a:r>
          </a:p>
          <a:p>
            <a:pPr algn="ctr"/>
            <a:r>
              <a:rPr sz="1500" b="0" i="1">
                <a:solidFill>
                  <a:srgbClr val="111111"/>
                </a:solidFill>
                <a:latin typeface="Times New Roman"/>
              </a:rPr>
              <a:t>Air and weather are real; patients, watch readings and flare-ups are simulated, so the results prove the idea works, not clinical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much of our data is real, and what each part is used for</a:t>
            </a:r>
          </a:p>
        </p:txBody>
      </p:sp>
      <p:sp>
        <p:nvSpPr>
          <p:cNvPr id="10" name="Tag: Every data stream, real or synthetic"/>
          <p:cNvSpPr/>
          <p:nvPr/>
        </p:nvSpPr>
        <p:spPr>
          <a:xfrm>
            <a:off x="731520" y="2011680"/>
            <a:ext cx="7315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Every data stream, real or synthetic</a:t>
            </a:r>
          </a:p>
        </p:txBody>
      </p:sp>
      <p:graphicFrame>
        <p:nvGraphicFramePr>
          <p:cNvPr id="11" name="Data table"/>
          <p:cNvGraphicFramePr>
            <a:graphicFrameLocks noGrp="1"/>
          </p:cNvGraphicFramePr>
          <p:nvPr/>
        </p:nvGraphicFramePr>
        <p:xfrm>
          <a:off x="731520" y="2542032"/>
          <a:ext cx="7315200" cy="3072384"/>
        </p:xfrm>
        <a:graphic>
          <a:graphicData uri="http://schemas.openxmlformats.org/drawingml/2006/table">
            <a:tbl>
              <a:tblPr>
                <a:tableStyleId>{5C22544A-7EE6-4342-B048-85BDC9FD1C3A}</a:tableStyleId>
              </a:tblPr>
              <a:tblGrid>
                <a:gridCol w="2331720"/>
                <a:gridCol w="822960"/>
                <a:gridCol w="2606040"/>
                <a:gridCol w="1554480"/>
              </a:tblGrid>
              <a:tr h="384048">
                <a:tc>
                  <a:txBody>
                    <a:bodyPr wrap="square"/>
                    <a:lstStyle/>
                    <a:p>
                      <a:pPr algn="ctr"/>
                      <a:r>
                        <a:rPr sz="1150" b="1">
                          <a:solidFill>
                            <a:srgbClr val="111111"/>
                          </a:solidFill>
                          <a:latin typeface="Times New Roman"/>
                        </a:rPr>
                        <a:t>Data</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Size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Used for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384048">
                <a:tc>
                  <a:txBody>
                    <a:bodyPr wrap="square"/>
                    <a:lstStyle/>
                    <a:p>
                      <a:pPr algn="l"/>
                      <a:r>
                        <a:rPr sz="1050" b="0">
                          <a:solidFill>
                            <a:srgbClr val="111111"/>
                          </a:solidFill>
                          <a:latin typeface="Times New Roman"/>
                        </a:rPr>
                        <a:t>City air quality (PM2.5, AQI)</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2,928 city-days, 8 cities (CPCB)</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Weather (temperature, humidity)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2,928 city-days (Open-Meteo)</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Health records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420 patients (Synthea + India overlay, 20 under 30)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Watch, oximeter, inhaler readings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153,720 patient-days, from studies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Flare-ups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454 simulated events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labels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Real hospital patients (stress test)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100 patients, 47,214 vital readings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Testing only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Real COPD records (check)</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14 COPD patients (MIMIC-IV demo)</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Testing only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KPI of air and weather data"/>
          <p:cNvSpPr/>
          <p:nvPr/>
        </p:nvSpPr>
        <p:spPr>
          <a:xfrm>
            <a:off x="8275320" y="201168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100%</a:t>
            </a:r>
          </a:p>
          <a:p>
            <a:pPr algn="ctr"/>
            <a:r>
              <a:rPr sz="1300" b="1" i="0">
                <a:solidFill>
                  <a:srgbClr val="111111"/>
                </a:solidFill>
                <a:latin typeface="Times New Roman"/>
              </a:rPr>
              <a:t>of air and weather data</a:t>
            </a:r>
          </a:p>
          <a:p>
            <a:pPr algn="ctr"/>
            <a:r>
              <a:rPr sz="1100" b="0" i="1">
                <a:solidFill>
                  <a:srgbClr val="111111"/>
                </a:solidFill>
                <a:latin typeface="Times New Roman"/>
              </a:rPr>
              <a:t>is real (CPCB, Open-Meteo)</a:t>
            </a:r>
          </a:p>
        </p:txBody>
      </p:sp>
      <p:sp>
        <p:nvSpPr>
          <p:cNvPr id="10" name="KPI of all training values"/>
          <p:cNvSpPr/>
          <p:nvPr/>
        </p:nvSpPr>
        <p:spPr>
          <a:xfrm>
            <a:off x="8275320" y="324612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a:t>
            </a:r>
          </a:p>
          <a:p>
            <a:pPr algn="ctr"/>
            <a:r>
              <a:rPr sz="1300" b="1" i="0">
                <a:solidFill>
                  <a:srgbClr val="111111"/>
                </a:solidFill>
                <a:latin typeface="Times New Roman"/>
              </a:rPr>
              <a:t>of all training values</a:t>
            </a:r>
          </a:p>
          <a:p>
            <a:pPr algn="ctr"/>
            <a:r>
              <a:rPr sz="1100" b="0" i="1">
                <a:solidFill>
                  <a:srgbClr val="111111"/>
                </a:solidFill>
                <a:latin typeface="Times New Roman"/>
              </a:rPr>
              <a:t>are real; patient data is simulated</a:t>
            </a:r>
          </a:p>
        </p:txBody>
      </p:sp>
      <p:sp>
        <p:nvSpPr>
          <p:cNvPr id="10" name="KPI real patients, 55 women, 45 men"/>
          <p:cNvSpPr/>
          <p:nvPr/>
        </p:nvSpPr>
        <p:spPr>
          <a:xfrm>
            <a:off x="8275320" y="448056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100</a:t>
            </a:r>
          </a:p>
          <a:p>
            <a:pPr algn="ctr"/>
            <a:r>
              <a:rPr sz="1300" b="1" i="0">
                <a:solidFill>
                  <a:srgbClr val="111111"/>
                </a:solidFill>
                <a:latin typeface="Times New Roman"/>
              </a:rPr>
              <a:t>real patients, 55 women, 45 men</a:t>
            </a:r>
          </a:p>
          <a:p>
            <a:pPr algn="ctr"/>
            <a:r>
              <a:rPr sz="1100" b="0" i="1">
                <a:solidFill>
                  <a:srgbClr val="111111"/>
                </a:solidFill>
                <a:latin typeface="Times New Roman"/>
              </a:rPr>
              <a:t>aged 18 to 90, used to stress-test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Why simulate patients at all?</a:t>
            </a:r>
          </a:p>
          <a:p>
            <a:pPr algn="ctr"/>
            <a:r>
              <a:rPr sz="1500" b="0" i="1">
                <a:solidFill>
                  <a:srgbClr val="111111"/>
                </a:solidFill>
                <a:latin typeface="Times New Roman"/>
              </a:rPr>
              <a:t>No open dataset links COPD wearable data to labelled flare-ups, so we simulate from published studies and test on real people.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AI model: learn the body, borrow published science for the air</a:t>
            </a:r>
          </a:p>
        </p:txBody>
      </p:sp>
      <p:sp>
        <p:nvSpPr>
          <p:cNvPr id="10" name="Tag: What the Model Looks At"/>
          <p:cNvSpPr/>
          <p:nvPr/>
        </p:nvSpPr>
        <p:spPr>
          <a:xfrm>
            <a:off x="731520" y="2011680"/>
            <a:ext cx="5486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the Model Looks At</a:t>
            </a:r>
          </a:p>
        </p:txBody>
      </p:sp>
      <p:graphicFrame>
        <p:nvGraphicFramePr>
          <p:cNvPr id="11" name="Inputs table"/>
          <p:cNvGraphicFramePr>
            <a:graphicFrameLocks noGrp="1"/>
          </p:cNvGraphicFramePr>
          <p:nvPr/>
        </p:nvGraphicFramePr>
        <p:xfrm>
          <a:off x="731520" y="2542032"/>
          <a:ext cx="5486400" cy="3008376"/>
        </p:xfrm>
        <a:graphic>
          <a:graphicData uri="http://schemas.openxmlformats.org/drawingml/2006/table">
            <a:tbl>
              <a:tblPr firstRow="0" bandRow="0">
                <a:tableStyleId>{5940675A-B579-460E-94D1-54222C63F5DA}</a:tableStyleId>
              </a:tblPr>
              <a:tblGrid>
                <a:gridCol w="1783080"/>
                <a:gridCol w="3703320"/>
              </a:tblGrid>
              <a:tr h="429768">
                <a:tc>
                  <a:txBody>
                    <a:bodyPr wrap="square"/>
                    <a:lstStyle/>
                    <a:p>
                      <a:pPr algn="ctr"/>
                      <a:r>
                        <a:rPr sz="1250" b="1" i="0">
                          <a:solidFill>
                            <a:srgbClr val="111111"/>
                          </a:solidFill>
                          <a:latin typeface="Times New Roman"/>
                        </a:rPr>
                        <a:t>Data input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Signal the twin uses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Breathing, oxygen, heart rate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Change vs </a:t>
                      </a:r>
                      <a:r>
                        <a:rPr sz="1150" b="1" i="0">
                          <a:solidFill>
                            <a:srgbClr val="111111"/>
                          </a:solidFill>
                          <a:latin typeface="Times New Roman"/>
                        </a:rPr>
                        <a:t>own normal</a:t>
                      </a:r>
                      <a:r>
                        <a:rPr sz="1150" b="0" i="0">
                          <a:solidFill>
                            <a:srgbClr val="111111"/>
                          </a:solidFill>
                          <a:latin typeface="Times New Roman"/>
                        </a:rPr>
                        <a:t> (today, 3-day average, how unusual)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Steps and sleep</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Drop vs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Inhalers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Extra rescue puffs; % of daily doses taken this week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3-week temperature drop, night low, humid heat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Health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Age, GOLD stage, past flare-ups, smoking, cooking smoke, eosinophils, other illnesses, BMI, flu vaccine, home oxygen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Air (PM2.5)</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Published dose-response, </a:t>
                      </a:r>
                      <a:r>
                        <a:rPr sz="1150" b="1" i="0">
                          <a:solidFill>
                            <a:srgbClr val="111111"/>
                          </a:solidFill>
                          <a:latin typeface="Times New Roman"/>
                        </a:rPr>
                        <a:t>not learned</a:t>
                      </a:r>
                      <a:r>
                        <a:rPr sz="1150" b="0" i="0">
                          <a:solidFill>
                            <a:srgbClr val="111111"/>
                          </a:solidFill>
                          <a:latin typeface="Times New Roman"/>
                        </a:rPr>
                        <a:t>: +2.5% risk per 10 µg/m³</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Model Details"/>
          <p:cNvSpPr/>
          <p:nvPr/>
        </p:nvSpPr>
        <p:spPr>
          <a:xfrm>
            <a:off x="6446520" y="2011680"/>
            <a:ext cx="5029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Model Details</a:t>
            </a:r>
          </a:p>
        </p:txBody>
      </p:sp>
      <p:graphicFrame>
        <p:nvGraphicFramePr>
          <p:cNvPr id="13" name="Model table"/>
          <p:cNvGraphicFramePr>
            <a:graphicFrameLocks noGrp="1"/>
          </p:cNvGraphicFramePr>
          <p:nvPr/>
        </p:nvGraphicFramePr>
        <p:xfrm>
          <a:off x="6446520" y="2542032"/>
          <a:ext cx="5029200" cy="1965960"/>
        </p:xfrm>
        <a:graphic>
          <a:graphicData uri="http://schemas.openxmlformats.org/drawingml/2006/table">
            <a:tbl>
              <a:tblPr firstRow="0" bandRow="0">
                <a:tableStyleId>{5940675A-B579-460E-94D1-54222C63F5DA}</a:tableStyleId>
              </a:tblPr>
              <a:tblGrid>
                <a:gridCol w="1234440"/>
                <a:gridCol w="3794760"/>
              </a:tblGrid>
              <a:tr h="393192">
                <a:tc>
                  <a:txBody>
                    <a:bodyPr wrap="square"/>
                    <a:lstStyle/>
                    <a:p>
                      <a:pPr algn="l"/>
                      <a:r>
                        <a:rPr sz="1150" b="1" i="0">
                          <a:solidFill>
                            <a:srgbClr val="111111"/>
                          </a:solidFill>
                          <a:latin typeface="Times New Roman"/>
                        </a:rPr>
                        <a:t>Algorithm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LightGBM (gradient-boosted decision trees)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Predicts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Will a flare-up start in the next 1 to 3 days?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Tested 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126 patients never seen in training (294 trained)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Safety rules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Warning signs can never lower risk; more inhaler doses can never raise 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Explanations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Per-factor contributions (SHAP values): "what is pushing the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Sources box"/>
          <p:cNvSpPr/>
          <p:nvPr/>
        </p:nvSpPr>
        <p:spPr>
          <a:xfrm>
            <a:off x="6446520" y="4645152"/>
            <a:ext cx="5029200" cy="18288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ources text"/>
          <p:cNvSpPr txBox="1"/>
          <p:nvPr/>
        </p:nvSpPr>
        <p:spPr>
          <a:xfrm>
            <a:off x="6537960" y="4681728"/>
            <a:ext cx="4892040" cy="1783080"/>
          </a:xfrm>
          <a:prstGeom prst="rect">
            <a:avLst/>
          </a:prstGeom>
          <a:noFill/>
        </p:spPr>
        <p:txBody>
          <a:bodyPr wrap="square" anchor="t" lIns="54864" rIns="54864" tIns="27432" bIns="27432">
            <a:spAutoFit/>
          </a:bodyPr>
          <a:lstStyle/>
          <a:p>
            <a:pPr algn="l">
              <a:spcAft>
                <a:spcPts val="400"/>
              </a:spcAft>
              <a:buNone/>
            </a:pPr>
            <a:r>
              <a:rPr sz="1350" b="1" i="0">
                <a:solidFill>
                  <a:srgbClr val="111111"/>
                </a:solidFill>
                <a:latin typeface="Times New Roman"/>
              </a:rPr>
              <a:t>Every number has a source</a:t>
            </a:r>
          </a:p>
          <a:p>
            <a:pPr algn="l" marL="164592" indent="-164592">
              <a:spcAft>
                <a:spcPts val="400"/>
              </a:spcAft>
              <a:buChar char="•"/>
            </a:pPr>
            <a:r>
              <a:rPr sz="1250" b="0" i="0">
                <a:solidFill>
                  <a:srgbClr val="111111"/>
                </a:solidFill>
                <a:latin typeface="Times New Roman"/>
              </a:rPr>
              <a:t>Breathing rise before flare-ups: </a:t>
            </a:r>
            <a:r>
              <a:rPr sz="1250" b="0" i="1">
                <a:solidFill>
                  <a:srgbClr val="111111"/>
                </a:solidFill>
                <a:latin typeface="Times New Roman"/>
              </a:rPr>
              <a:t>Yañez 2012</a:t>
            </a:r>
          </a:p>
          <a:p>
            <a:pPr algn="l" marL="164592" indent="-164592">
              <a:spcAft>
                <a:spcPts val="400"/>
              </a:spcAft>
              <a:buChar char="•"/>
            </a:pPr>
            <a:r>
              <a:rPr sz="1250" b="0" i="0">
                <a:solidFill>
                  <a:srgbClr val="111111"/>
                </a:solidFill>
                <a:latin typeface="Times New Roman"/>
              </a:rPr>
              <a:t>Flare-up rates by severity: </a:t>
            </a:r>
            <a:r>
              <a:rPr sz="1250" b="0" i="1">
                <a:solidFill>
                  <a:srgbClr val="111111"/>
                </a:solidFill>
                <a:latin typeface="Times New Roman"/>
              </a:rPr>
              <a:t>ECLIPSE, Hurst 2010</a:t>
            </a:r>
          </a:p>
          <a:p>
            <a:pPr algn="l" marL="164592" indent="-164592">
              <a:spcAft>
                <a:spcPts val="400"/>
              </a:spcAft>
              <a:buChar char="•"/>
            </a:pPr>
            <a:r>
              <a:rPr sz="1250" b="0" i="0">
                <a:solidFill>
                  <a:srgbClr val="111111"/>
                </a:solidFill>
                <a:latin typeface="Times New Roman"/>
              </a:rPr>
              <a:t>Eosinophils ≥340/µL: </a:t>
            </a:r>
            <a:r>
              <a:rPr sz="1250" b="1" i="0">
                <a:solidFill>
                  <a:srgbClr val="111111"/>
                </a:solidFill>
                <a:latin typeface="Times New Roman"/>
              </a:rPr>
              <a:t>1.76×</a:t>
            </a:r>
            <a:r>
              <a:rPr sz="1250" b="0" i="0">
                <a:solidFill>
                  <a:srgbClr val="111111"/>
                </a:solidFill>
                <a:latin typeface="Times New Roman"/>
              </a:rPr>
              <a:t> flare-ups </a:t>
            </a:r>
            <a:r>
              <a:rPr sz="1250" b="0" i="1">
                <a:solidFill>
                  <a:srgbClr val="111111"/>
                </a:solidFill>
                <a:latin typeface="Times New Roman"/>
              </a:rPr>
              <a:t>(Vedel-Krogh 2016)</a:t>
            </a:r>
          </a:p>
          <a:p>
            <a:pPr algn="l" marL="164592" indent="-164592">
              <a:spcAft>
                <a:spcPts val="400"/>
              </a:spcAft>
              <a:buChar char="•"/>
            </a:pPr>
            <a:r>
              <a:rPr sz="1250" b="0" i="0">
                <a:solidFill>
                  <a:srgbClr val="111111"/>
                </a:solidFill>
                <a:latin typeface="Times New Roman"/>
              </a:rPr>
              <a:t>Still smoking: </a:t>
            </a:r>
            <a:r>
              <a:rPr sz="1250" b="1" i="0">
                <a:solidFill>
                  <a:srgbClr val="111111"/>
                </a:solidFill>
                <a:latin typeface="Times New Roman"/>
              </a:rPr>
              <a:t>1.28×</a:t>
            </a:r>
            <a:r>
              <a:rPr sz="1250" b="0" i="0">
                <a:solidFill>
                  <a:srgbClr val="111111"/>
                </a:solidFill>
                <a:latin typeface="Times New Roman"/>
              </a:rPr>
              <a:t> </a:t>
            </a:r>
            <a:r>
              <a:rPr sz="1250" b="0" i="1">
                <a:solidFill>
                  <a:srgbClr val="111111"/>
                </a:solidFill>
                <a:latin typeface="Times New Roman"/>
              </a:rPr>
              <a:t>(Au 2009)</a:t>
            </a:r>
            <a:r>
              <a:rPr sz="1250" b="0" i="0">
                <a:solidFill>
                  <a:srgbClr val="111111"/>
                </a:solidFill>
                <a:latin typeface="Times New Roman"/>
              </a:rPr>
              <a:t> · PM2.5: </a:t>
            </a:r>
            <a:r>
              <a:rPr sz="1250" b="0" i="1">
                <a:solidFill>
                  <a:srgbClr val="111111"/>
                </a:solidFill>
                <a:latin typeface="Times New Roman"/>
              </a:rPr>
              <a:t>DeVries 2017</a:t>
            </a:r>
          </a:p>
          <a:p>
            <a:pPr algn="l" marL="164592" indent="-164592">
              <a:spcAft>
                <a:spcPts val="400"/>
              </a:spcAft>
              <a:buChar char="•"/>
            </a:pPr>
            <a:r>
              <a:rPr sz="1250" b="0" i="0">
                <a:solidFill>
                  <a:srgbClr val="111111"/>
                </a:solidFill>
                <a:latin typeface="Times New Roman"/>
              </a:rPr>
              <a:t>Anything unsourced is labelled </a:t>
            </a:r>
            <a:r>
              <a:rPr sz="1250" b="1" i="0">
                <a:solidFill>
                  <a:srgbClr val="111111"/>
                </a:solidFill>
                <a:latin typeface="Times New Roman"/>
              </a:rPr>
              <a:t>ASSUMPTION</a:t>
            </a:r>
            <a:r>
              <a:rPr sz="1250" b="0" i="0">
                <a:solidFill>
                  <a:srgbClr val="111111"/>
                </a:solidFill>
                <a:latin typeface="Times New Roman"/>
              </a:rPr>
              <a:t> in the code</a:t>
            </a:r>
          </a:p>
        </p:txBody>
      </p:sp>
      <p:sp>
        <p:nvSpPr>
          <p:cNvPr id="16" name="Tech stack box"/>
          <p:cNvSpPr/>
          <p:nvPr/>
        </p:nvSpPr>
        <p:spPr>
          <a:xfrm>
            <a:off x="731520" y="5650992"/>
            <a:ext cx="5486400" cy="822960"/>
          </a:xfrm>
          <a:prstGeom prst="roundRect">
            <a:avLst>
              <a:gd name="adj" fmla="val 2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5669280"/>
            <a:ext cx="5349240" cy="786384"/>
          </a:xfrm>
          <a:prstGeom prst="rect">
            <a:avLst/>
          </a:prstGeom>
          <a:noFill/>
        </p:spPr>
        <p:txBody>
          <a:bodyPr wrap="square" anchor="ctr" lIns="54864" rIns="54864" tIns="27432" bIns="27432">
            <a:spAutoFit/>
          </a:bodyPr>
          <a:lstStyle/>
          <a:p>
            <a:pPr algn="l">
              <a:spcAft>
                <a:spcPts val="200"/>
              </a:spcAft>
              <a:buNone/>
            </a:pPr>
            <a:r>
              <a:rPr sz="1150" b="1" i="0">
                <a:solidFill>
                  <a:srgbClr val="111111"/>
                </a:solidFill>
                <a:latin typeface="Times New Roman"/>
              </a:rPr>
              <a:t>Tech stack:</a:t>
            </a:r>
            <a:r>
              <a:rPr sz="1150" b="0" i="0">
                <a:solidFill>
                  <a:srgbClr val="111111"/>
                </a:solidFill>
                <a:latin typeface="Times New Roman"/>
              </a:rPr>
              <a:t> Python · pandas · LightGBM · scikit-learn · Streamlit · Plotly · Synthea (Java)</a:t>
            </a:r>
          </a:p>
          <a:p>
            <a:pPr algn="l">
              <a:spcAft>
                <a:spcPts val="200"/>
              </a:spcAft>
              <a:buNone/>
            </a:pPr>
            <a:r>
              <a:rPr sz="1150" b="1" i="0">
                <a:solidFill>
                  <a:srgbClr val="111111"/>
                </a:solidFill>
                <a:latin typeface="Times New Roman"/>
              </a:rPr>
              <a:t>Open source:</a:t>
            </a:r>
            <a:r>
              <a:rPr sz="1150" b="0" i="0">
                <a:solidFill>
                  <a:srgbClr val="111111"/>
                </a:solidFill>
                <a:latin typeface="Times New Roman"/>
              </a:rPr>
              <a:t> MIT licence; whole pipeline rebuilds with one command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Results: 2 in 3 flare-ups flagged 1 to 3 days ahead</a:t>
            </a:r>
          </a:p>
        </p:txBody>
      </p:sp>
      <p:sp>
        <p:nvSpPr>
          <p:cNvPr id="10" name="KPI Accuracy score (AUROC)"/>
          <p:cNvSpPr/>
          <p:nvPr/>
        </p:nvSpPr>
        <p:spPr>
          <a:xfrm>
            <a:off x="731520"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0.815</a:t>
            </a:r>
          </a:p>
          <a:p>
            <a:pPr algn="ctr"/>
            <a:r>
              <a:rPr sz="1300" b="1" i="0">
                <a:solidFill>
                  <a:srgbClr val="111111"/>
                </a:solidFill>
                <a:latin typeface="Times New Roman"/>
              </a:rPr>
              <a:t>Accuracy score (AUROC)</a:t>
            </a:r>
          </a:p>
          <a:p>
            <a:pPr algn="ctr"/>
            <a:r>
              <a:rPr sz="1100" b="0" i="1">
                <a:solidFill>
                  <a:srgbClr val="111111"/>
                </a:solidFill>
                <a:latin typeface="Times New Roman"/>
              </a:rPr>
              <a:t>published tools: 0.68 to 0.85</a:t>
            </a:r>
          </a:p>
        </p:txBody>
      </p:sp>
      <p:sp>
        <p:nvSpPr>
          <p:cNvPr id="11" name="KPI Flare-ups warned"/>
          <p:cNvSpPr/>
          <p:nvPr/>
        </p:nvSpPr>
        <p:spPr>
          <a:xfrm>
            <a:off x="3447288"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67%</a:t>
            </a:r>
          </a:p>
          <a:p>
            <a:pPr algn="ctr"/>
            <a:r>
              <a:rPr sz="1300" b="1" i="0">
                <a:solidFill>
                  <a:srgbClr val="111111"/>
                </a:solidFill>
                <a:latin typeface="Times New Roman"/>
              </a:rPr>
              <a:t>Flare-ups warned</a:t>
            </a:r>
          </a:p>
          <a:p>
            <a:pPr algn="ctr"/>
            <a:r>
              <a:rPr sz="1100" b="0" i="1">
                <a:solidFill>
                  <a:srgbClr val="111111"/>
                </a:solidFill>
                <a:latin typeface="Times New Roman"/>
              </a:rPr>
              <a:t>1 to 3 days ahead</a:t>
            </a:r>
          </a:p>
        </p:txBody>
      </p:sp>
      <p:sp>
        <p:nvSpPr>
          <p:cNvPr id="12" name="KPI False alerts"/>
          <p:cNvSpPr/>
          <p:nvPr/>
        </p:nvSpPr>
        <p:spPr>
          <a:xfrm>
            <a:off x="6163056"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0.91</a:t>
            </a:r>
          </a:p>
          <a:p>
            <a:pPr algn="ctr"/>
            <a:r>
              <a:rPr sz="1300" b="1" i="0">
                <a:solidFill>
                  <a:srgbClr val="111111"/>
                </a:solidFill>
                <a:latin typeface="Times New Roman"/>
              </a:rPr>
              <a:t>False alerts</a:t>
            </a:r>
          </a:p>
          <a:p>
            <a:pPr algn="ctr"/>
            <a:r>
              <a:rPr sz="1100" b="0" i="1">
                <a:solidFill>
                  <a:srgbClr val="111111"/>
                </a:solidFill>
                <a:latin typeface="Times New Roman"/>
              </a:rPr>
              <a:t>per patient per month</a:t>
            </a:r>
          </a:p>
        </p:txBody>
      </p:sp>
      <p:sp>
        <p:nvSpPr>
          <p:cNvPr id="13" name="KPI Unseen test patients"/>
          <p:cNvSpPr/>
          <p:nvPr/>
        </p:nvSpPr>
        <p:spPr>
          <a:xfrm>
            <a:off x="8878824"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126</a:t>
            </a:r>
          </a:p>
          <a:p>
            <a:pPr algn="ctr"/>
            <a:r>
              <a:rPr sz="1300" b="1" i="0">
                <a:solidFill>
                  <a:srgbClr val="111111"/>
                </a:solidFill>
                <a:latin typeface="Times New Roman"/>
              </a:rPr>
              <a:t>Unseen test patients</a:t>
            </a:r>
          </a:p>
          <a:p>
            <a:pPr algn="ctr"/>
            <a:r>
              <a:rPr sz="1100" b="0" i="1">
                <a:solidFill>
                  <a:srgbClr val="111111"/>
                </a:solidFill>
                <a:latin typeface="Times New Roman"/>
              </a:rPr>
              <a:t>never used in training</a:t>
            </a:r>
          </a:p>
        </p:txBody>
      </p:sp>
      <p:graphicFrame>
        <p:nvGraphicFramePr>
          <p:cNvPr id="14" name="Streams chart"/>
          <p:cNvGraphicFramePr>
            <a:graphicFrameLocks noGrp="1"/>
          </p:cNvGraphicFramePr>
          <p:nvPr/>
        </p:nvGraphicFramePr>
        <p:xfrm>
          <a:off x="731520" y="3291840"/>
          <a:ext cx="5120640" cy="2487168"/>
        </p:xfrm>
        <a:graphic>
          <a:graphicData uri="http://schemas.openxmlformats.org/drawingml/2006/chart">
            <c:chart xmlns:c="http://schemas.openxmlformats.org/drawingml/2006/chart" r:id="rId4"/>
          </a:graphicData>
        </a:graphic>
      </p:graphicFrame>
      <p:graphicFrame>
        <p:nvGraphicFramePr>
          <p:cNvPr id="15" name="Factors chart"/>
          <p:cNvGraphicFramePr>
            <a:graphicFrameLocks noGrp="1"/>
          </p:cNvGraphicFramePr>
          <p:nvPr/>
        </p:nvGraphicFramePr>
        <p:xfrm>
          <a:off x="6035040" y="3291840"/>
          <a:ext cx="5440680" cy="2487168"/>
        </p:xfrm>
        <a:graphic>
          <a:graphicData uri="http://schemas.openxmlformats.org/drawingml/2006/chart">
            <c:chart xmlns:c="http://schemas.openxmlformats.org/drawingml/2006/chart" r:id="rId5"/>
          </a:graphicData>
        </a:graphic>
      </p:graphicFrame>
      <p:sp>
        <p:nvSpPr>
          <p:cNvPr id="16"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What this means:</a:t>
            </a:r>
          </a:p>
          <a:p>
            <a:pPr algn="ctr"/>
            <a:r>
              <a:rPr sz="1500" b="0" i="1">
                <a:solidFill>
                  <a:srgbClr val="111111"/>
                </a:solidFill>
                <a:latin typeface="Times New Roman"/>
              </a:rPr>
              <a:t>Body signals carry the early warning; the health record sets each person's starting risk; air and weather explain the seasons.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Stress test on 100 real patients: robust, fair, right direction</a:t>
            </a:r>
          </a:p>
        </p:txBody>
      </p:sp>
      <p:sp>
        <p:nvSpPr>
          <p:cNvPr id="10" name="KPI real patients assessed"/>
          <p:cNvSpPr/>
          <p:nvPr/>
        </p:nvSpPr>
        <p:spPr>
          <a:xfrm>
            <a:off x="731520"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75/100</a:t>
            </a:r>
          </a:p>
          <a:p>
            <a:pPr algn="ctr"/>
            <a:r>
              <a:rPr sz="1300" b="1" i="0">
                <a:solidFill>
                  <a:srgbClr val="111111"/>
                </a:solidFill>
                <a:latin typeface="Times New Roman"/>
              </a:rPr>
              <a:t>real patients assessed</a:t>
            </a:r>
          </a:p>
          <a:p>
            <a:pPr algn="ctr"/>
            <a:r>
              <a:rPr sz="1100" b="0" i="1">
                <a:solidFill>
                  <a:srgbClr val="111111"/>
                </a:solidFill>
                <a:latin typeface="Times New Roman"/>
              </a:rPr>
              <a:t>25 had under 48 h of vitals</a:t>
            </a:r>
          </a:p>
        </p:txBody>
      </p:sp>
      <p:sp>
        <p:nvSpPr>
          <p:cNvPr id="10" name="KPI crashes or invalid risks"/>
          <p:cNvSpPr/>
          <p:nvPr/>
        </p:nvSpPr>
        <p:spPr>
          <a:xfrm>
            <a:off x="3447288"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a:t>
            </a:r>
          </a:p>
          <a:p>
            <a:pPr algn="ctr"/>
            <a:r>
              <a:rPr sz="1300" b="1" i="0">
                <a:solidFill>
                  <a:srgbClr val="111111"/>
                </a:solidFill>
                <a:latin typeface="Times New Roman"/>
              </a:rPr>
              <a:t>crashes or invalid risks</a:t>
            </a:r>
          </a:p>
          <a:p>
            <a:pPr algn="ctr"/>
            <a:r>
              <a:rPr sz="1100" b="0" i="1">
                <a:solidFill>
                  <a:srgbClr val="111111"/>
                </a:solidFill>
                <a:latin typeface="Times New Roman"/>
              </a:rPr>
              <a:t>incl. missing oxygen sensor</a:t>
            </a:r>
          </a:p>
        </p:txBody>
      </p:sp>
      <p:sp>
        <p:nvSpPr>
          <p:cNvPr id="10" name="KPI risk vs real worsening"/>
          <p:cNvSpPr/>
          <p:nvPr/>
        </p:nvSpPr>
        <p:spPr>
          <a:xfrm>
            <a:off x="6163056"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0.73</a:t>
            </a:r>
          </a:p>
          <a:p>
            <a:pPr algn="ctr"/>
            <a:r>
              <a:rPr sz="1300" b="1" i="0">
                <a:solidFill>
                  <a:srgbClr val="111111"/>
                </a:solidFill>
                <a:latin typeface="Times New Roman"/>
              </a:rPr>
              <a:t>risk vs real worsening</a:t>
            </a:r>
          </a:p>
          <a:p>
            <a:pPr algn="ctr"/>
            <a:r>
              <a:rPr sz="1100" b="0" i="1">
                <a:solidFill>
                  <a:srgbClr val="111111"/>
                </a:solidFill>
                <a:latin typeface="Times New Roman"/>
              </a:rPr>
              <a:t>rank correlation</a:t>
            </a:r>
          </a:p>
        </p:txBody>
      </p:sp>
      <p:sp>
        <p:nvSpPr>
          <p:cNvPr id="10" name="KPI worse readings raise risk"/>
          <p:cNvSpPr/>
          <p:nvPr/>
        </p:nvSpPr>
        <p:spPr>
          <a:xfrm>
            <a:off x="8878824"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Pass</a:t>
            </a:r>
          </a:p>
          <a:p>
            <a:pPr algn="ctr"/>
            <a:r>
              <a:rPr sz="1300" b="1" i="0">
                <a:solidFill>
                  <a:srgbClr val="111111"/>
                </a:solidFill>
                <a:latin typeface="Times New Roman"/>
              </a:rPr>
              <a:t>worse readings raise risk</a:t>
            </a:r>
          </a:p>
          <a:p>
            <a:pPr algn="ctr"/>
            <a:r>
              <a:rPr sz="1100" b="0" i="1">
                <a:solidFill>
                  <a:srgbClr val="111111"/>
                </a:solidFill>
                <a:latin typeface="Times New Roman"/>
              </a:rPr>
              <a:t>8-case edge suite</a:t>
            </a:r>
          </a:p>
        </p:txBody>
      </p:sp>
      <p:sp>
        <p:nvSpPr>
          <p:cNvPr id="10" name="Tag: By sex and age group"/>
          <p:cNvSpPr/>
          <p:nvPr/>
        </p:nvSpPr>
        <p:spPr>
          <a:xfrm>
            <a:off x="731520" y="3108960"/>
            <a:ext cx="512064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By sex and age group</a:t>
            </a:r>
          </a:p>
        </p:txBody>
      </p:sp>
      <p:graphicFrame>
        <p:nvGraphicFramePr>
          <p:cNvPr id="11" name="Fairness table"/>
          <p:cNvGraphicFramePr>
            <a:graphicFrameLocks noGrp="1"/>
          </p:cNvGraphicFramePr>
          <p:nvPr/>
        </p:nvGraphicFramePr>
        <p:xfrm>
          <a:off x="731520" y="3584448"/>
          <a:ext cx="5120640" cy="2139696"/>
        </p:xfrm>
        <a:graphic>
          <a:graphicData uri="http://schemas.openxmlformats.org/drawingml/2006/table">
            <a:tbl>
              <a:tblPr>
                <a:tableStyleId>{5C22544A-7EE6-4342-B048-85BDC9FD1C3A}</a:tableStyleId>
              </a:tblPr>
              <a:tblGrid>
                <a:gridCol w="1463040"/>
                <a:gridCol w="1097280"/>
                <a:gridCol w="1280160"/>
                <a:gridCol w="1280160"/>
              </a:tblGrid>
              <a:tr h="237744">
                <a:tc>
                  <a:txBody>
                    <a:bodyPr wrap="square"/>
                    <a:lstStyle/>
                    <a:p>
                      <a:pPr algn="ctr"/>
                      <a:r>
                        <a:rPr sz="1050" b="1">
                          <a:solidFill>
                            <a:srgbClr val="111111"/>
                          </a:solidFill>
                          <a:latin typeface="Times New Roman"/>
                        </a:rPr>
                        <a:t>Group</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Patients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Median risk</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Alerted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237744">
                <a:tc>
                  <a:txBody>
                    <a:bodyPr wrap="square"/>
                    <a:lstStyle/>
                    <a:p>
                      <a:pPr algn="l"/>
                      <a:r>
                        <a:rPr sz="1000" b="0">
                          <a:solidFill>
                            <a:srgbClr val="111111"/>
                          </a:solidFill>
                          <a:latin typeface="Times New Roman"/>
                        </a:rPr>
                        <a:t>Female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44</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Male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31</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23%</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18-39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15.6%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50%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40-49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33%</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50-59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7</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60-69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11%</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70-79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18</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0.5%</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17%</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80+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0.8%</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34%</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Tag: What we learned"/>
          <p:cNvSpPr/>
          <p:nvPr/>
        </p:nvSpPr>
        <p:spPr>
          <a:xfrm>
            <a:off x="6035040" y="3108960"/>
            <a:ext cx="54406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we learned</a:t>
            </a:r>
          </a:p>
        </p:txBody>
      </p:sp>
      <p:sp>
        <p:nvSpPr>
          <p:cNvPr id="12" name="Learned panel"/>
          <p:cNvSpPr/>
          <p:nvPr/>
        </p:nvSpPr>
        <p:spPr>
          <a:xfrm>
            <a:off x="6035040" y="3584448"/>
            <a:ext cx="5440680" cy="2139696"/>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arned text"/>
          <p:cNvSpPr txBox="1"/>
          <p:nvPr/>
        </p:nvSpPr>
        <p:spPr>
          <a:xfrm>
            <a:off x="6108192" y="3639312"/>
            <a:ext cx="5303520" cy="2057400"/>
          </a:xfrm>
          <a:prstGeom prst="rect">
            <a:avLst/>
          </a:prstGeom>
          <a:noFill/>
        </p:spPr>
        <p:txBody>
          <a:bodyPr wrap="square" lIns="45720" rIns="45720">
            <a:spAutoFit/>
          </a:bodyPr>
          <a:lstStyle/>
          <a:p>
            <a:pPr>
              <a:spcAft>
                <a:spcPts val="500"/>
              </a:spcAft>
            </a:pPr>
            <a:r>
              <a:rPr b="1" sz="1150">
                <a:solidFill>
                  <a:srgbClr val="111111"/>
                </a:solidFill>
                <a:latin typeface="Times New Roman"/>
              </a:rPr>
              <a:t>Robust: </a:t>
            </a:r>
            <a:r>
              <a:rPr sz="1150">
                <a:solidFill>
                  <a:srgbClr val="111111"/>
                </a:solidFill>
                <a:latin typeface="Times New Roman"/>
              </a:rPr>
              <a:t>every real patient with 48 h of data was scored; no crash, no impossible risk.</a:t>
            </a:r>
          </a:p>
          <a:p>
            <a:pPr>
              <a:spcAft>
                <a:spcPts val="500"/>
              </a:spcAft>
            </a:pPr>
            <a:r>
              <a:rPr b="1" sz="1150">
                <a:solidFill>
                  <a:srgbClr val="111111"/>
                </a:solidFill>
                <a:latin typeface="Times New Roman"/>
              </a:rPr>
              <a:t>Right direction: </a:t>
            </a:r>
            <a:r>
              <a:rPr sz="1150">
                <a:solidFill>
                  <a:srgbClr val="111111"/>
                </a:solidFill>
                <a:latin typeface="Times New Roman"/>
              </a:rPr>
              <a:t>breathing up to 35/min gives High risk; all three signs worse gives 97%.</a:t>
            </a:r>
          </a:p>
          <a:p>
            <a:pPr>
              <a:spcAft>
                <a:spcPts val="500"/>
              </a:spcAft>
            </a:pPr>
            <a:r>
              <a:rPr b="1" sz="1150">
                <a:solidFill>
                  <a:srgbClr val="111111"/>
                </a:solidFill>
                <a:latin typeface="Times New Roman"/>
              </a:rPr>
              <a:t>Age and sex: </a:t>
            </a:r>
            <a:r>
              <a:rPr sz="1150">
                <a:solidFill>
                  <a:srgbClr val="111111"/>
                </a:solidFill>
                <a:latin typeface="Times New Roman"/>
              </a:rPr>
              <a:t>age 18 vs 90 and switching sex barely change risk; sex is not a model input.</a:t>
            </a:r>
          </a:p>
          <a:p>
            <a:pPr>
              <a:spcAft>
                <a:spcPts val="500"/>
              </a:spcAft>
            </a:pPr>
            <a:r>
              <a:rPr b="1" sz="1150">
                <a:solidFill>
                  <a:srgbClr val="111111"/>
                </a:solidFill>
                <a:latin typeface="Times New Roman"/>
              </a:rPr>
              <a:t>Fixed: </a:t>
            </a:r>
            <a:r>
              <a:rPr sz="1150">
                <a:solidFill>
                  <a:srgbClr val="111111"/>
                </a:solidFill>
                <a:latin typeface="Times New Roman"/>
              </a:rPr>
              <a:t>oxygen at 82% scored Low, so a safety override now makes any reading below 90% Urgent.</a:t>
            </a:r>
          </a:p>
          <a:p>
            <a:pPr>
              <a:spcAft>
                <a:spcPts val="500"/>
              </a:spcAft>
            </a:pPr>
            <a:r>
              <a:rPr b="1" sz="1150">
                <a:solidFill>
                  <a:srgbClr val="111111"/>
                </a:solidFill>
                <a:latin typeface="Times New Roman"/>
              </a:rPr>
              <a:t>Limits: </a:t>
            </a:r>
            <a:r>
              <a:rPr sz="1150">
                <a:solidFill>
                  <a:srgbClr val="111111"/>
                </a:solidFill>
                <a:latin typeface="Times New Roman"/>
              </a:rPr>
              <a:t>no link with later in-hospital death (AUROC 0.51); women alerted more at equal signs, but groups are 5 to 19 people.</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Real people, never used for training:</a:t>
            </a:r>
          </a:p>
          <a:p>
            <a:pPr algn="ctr"/>
            <a:r>
              <a:rPr sz="1500" b="0" i="1">
                <a:solidFill>
                  <a:srgbClr val="111111"/>
                </a:solidFill>
                <a:latin typeface="Times New Roman"/>
              </a:rPr>
              <a:t>MIMIC-III demo v1.4 (PhysioNet, ODbL). ICU patients are not a COPD home cohort: a stress test, not validation.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The doctor's dashboard: who to call today, and why</a:t>
            </a:r>
          </a:p>
        </p:txBody>
      </p:sp>
      <p:sp>
        <p:nvSpPr>
          <p:cNvPr id="10" name="Tag: Overview: all 400 patients"/>
          <p:cNvSpPr/>
          <p:nvPr/>
        </p:nvSpPr>
        <p:spPr>
          <a:xfrm>
            <a:off x="7315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Overview: all 420 patients</a:t>
            </a:r>
          </a:p>
        </p:txBody>
      </p:sp>
      <p:sp>
        <p:nvSpPr>
          <p:cNvPr id="11" name="Tag: One patient in detail"/>
          <p:cNvSpPr/>
          <p:nvPr/>
        </p:nvSpPr>
        <p:spPr>
          <a:xfrm>
            <a:off x="62179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 patient in detail</a:t>
            </a:r>
          </a:p>
        </p:txBody>
      </p:sp>
      <p:pic>
        <p:nvPicPr>
          <p:cNvPr id="12" name="Overview screenshot" descr="overview.png"/>
          <p:cNvPicPr>
            <a:picLocks noChangeAspect="1"/>
          </p:cNvPicPr>
          <p:nvPr/>
        </p:nvPicPr>
        <p:blipFill>
          <a:blip r:embed="rId4"/>
          <a:stretch>
            <a:fillRect/>
          </a:stretch>
        </p:blipFill>
        <p:spPr>
          <a:xfrm>
            <a:off x="731520" y="2566576"/>
            <a:ext cx="5257800" cy="2767263"/>
          </a:xfrm>
          <a:prstGeom prst="rect">
            <a:avLst/>
          </a:prstGeom>
          <a:ln w="9525">
            <a:solidFill>
              <a:srgbClr val="BFBFBF"/>
            </a:solidFill>
          </a:ln>
        </p:spPr>
      </p:pic>
      <p:pic>
        <p:nvPicPr>
          <p:cNvPr id="13" name="Patient screenshot" descr="patient.png"/>
          <p:cNvPicPr>
            <a:picLocks noChangeAspect="1"/>
          </p:cNvPicPr>
          <p:nvPr/>
        </p:nvPicPr>
        <p:blipFill>
          <a:blip r:embed="rId5"/>
          <a:stretch>
            <a:fillRect/>
          </a:stretch>
        </p:blipFill>
        <p:spPr>
          <a:xfrm>
            <a:off x="6217920" y="2821779"/>
            <a:ext cx="5257800" cy="2256856"/>
          </a:xfrm>
          <a:prstGeom prst="rect">
            <a:avLst/>
          </a:prstGeom>
          <a:ln w="9525">
            <a:solidFill>
              <a:srgbClr val="BFBFBF"/>
            </a:solidFill>
          </a:ln>
        </p:spPr>
      </p:pic>
      <p:sp>
        <p:nvSpPr>
          <p:cNvPr id="14" name="Overview notes box"/>
          <p:cNvSpPr/>
          <p:nvPr/>
        </p:nvSpPr>
        <p:spPr>
          <a:xfrm>
            <a:off x="7315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1" i="0">
                <a:solidFill>
                  <a:srgbClr val="111111"/>
                </a:solidFill>
                <a:latin typeface="Times New Roman"/>
              </a:rPr>
              <a:t>Call these patients today</a:t>
            </a:r>
            <a:r>
              <a:rPr sz="1200" b="0" i="0">
                <a:solidFill>
                  <a:srgbClr val="111111"/>
                </a:solidFill>
                <a:latin typeface="Times New Roman"/>
              </a:rPr>
              <a:t>: ranked by risk, with the main reason and key record facts</a:t>
            </a:r>
          </a:p>
          <a:p>
            <a:pPr algn="l" marL="164592" indent="-164592">
              <a:spcAft>
                <a:spcPts val="200"/>
              </a:spcAft>
              <a:buChar char="•"/>
            </a:pPr>
            <a:r>
              <a:rPr sz="1200" b="0" i="0">
                <a:solidFill>
                  <a:srgbClr val="111111"/>
                </a:solidFill>
                <a:latin typeface="Times New Roman"/>
              </a:rPr>
              <a:t>India map of risk and air; filter by age group; plain-language guide on every page</a:t>
            </a:r>
          </a:p>
        </p:txBody>
      </p:sp>
      <p:sp>
        <p:nvSpPr>
          <p:cNvPr id="16" name="Patient notes box"/>
          <p:cNvSpPr/>
          <p:nvPr/>
        </p:nvSpPr>
        <p:spPr>
          <a:xfrm>
            <a:off x="62179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Risk dial with the alert line and the change since yesterday</a:t>
            </a:r>
          </a:p>
          <a:p>
            <a:pPr algn="l" marL="164592" indent="-164592">
              <a:spcAft>
                <a:spcPts val="200"/>
              </a:spcAft>
              <a:buChar char="•"/>
            </a:pPr>
            <a:r>
              <a:rPr sz="1200" b="0" i="0">
                <a:solidFill>
                  <a:srgbClr val="111111"/>
                </a:solidFill>
                <a:latin typeface="Times New Roman"/>
              </a:rPr>
              <a:t>Today's readings vs </a:t>
            </a:r>
            <a:r>
              <a:rPr sz="1200" b="1" i="0">
                <a:solidFill>
                  <a:srgbClr val="111111"/>
                </a:solidFill>
                <a:latin typeface="Times New Roman"/>
              </a:rPr>
              <a:t>own normal</a:t>
            </a:r>
            <a:r>
              <a:rPr sz="1200" b="0" i="0">
                <a:solidFill>
                  <a:srgbClr val="111111"/>
                </a:solidFill>
                <a:latin typeface="Times New Roman"/>
              </a:rPr>
              <a:t>: red means worse than usual</a:t>
            </a:r>
          </a:p>
          <a:p>
            <a:pPr algn="l" marL="164592" indent="-164592">
              <a:spcAft>
                <a:spcPts val="200"/>
              </a:spcAft>
              <a:buChar char="•"/>
            </a:pPr>
            <a:r>
              <a:rPr sz="1200" b="1" i="0">
                <a:solidFill>
                  <a:srgbClr val="111111"/>
                </a:solidFill>
                <a:latin typeface="Times New Roman"/>
              </a:rPr>
              <a:t>What would lower the risk</a:t>
            </a:r>
            <a:r>
              <a:rPr sz="1200" b="0" i="0">
                <a:solidFill>
                  <a:srgbClr val="111111"/>
                </a:solidFill>
                <a:latin typeface="Times New Roman"/>
              </a:rPr>
              <a:t>: e.g. air purifier 49% → 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Health record in every view, and a lab to test advice before giving it</a:t>
            </a:r>
          </a:p>
        </p:txBody>
      </p:sp>
      <p:sp>
        <p:nvSpPr>
          <p:cNvPr id="10" name="Tag: Health Record (EHR)"/>
          <p:cNvSpPr/>
          <p:nvPr/>
        </p:nvSpPr>
        <p:spPr>
          <a:xfrm>
            <a:off x="731520" y="2011680"/>
            <a:ext cx="512064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Health Record (EHR)</a:t>
            </a:r>
          </a:p>
        </p:txBody>
      </p:sp>
      <p:pic>
        <p:nvPicPr>
          <p:cNvPr id="11" name="EHR screenshot" descr="ehr.png"/>
          <p:cNvPicPr>
            <a:picLocks noChangeAspect="1"/>
          </p:cNvPicPr>
          <p:nvPr/>
        </p:nvPicPr>
        <p:blipFill>
          <a:blip r:embed="rId4"/>
          <a:stretch>
            <a:fillRect/>
          </a:stretch>
        </p:blipFill>
        <p:spPr>
          <a:xfrm>
            <a:off x="731520" y="2594152"/>
            <a:ext cx="5120640" cy="1843430"/>
          </a:xfrm>
          <a:prstGeom prst="rect">
            <a:avLst/>
          </a:prstGeom>
          <a:ln w="9525">
            <a:solidFill>
              <a:srgbClr val="BFBFBF"/>
            </a:solidFill>
          </a:ln>
        </p:spPr>
      </p:pic>
      <p:sp>
        <p:nvSpPr>
          <p:cNvPr id="12" name="EHR notes box"/>
          <p:cNvSpPr/>
          <p:nvPr/>
        </p:nvSpPr>
        <p:spPr>
          <a:xfrm>
            <a:off x="731520" y="4800600"/>
            <a:ext cx="5120640" cy="1664208"/>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64608"/>
            <a:ext cx="4983480" cy="1572768"/>
          </a:xfrm>
          <a:prstGeom prst="rect">
            <a:avLst/>
          </a:prstGeom>
          <a:noFill/>
        </p:spPr>
        <p:txBody>
          <a:bodyPr wrap="square" anchor="t" lIns="54864" rIns="54864" tIns="27432" bIns="27432">
            <a:spAutoFit/>
          </a:bodyPr>
          <a:lstStyle/>
          <a:p>
            <a:pPr algn="l">
              <a:spcAft>
                <a:spcPts val="400"/>
              </a:spcAft>
              <a:buNone/>
            </a:pPr>
            <a:r>
              <a:rPr sz="1400" b="1" i="0">
                <a:solidFill>
                  <a:srgbClr val="111111"/>
                </a:solidFill>
                <a:latin typeface="Times New Roman"/>
              </a:rPr>
              <a:t>The fixed part of the twin</a:t>
            </a:r>
          </a:p>
          <a:p>
            <a:pPr algn="l" marL="164592" indent="-164592">
              <a:spcAft>
                <a:spcPts val="400"/>
              </a:spcAft>
              <a:buChar char="•"/>
            </a:pPr>
            <a:r>
              <a:rPr sz="1300" b="0" i="0">
                <a:solidFill>
                  <a:srgbClr val="111111"/>
                </a:solidFill>
                <a:latin typeface="Times New Roman"/>
              </a:rPr>
              <a:t>Diagnosis, risk factors, blood tests, other illnesses, medicines</a:t>
            </a:r>
          </a:p>
          <a:p>
            <a:pPr algn="l" marL="164592" indent="-164592">
              <a:spcAft>
                <a:spcPts val="400"/>
              </a:spcAft>
              <a:buChar char="•"/>
            </a:pPr>
            <a:r>
              <a:rPr sz="1300" b="0" i="0">
                <a:solidFill>
                  <a:srgbClr val="111111"/>
                </a:solidFill>
                <a:latin typeface="Times New Roman"/>
              </a:rPr>
              <a:t>Shows how much the record </a:t>
            </a:r>
            <a:r>
              <a:rPr sz="1300" b="1" i="0">
                <a:solidFill>
                  <a:srgbClr val="111111"/>
                </a:solidFill>
                <a:latin typeface="Times New Roman"/>
              </a:rPr>
              <a:t>raises or lowers</a:t>
            </a:r>
            <a:r>
              <a:rPr sz="1300" b="0" i="0">
                <a:solidFill>
                  <a:srgbClr val="111111"/>
                </a:solidFill>
                <a:latin typeface="Times New Roman"/>
              </a:rPr>
              <a:t> today's risk</a:t>
            </a:r>
          </a:p>
          <a:p>
            <a:pPr algn="l" marL="164592" indent="-164592">
              <a:spcAft>
                <a:spcPts val="400"/>
              </a:spcAft>
              <a:buChar char="•"/>
            </a:pPr>
            <a:r>
              <a:rPr sz="1300" b="0" i="0">
                <a:solidFill>
                  <a:srgbClr val="111111"/>
                </a:solidFill>
                <a:latin typeface="Times New Roman"/>
              </a:rPr>
              <a:t>Record facts also appear on the call list, what-if lab and new-person check</a:t>
            </a:r>
          </a:p>
        </p:txBody>
      </p:sp>
      <p:sp>
        <p:nvSpPr>
          <p:cNvPr id="14" name="Tag: What-if Lab"/>
          <p:cNvSpPr/>
          <p:nvPr/>
        </p:nvSpPr>
        <p:spPr>
          <a:xfrm>
            <a:off x="6080760" y="2011680"/>
            <a:ext cx="539496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What-if Lab</a:t>
            </a:r>
          </a:p>
        </p:txBody>
      </p:sp>
      <p:pic>
        <p:nvPicPr>
          <p:cNvPr id="15" name="What-if screenshot" descr="whatif.png"/>
          <p:cNvPicPr>
            <a:picLocks noChangeAspect="1"/>
          </p:cNvPicPr>
          <p:nvPr/>
        </p:nvPicPr>
        <p:blipFill>
          <a:blip r:embed="rId5"/>
          <a:stretch>
            <a:fillRect/>
          </a:stretch>
        </p:blipFill>
        <p:spPr>
          <a:xfrm>
            <a:off x="6520420" y="2487168"/>
            <a:ext cx="4515638" cy="3063239"/>
          </a:xfrm>
          <a:prstGeom prst="rect">
            <a:avLst/>
          </a:prstGeom>
          <a:ln w="9525">
            <a:solidFill>
              <a:srgbClr val="BFBFBF"/>
            </a:solidFill>
          </a:ln>
        </p:spPr>
      </p:pic>
      <p:sp>
        <p:nvSpPr>
          <p:cNvPr id="16" name="TextBox 15"/>
          <p:cNvSpPr txBox="1"/>
          <p:nvPr/>
        </p:nvSpPr>
        <p:spPr>
          <a:xfrm>
            <a:off x="6080760" y="5596128"/>
            <a:ext cx="5394960" cy="86868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One click scenarios: </a:t>
            </a:r>
            <a:r>
              <a:rPr sz="1200" b="1" i="0">
                <a:solidFill>
                  <a:srgbClr val="111111"/>
                </a:solidFill>
                <a:latin typeface="Times New Roman"/>
              </a:rPr>
              <a:t>smog week, cold snap, stopped inhaler, early warning signs, perfect week</a:t>
            </a:r>
          </a:p>
          <a:p>
            <a:pPr algn="l" marL="164592" indent="-164592">
              <a:spcAft>
                <a:spcPts val="200"/>
              </a:spcAft>
              <a:buChar char="•"/>
            </a:pPr>
            <a:r>
              <a:rPr sz="1200" b="0" i="0">
                <a:solidFill>
                  <a:srgbClr val="111111"/>
                </a:solidFill>
                <a:latin typeface="Times New Roman"/>
              </a:rPr>
              <a:t>Sliders for body signals, inhaler, air, weather and the record; risk re-scores instantly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Check a new person in minutes, and see every value the twin used</a:t>
            </a:r>
          </a:p>
        </p:txBody>
      </p:sp>
      <p:sp>
        <p:nvSpPr>
          <p:cNvPr id="10" name="Tag: Result for a new person with warning signs"/>
          <p:cNvSpPr/>
          <p:nvPr/>
        </p:nvSpPr>
        <p:spPr>
          <a:xfrm>
            <a:off x="731520" y="2011680"/>
            <a:ext cx="621792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Result for a new person with warning signs</a:t>
            </a:r>
          </a:p>
        </p:txBody>
      </p:sp>
      <p:pic>
        <p:nvPicPr>
          <p:cNvPr id="11" name="New person screenshot" descr="newperson.png"/>
          <p:cNvPicPr>
            <a:picLocks noChangeAspect="1"/>
          </p:cNvPicPr>
          <p:nvPr/>
        </p:nvPicPr>
        <p:blipFill>
          <a:blip r:embed="rId4"/>
          <a:stretch>
            <a:fillRect/>
          </a:stretch>
        </p:blipFill>
        <p:spPr>
          <a:xfrm>
            <a:off x="731520" y="2521784"/>
            <a:ext cx="6217920" cy="3908406"/>
          </a:xfrm>
          <a:prstGeom prst="rect">
            <a:avLst/>
          </a:prstGeom>
          <a:ln w="9525">
            <a:solidFill>
              <a:srgbClr val="BFBFBF"/>
            </a:solidFill>
          </a:ln>
        </p:spPr>
      </p:pic>
      <p:sp>
        <p:nvSpPr>
          <p:cNvPr id="12" name="Tag: How it works"/>
          <p:cNvSpPr/>
          <p:nvPr/>
        </p:nvSpPr>
        <p:spPr>
          <a:xfrm>
            <a:off x="7178040" y="2011680"/>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How it works</a:t>
            </a:r>
          </a:p>
        </p:txBody>
      </p:sp>
      <p:sp>
        <p:nvSpPr>
          <p:cNvPr id="13" name="Steps box"/>
          <p:cNvSpPr/>
          <p:nvPr/>
        </p:nvSpPr>
        <p:spPr>
          <a:xfrm>
            <a:off x="7178040" y="2487168"/>
            <a:ext cx="4297680" cy="1600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269480" y="2542032"/>
            <a:ext cx="4160520" cy="1508760"/>
          </a:xfrm>
          <a:prstGeom prst="rect">
            <a:avLst/>
          </a:prstGeom>
          <a:noFill/>
        </p:spPr>
        <p:txBody>
          <a:bodyPr wrap="square" anchor="t" lIns="54864" rIns="54864" tIns="27432" bIns="27432">
            <a:spAutoFit/>
          </a:bodyPr>
          <a:lstStyle/>
          <a:p>
            <a:pPr algn="l">
              <a:spcAft>
                <a:spcPts val="400"/>
              </a:spcAft>
              <a:buNone/>
            </a:pPr>
            <a:r>
              <a:rPr sz="1250" b="1" i="0">
                <a:solidFill>
                  <a:srgbClr val="111111"/>
                </a:solidFill>
                <a:latin typeface="Times New Roman"/>
              </a:rPr>
              <a:t>1.</a:t>
            </a:r>
            <a:r>
              <a:rPr sz="1250" b="0" i="0">
                <a:solidFill>
                  <a:srgbClr val="111111"/>
                </a:solidFill>
                <a:latin typeface="Times New Roman"/>
              </a:rPr>
              <a:t> Health record: age, severity, smoking, blood tests</a:t>
            </a:r>
          </a:p>
          <a:p>
            <a:pPr algn="l">
              <a:spcAft>
                <a:spcPts val="400"/>
              </a:spcAft>
              <a:buNone/>
            </a:pPr>
            <a:r>
              <a:rPr sz="1250" b="1" i="0">
                <a:solidFill>
                  <a:srgbClr val="111111"/>
                </a:solidFill>
                <a:latin typeface="Times New Roman"/>
              </a:rPr>
              <a:t>2.</a:t>
            </a:r>
            <a:r>
              <a:rPr sz="1250" b="0" i="0">
                <a:solidFill>
                  <a:srgbClr val="111111"/>
                </a:solidFill>
                <a:latin typeface="Times New Roman"/>
              </a:rPr>
              <a:t> Readings </a:t>
            </a:r>
            <a:r>
              <a:rPr sz="1250" b="1" i="0">
                <a:solidFill>
                  <a:srgbClr val="111111"/>
                </a:solidFill>
                <a:latin typeface="Times New Roman"/>
              </a:rPr>
              <a:t>usual</a:t>
            </a:r>
            <a:r>
              <a:rPr sz="1250" b="0" i="0">
                <a:solidFill>
                  <a:srgbClr val="111111"/>
                </a:solidFill>
                <a:latin typeface="Times New Roman"/>
              </a:rPr>
              <a:t> (a good day) and </a:t>
            </a:r>
            <a:r>
              <a:rPr sz="1250" b="1" i="0">
                <a:solidFill>
                  <a:srgbClr val="111111"/>
                </a:solidFill>
                <a:latin typeface="Times New Roman"/>
              </a:rPr>
              <a:t>now</a:t>
            </a:r>
            <a:r>
              <a:rPr sz="1250" b="0" i="0">
                <a:solidFill>
                  <a:srgbClr val="111111"/>
                </a:solidFill>
                <a:latin typeface="Times New Roman"/>
              </a:rPr>
              <a:t> (last 3 days)</a:t>
            </a:r>
          </a:p>
          <a:p>
            <a:pPr algn="l">
              <a:spcAft>
                <a:spcPts val="400"/>
              </a:spcAft>
              <a:buNone/>
            </a:pPr>
            <a:r>
              <a:rPr sz="1250" b="1" i="0">
                <a:solidFill>
                  <a:srgbClr val="111111"/>
                </a:solidFill>
                <a:latin typeface="Times New Roman"/>
              </a:rPr>
              <a:t>3.</a:t>
            </a:r>
            <a:r>
              <a:rPr sz="1250" b="0" i="0">
                <a:solidFill>
                  <a:srgbClr val="111111"/>
                </a:solidFill>
                <a:latin typeface="Times New Roman"/>
              </a:rPr>
              <a:t> Optional: today's PM2.5 from a CPCB or AQI app</a:t>
            </a:r>
          </a:p>
          <a:p>
            <a:pPr algn="l">
              <a:spcAft>
                <a:spcPts val="400"/>
              </a:spcAft>
              <a:buNone/>
            </a:pPr>
            <a:r>
              <a:rPr sz="1250" b="1" i="0">
                <a:solidFill>
                  <a:srgbClr val="111111"/>
                </a:solidFill>
                <a:latin typeface="Times New Roman"/>
              </a:rPr>
              <a:t>4.</a:t>
            </a:r>
            <a:r>
              <a:rPr sz="1250" b="0" i="0">
                <a:solidFill>
                  <a:srgbClr val="111111"/>
                </a:solidFill>
                <a:latin typeface="Times New Roman"/>
              </a:rPr>
              <a:t> Risk, reasons, safety checks and a table of every value used</a:t>
            </a:r>
          </a:p>
        </p:txBody>
      </p:sp>
      <p:sp>
        <p:nvSpPr>
          <p:cNvPr id="15" name="Tag: We tested it"/>
          <p:cNvSpPr/>
          <p:nvPr/>
        </p:nvSpPr>
        <p:spPr>
          <a:xfrm>
            <a:off x="7178040" y="4279392"/>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We tested it</a:t>
            </a:r>
          </a:p>
        </p:txBody>
      </p:sp>
      <p:graphicFrame>
        <p:nvGraphicFramePr>
          <p:cNvPr id="16" name="Tests table"/>
          <p:cNvGraphicFramePr>
            <a:graphicFrameLocks noGrp="1"/>
          </p:cNvGraphicFramePr>
          <p:nvPr/>
        </p:nvGraphicFramePr>
        <p:xfrm>
          <a:off x="7178040" y="4754880"/>
          <a:ext cx="4297680" cy="1682496"/>
        </p:xfrm>
        <a:graphic>
          <a:graphicData uri="http://schemas.openxmlformats.org/drawingml/2006/table">
            <a:tbl>
              <a:tblPr firstRow="0" bandRow="0">
                <a:tableStyleId>{5940675A-B579-460E-94D1-54222C63F5DA}</a:tableStyleId>
              </a:tblPr>
              <a:tblGrid>
                <a:gridCol w="2514600"/>
                <a:gridCol w="1783080"/>
              </a:tblGrid>
              <a:tr h="420624">
                <a:tc>
                  <a:txBody>
                    <a:bodyPr wrap="square"/>
                    <a:lstStyle/>
                    <a:p>
                      <a:pPr algn="ctr"/>
                      <a:r>
                        <a:rPr sz="1300" b="1" i="0">
                          <a:solidFill>
                            <a:srgbClr val="111111"/>
                          </a:solidFill>
                          <a:latin typeface="Times New Roman"/>
                        </a:rPr>
                        <a:t>Test case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300" b="1" i="0">
                          <a:solidFill>
                            <a:srgbClr val="111111"/>
                          </a:solidFill>
                          <a:latin typeface="Times New Roman"/>
                        </a:rPr>
                        <a:t>Result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Readings now = 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Low, about 0.3%</a:t>
                      </a:r>
                      <a:r>
                        <a:rPr sz="1200" b="0" i="0">
                          <a:solidFill>
                            <a:srgbClr val="111111"/>
                          </a:solidFill>
                          <a:latin typeface="Times New Roman"/>
                        </a:rPr>
                        <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Breathing 16→22, oxygen 95→91%, puffs 1→4</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High, about 99%</a:t>
                      </a:r>
                      <a:r>
                        <a:rPr sz="1200" b="0" i="0">
                          <a:solidFill>
                            <a:srgbClr val="111111"/>
                          </a:solidFill>
                          <a:latin typeface="Times New Roman"/>
                        </a:rPr>
                        <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Eosinophils 220 → 520 cells/µL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0" i="0">
                          <a:solidFill>
                            <a:srgbClr val="111111"/>
                          </a:solidFill>
                          <a:latin typeface="Times New Roman"/>
                        </a:rPr>
                        <a:t>Risk 0.26% → 0.33%</a:t>
                      </a:r>
                      <a:r>
                        <a:rPr sz="1200" b="1" i="0">
                          <a:solidFill>
                            <a:srgbClr val="111111"/>
                          </a:solidFill>
                          <a:latin typeface="Times New Roman"/>
                        </a:rPr>
                        <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From prediction to action: smog warnings and a visit summary</a:t>
            </a:r>
          </a:p>
        </p:txBody>
      </p:sp>
      <p:sp>
        <p:nvSpPr>
          <p:cNvPr id="10" name="Tag: Smog is Coming: next 3 days"/>
          <p:cNvSpPr/>
          <p:nvPr/>
        </p:nvSpPr>
        <p:spPr>
          <a:xfrm>
            <a:off x="731520" y="2011680"/>
            <a:ext cx="6400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Smog is Coming: next 3 days</a:t>
            </a:r>
          </a:p>
        </p:txBody>
      </p:sp>
      <p:pic>
        <p:nvPicPr>
          <p:cNvPr id="11" name="Smog screenshot" descr="smog.png"/>
          <p:cNvPicPr>
            <a:picLocks noChangeAspect="1"/>
          </p:cNvPicPr>
          <p:nvPr/>
        </p:nvPicPr>
        <p:blipFill>
          <a:blip r:embed="rId4"/>
          <a:stretch>
            <a:fillRect/>
          </a:stretch>
        </p:blipFill>
        <p:spPr>
          <a:xfrm>
            <a:off x="1058932" y="2487168"/>
            <a:ext cx="5745975" cy="2423160"/>
          </a:xfrm>
          <a:prstGeom prst="rect">
            <a:avLst/>
          </a:prstGeom>
          <a:ln w="9525">
            <a:solidFill>
              <a:srgbClr val="BFBFBF"/>
            </a:solidFill>
          </a:ln>
        </p:spPr>
      </p:pic>
      <p:sp>
        <p:nvSpPr>
          <p:cNvPr id="12" name="Smog notes box"/>
          <p:cNvSpPr/>
          <p:nvPr/>
        </p:nvSpPr>
        <p:spPr>
          <a:xfrm>
            <a:off x="731520" y="5074920"/>
            <a:ext cx="6400800" cy="13716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138928"/>
            <a:ext cx="6263640" cy="1280160"/>
          </a:xfrm>
          <a:prstGeom prst="rect">
            <a:avLst/>
          </a:prstGeom>
          <a:noFill/>
        </p:spPr>
        <p:txBody>
          <a:bodyPr wrap="square" anchor="t" lIns="54864" rIns="54864" tIns="27432" bIns="27432">
            <a:spAutoFit/>
          </a:bodyPr>
          <a:lstStyle/>
          <a:p>
            <a:pPr algn="l" marL="164592" indent="-164592">
              <a:spcAft>
                <a:spcPts val="500"/>
              </a:spcAft>
              <a:buChar char="•"/>
            </a:pPr>
            <a:r>
              <a:rPr sz="1300" b="0" i="0">
                <a:solidFill>
                  <a:srgbClr val="111111"/>
                </a:solidFill>
                <a:latin typeface="Times New Roman"/>
              </a:rPr>
              <a:t>Uses India's official </a:t>
            </a:r>
            <a:r>
              <a:rPr sz="1300" b="1" i="0">
                <a:solidFill>
                  <a:srgbClr val="111111"/>
                </a:solidFill>
                <a:latin typeface="Times New Roman"/>
              </a:rPr>
              <a:t>CPCB PM2.5 bands</a:t>
            </a:r>
            <a:r>
              <a:rPr sz="1300" b="0" i="0">
                <a:solidFill>
                  <a:srgbClr val="111111"/>
                </a:solidFill>
                <a:latin typeface="Times New Roman"/>
              </a:rPr>
              <a:t>; advice gets stronger as air gets worse</a:t>
            </a:r>
          </a:p>
          <a:p>
            <a:pPr algn="l" marL="164592" indent="-164592">
              <a:spcAft>
                <a:spcPts val="500"/>
              </a:spcAft>
              <a:buChar char="•"/>
            </a:pPr>
            <a:r>
              <a:rPr sz="1300" b="0" i="0">
                <a:solidFill>
                  <a:srgbClr val="111111"/>
                </a:solidFill>
                <a:latin typeface="Times New Roman"/>
              </a:rPr>
              <a:t>Also warns about </a:t>
            </a:r>
            <a:r>
              <a:rPr sz="1300" b="1" i="0">
                <a:solidFill>
                  <a:srgbClr val="111111"/>
                </a:solidFill>
                <a:latin typeface="Times New Roman"/>
              </a:rPr>
              <a:t>cold nights</a:t>
            </a:r>
            <a:r>
              <a:rPr sz="1300" b="0" i="0">
                <a:solidFill>
                  <a:srgbClr val="111111"/>
                </a:solidFill>
                <a:latin typeface="Times New Roman"/>
              </a:rPr>
              <a:t>; shows the extra flare-up risk from the published effect</a:t>
            </a:r>
          </a:p>
          <a:p>
            <a:pPr algn="l" marL="164592" indent="-164592">
              <a:spcAft>
                <a:spcPts val="500"/>
              </a:spcAft>
              <a:buChar char="•"/>
            </a:pPr>
            <a:r>
              <a:rPr sz="1300" b="0" i="1">
                <a:solidFill>
                  <a:srgbClr val="111111"/>
                </a:solidFill>
                <a:latin typeface="Times New Roman"/>
              </a:rPr>
              <a:t>Demo replays real 2019-20 data; a live version would use an air-quality forecast</a:t>
            </a:r>
          </a:p>
        </p:txBody>
      </p:sp>
      <p:sp>
        <p:nvSpPr>
          <p:cNvPr id="14" name="Tag: One-page Visit Summary"/>
          <p:cNvSpPr/>
          <p:nvPr/>
        </p:nvSpPr>
        <p:spPr>
          <a:xfrm>
            <a:off x="7360920" y="2011680"/>
            <a:ext cx="4114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One-page Visit Summary</a:t>
            </a:r>
          </a:p>
        </p:txBody>
      </p:sp>
      <p:pic>
        <p:nvPicPr>
          <p:cNvPr id="15" name="Visit summary image" descr="visit.png"/>
          <p:cNvPicPr>
            <a:picLocks noChangeAspect="1"/>
          </p:cNvPicPr>
          <p:nvPr/>
        </p:nvPicPr>
        <p:blipFill>
          <a:blip r:embed="rId5"/>
          <a:stretch>
            <a:fillRect/>
          </a:stretch>
        </p:blipFill>
        <p:spPr>
          <a:xfrm>
            <a:off x="7901266" y="2487168"/>
            <a:ext cx="3034106" cy="3977639"/>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Who it helps: doctors, health workers and families</a:t>
            </a:r>
          </a:p>
        </p:txBody>
      </p:sp>
      <p:sp>
        <p:nvSpPr>
          <p:cNvPr id="10" name="Tag: Value by Stakeholder"/>
          <p:cNvSpPr/>
          <p:nvPr/>
        </p:nvSpPr>
        <p:spPr>
          <a:xfrm>
            <a:off x="731520" y="2011680"/>
            <a:ext cx="66751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Value by Stakeholder</a:t>
            </a:r>
          </a:p>
        </p:txBody>
      </p:sp>
      <p:graphicFrame>
        <p:nvGraphicFramePr>
          <p:cNvPr id="11" name="Stakeholder table"/>
          <p:cNvGraphicFramePr>
            <a:graphicFrameLocks noGrp="1"/>
          </p:cNvGraphicFramePr>
          <p:nvPr/>
        </p:nvGraphicFramePr>
        <p:xfrm>
          <a:off x="731520" y="2542032"/>
          <a:ext cx="6675120" cy="2743200"/>
        </p:xfrm>
        <a:graphic>
          <a:graphicData uri="http://schemas.openxmlformats.org/drawingml/2006/table">
            <a:tbl>
              <a:tblPr firstRow="0" bandRow="0">
                <a:tableStyleId>{5940675A-B579-460E-94D1-54222C63F5DA}</a:tableStyleId>
              </a:tblPr>
              <a:tblGrid>
                <a:gridCol w="1600200"/>
                <a:gridCol w="2377440"/>
                <a:gridCol w="2697480"/>
              </a:tblGrid>
              <a:tr h="548640">
                <a:tc>
                  <a:txBody>
                    <a:bodyPr wrap="square"/>
                    <a:lstStyle/>
                    <a:p>
                      <a:pPr algn="ctr"/>
                      <a:r>
                        <a:rPr sz="1250" b="1" i="0">
                          <a:solidFill>
                            <a:srgbClr val="111111"/>
                          </a:solidFill>
                          <a:latin typeface="Times New Roman"/>
                        </a:rPr>
                        <a:t>Who</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With 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Doctor / clinic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Sees the patient only when they come in sick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ranked daily list of who to call, with reasons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Community health worker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by rota, not by need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the few patients at highest risk first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Patient and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Notice a flare-up when breathing is already bad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Early warning, smog advice, a summary to take to the doctor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Health system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Emergency visits in smog season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Aim: fewer emergency visits through early action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Why it fits India"/>
          <p:cNvSpPr/>
          <p:nvPr/>
        </p:nvSpPr>
        <p:spPr>
          <a:xfrm>
            <a:off x="7635240" y="2011680"/>
            <a:ext cx="38404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Why it fits India</a:t>
            </a:r>
          </a:p>
        </p:txBody>
      </p:sp>
      <p:sp>
        <p:nvSpPr>
          <p:cNvPr id="13" name="India box"/>
          <p:cNvSpPr/>
          <p:nvPr/>
        </p:nvSpPr>
        <p:spPr>
          <a:xfrm>
            <a:off x="7635240" y="2542032"/>
            <a:ext cx="3840480" cy="2743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26679" y="2606040"/>
            <a:ext cx="3703320" cy="2651760"/>
          </a:xfrm>
          <a:prstGeom prst="rect">
            <a:avLst/>
          </a:prstGeom>
          <a:noFill/>
        </p:spPr>
        <p:txBody>
          <a:bodyPr wrap="square" anchor="t" lIns="54864" rIns="54864" tIns="27432" bIns="27432">
            <a:spAutoFit/>
          </a:bodyPr>
          <a:lstStyle/>
          <a:p>
            <a:pPr algn="l" marL="164592" indent="-164592">
              <a:spcAft>
                <a:spcPts val="400"/>
              </a:spcAft>
              <a:buChar char="•"/>
            </a:pPr>
            <a:r>
              <a:rPr sz="1250" b="0" i="0">
                <a:solidFill>
                  <a:srgbClr val="111111"/>
                </a:solidFill>
                <a:latin typeface="Times New Roman"/>
              </a:rPr>
              <a:t>Built for </a:t>
            </a:r>
            <a:r>
              <a:rPr sz="1250" b="1" i="0">
                <a:solidFill>
                  <a:srgbClr val="111111"/>
                </a:solidFill>
                <a:latin typeface="Times New Roman"/>
              </a:rPr>
              <a:t>Indian triggers</a:t>
            </a:r>
            <a:r>
              <a:rPr sz="1250" b="0" i="0">
                <a:solidFill>
                  <a:srgbClr val="111111"/>
                </a:solidFill>
                <a:latin typeface="Times New Roman"/>
              </a:rPr>
              <a:t>: cooking smoke, bidis, winter smog</a:t>
            </a:r>
          </a:p>
          <a:p>
            <a:pPr algn="l" marL="164592" indent="-164592">
              <a:spcAft>
                <a:spcPts val="400"/>
              </a:spcAft>
              <a:buChar char="•"/>
            </a:pPr>
            <a:r>
              <a:rPr sz="1250" b="0" i="0">
                <a:solidFill>
                  <a:srgbClr val="111111"/>
                </a:solidFill>
                <a:latin typeface="Times New Roman"/>
              </a:rPr>
              <a:t>Covers </a:t>
            </a:r>
            <a:r>
              <a:rPr sz="1250" b="1" i="0">
                <a:solidFill>
                  <a:srgbClr val="111111"/>
                </a:solidFill>
                <a:latin typeface="Times New Roman"/>
              </a:rPr>
              <a:t>ages 22 to 92</a:t>
            </a:r>
            <a:r>
              <a:rPr sz="1250" b="0" i="0">
                <a:solidFill>
                  <a:srgbClr val="111111"/>
                </a:solidFill>
                <a:latin typeface="Times New Roman"/>
              </a:rPr>
              <a:t>, since COPD starts earlier in India</a:t>
            </a:r>
          </a:p>
          <a:p>
            <a:pPr algn="l" marL="164592" indent="-164592">
              <a:spcAft>
                <a:spcPts val="400"/>
              </a:spcAft>
              <a:buChar char="•"/>
            </a:pPr>
            <a:r>
              <a:rPr sz="1250" b="1" i="0">
                <a:solidFill>
                  <a:srgbClr val="111111"/>
                </a:solidFill>
                <a:latin typeface="Times New Roman"/>
              </a:rPr>
              <a:t>Plain language</a:t>
            </a:r>
            <a:r>
              <a:rPr sz="1250" b="0" i="0">
                <a:solidFill>
                  <a:srgbClr val="111111"/>
                </a:solidFill>
                <a:latin typeface="Times New Roman"/>
              </a:rPr>
              <a:t> on every page, with a glossary</a:t>
            </a:r>
          </a:p>
          <a:p>
            <a:pPr algn="l" marL="164592" indent="-164592">
              <a:spcAft>
                <a:spcPts val="400"/>
              </a:spcAft>
              <a:buChar char="•"/>
            </a:pPr>
            <a:r>
              <a:rPr sz="1250" b="1" i="0">
                <a:solidFill>
                  <a:srgbClr val="111111"/>
                </a:solidFill>
                <a:latin typeface="Times New Roman"/>
              </a:rPr>
              <a:t>Open source</a:t>
            </a:r>
            <a:r>
              <a:rPr sz="1250" b="0" i="0">
                <a:solidFill>
                  <a:srgbClr val="111111"/>
                </a:solidFill>
                <a:latin typeface="Times New Roman"/>
              </a:rPr>
              <a:t> and free to adapt</a:t>
            </a:r>
          </a:p>
          <a:p>
            <a:pPr algn="l" marL="164592" indent="-164592">
              <a:spcAft>
                <a:spcPts val="400"/>
              </a:spcAft>
              <a:buChar char="•"/>
            </a:pPr>
            <a:r>
              <a:rPr sz="1250" b="0" i="0">
                <a:solidFill>
                  <a:srgbClr val="111111"/>
                </a:solidFill>
                <a:latin typeface="Times New Roman"/>
              </a:rPr>
              <a:t>Planned: low-cost pulse oximeter + phone, Hindi</a:t>
            </a:r>
          </a:p>
        </p:txBody>
      </p:sp>
      <p:sp>
        <p:nvSpPr>
          <p:cNvPr id="15" name="TextBox 14"/>
          <p:cNvSpPr txBox="1"/>
          <p:nvPr/>
        </p:nvSpPr>
        <p:spPr>
          <a:xfrm>
            <a:off x="731520" y="5376672"/>
            <a:ext cx="27432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The care loop</a:t>
            </a:r>
          </a:p>
        </p:txBody>
      </p:sp>
      <p:sp>
        <p:nvSpPr>
          <p:cNvPr id="16" name="Step 1: Watch daily"/>
          <p:cNvSpPr/>
          <p:nvPr/>
        </p:nvSpPr>
        <p:spPr>
          <a:xfrm>
            <a:off x="731520" y="5715000"/>
            <a:ext cx="2236622" cy="73152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Watch daily</a:t>
            </a:r>
          </a:p>
        </p:txBody>
      </p:sp>
      <p:sp>
        <p:nvSpPr>
          <p:cNvPr id="17" name="Step 2: Warn early"/>
          <p:cNvSpPr/>
          <p:nvPr/>
        </p:nvSpPr>
        <p:spPr>
          <a:xfrm>
            <a:off x="2858414"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Warn early</a:t>
            </a:r>
          </a:p>
        </p:txBody>
      </p:sp>
      <p:sp>
        <p:nvSpPr>
          <p:cNvPr id="18" name="Step 3: Act at home"/>
          <p:cNvSpPr/>
          <p:nvPr/>
        </p:nvSpPr>
        <p:spPr>
          <a:xfrm>
            <a:off x="4985308"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 at home</a:t>
            </a:r>
          </a:p>
        </p:txBody>
      </p:sp>
      <p:sp>
        <p:nvSpPr>
          <p:cNvPr id="19" name="Step 4: Visit with summary"/>
          <p:cNvSpPr/>
          <p:nvPr/>
        </p:nvSpPr>
        <p:spPr>
          <a:xfrm>
            <a:off x="7112203"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Visit with summary</a:t>
            </a:r>
          </a:p>
        </p:txBody>
      </p:sp>
      <p:sp>
        <p:nvSpPr>
          <p:cNvPr id="20" name="Step 5: Learn and refine"/>
          <p:cNvSpPr/>
          <p:nvPr/>
        </p:nvSpPr>
        <p:spPr>
          <a:xfrm>
            <a:off x="9239097"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Learn and refine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Honest limits, and the road from prototype to real patients</a:t>
            </a:r>
          </a:p>
        </p:txBody>
      </p:sp>
      <p:sp>
        <p:nvSpPr>
          <p:cNvPr id="10" name="Tag: Limitations and How We Handle Them"/>
          <p:cNvSpPr/>
          <p:nvPr/>
        </p:nvSpPr>
        <p:spPr>
          <a:xfrm>
            <a:off x="731520" y="2011680"/>
            <a:ext cx="5760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Limitations and How We Handle Them</a:t>
            </a:r>
          </a:p>
        </p:txBody>
      </p:sp>
      <p:graphicFrame>
        <p:nvGraphicFramePr>
          <p:cNvPr id="11" name="Limits table"/>
          <p:cNvGraphicFramePr>
            <a:graphicFrameLocks noGrp="1"/>
          </p:cNvGraphicFramePr>
          <p:nvPr/>
        </p:nvGraphicFramePr>
        <p:xfrm>
          <a:off x="731520" y="2542032"/>
          <a:ext cx="5760720" cy="2852928"/>
        </p:xfrm>
        <a:graphic>
          <a:graphicData uri="http://schemas.openxmlformats.org/drawingml/2006/table">
            <a:tbl>
              <a:tblPr firstRow="0" bandRow="0">
                <a:tableStyleId>{5940675A-B579-460E-94D1-54222C63F5DA}</a:tableStyleId>
              </a:tblPr>
              <a:tblGrid>
                <a:gridCol w="2743200"/>
                <a:gridCol w="3017520"/>
              </a:tblGrid>
              <a:tr h="475488">
                <a:tc>
                  <a:txBody>
                    <a:bodyPr wrap="square"/>
                    <a:lstStyle/>
                    <a:p>
                      <a:pPr algn="ctr"/>
                      <a:r>
                        <a:rPr sz="1250" b="1" i="0">
                          <a:solidFill>
                            <a:srgbClr val="111111"/>
                          </a:solidFill>
                          <a:latin typeface="Times New Roman"/>
                        </a:rPr>
                        <a:t>Limitation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How we handle it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Patients, readings and flare-ups are simulated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Every effect sourced or labelled ASSUMPTION; real air and weather; stress-tested on 100 real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No India-specific PM2.5 effect for COPD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Use the global published figure; flag it clearly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Synthetic records differ from real ones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Checked against real MIMIC-IV patients; run on 100 real MIMIC-III patients; gaps reported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Demo replays past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Same rules plug into a live forecast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Needs a smartwatch or oximeter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Minimum kit is a watch + oximeter; no-watch kit uses typed readings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Roadmap"/>
          <p:cNvSpPr/>
          <p:nvPr/>
        </p:nvSpPr>
        <p:spPr>
          <a:xfrm>
            <a:off x="6720840" y="2011680"/>
            <a:ext cx="4754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Roadmap</a:t>
            </a:r>
          </a:p>
        </p:txBody>
      </p:sp>
      <p:sp>
        <p:nvSpPr>
          <p:cNvPr id="13" name="Phase 1: Validate"/>
          <p:cNvSpPr/>
          <p:nvPr/>
        </p:nvSpPr>
        <p:spPr>
          <a:xfrm>
            <a:off x="6720840" y="2542032"/>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1: Validate</a:t>
            </a:r>
          </a:p>
        </p:txBody>
      </p:sp>
      <p:sp>
        <p:nvSpPr>
          <p:cNvPr id="14" name="Phase 1: Validate details"/>
          <p:cNvSpPr/>
          <p:nvPr/>
        </p:nvSpPr>
        <p:spPr>
          <a:xfrm>
            <a:off x="8366760" y="2542032"/>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30768" y="2569463"/>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Partner hospital · test on real Indian COPD records · tune alert line</a:t>
            </a:r>
          </a:p>
        </p:txBody>
      </p:sp>
      <p:sp>
        <p:nvSpPr>
          <p:cNvPr id="16" name="Down arrow"/>
          <p:cNvSpPr/>
          <p:nvPr/>
        </p:nvSpPr>
        <p:spPr>
          <a:xfrm>
            <a:off x="7360920" y="3465576"/>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hase 2: Patient app"/>
          <p:cNvSpPr/>
          <p:nvPr/>
        </p:nvSpPr>
        <p:spPr>
          <a:xfrm>
            <a:off x="6720840" y="3611879"/>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2: Patient app</a:t>
            </a:r>
          </a:p>
        </p:txBody>
      </p:sp>
      <p:sp>
        <p:nvSpPr>
          <p:cNvPr id="18" name="Phase 2: Patient app details"/>
          <p:cNvSpPr/>
          <p:nvPr/>
        </p:nvSpPr>
        <p:spPr>
          <a:xfrm>
            <a:off x="8366760" y="3611879"/>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30768" y="3639311"/>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"My lungs today" · daily symptom check-in · SMS / WhatsApp alerts · Hindi</a:t>
            </a:r>
          </a:p>
        </p:txBody>
      </p:sp>
      <p:sp>
        <p:nvSpPr>
          <p:cNvPr id="20" name="Down arrow"/>
          <p:cNvSpPr/>
          <p:nvPr/>
        </p:nvSpPr>
        <p:spPr>
          <a:xfrm>
            <a:off x="7360920" y="4535424"/>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hase 3: Scale"/>
          <p:cNvSpPr/>
          <p:nvPr/>
        </p:nvSpPr>
        <p:spPr>
          <a:xfrm>
            <a:off x="6720840" y="4681727"/>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3: Scale</a:t>
            </a:r>
          </a:p>
        </p:txBody>
      </p:sp>
      <p:sp>
        <p:nvSpPr>
          <p:cNvPr id="22" name="Phase 3: Scale details"/>
          <p:cNvSpPr/>
          <p:nvPr/>
        </p:nvSpPr>
        <p:spPr>
          <a:xfrm>
            <a:off x="8366760" y="4681727"/>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30768" y="4709159"/>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Live air-quality forecasts · link to ABDM health records · health-worker rollout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Next step:</a:t>
            </a:r>
          </a:p>
          <a:p>
            <a:pPr algn="ctr"/>
            <a:r>
              <a:rPr sz="1500" b="0" i="1">
                <a:solidFill>
                  <a:srgbClr val="111111"/>
                </a:solidFill>
                <a:latin typeface="Times New Roman"/>
              </a:rPr>
              <a:t>Validate on real Indian COPD patients with a hospital partner before any clinical use.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hank you"/>
          <p:cNvSpPr txBox="1"/>
          <p:nvPr/>
        </p:nvSpPr>
        <p:spPr>
          <a:xfrm>
            <a:off x="2926080" y="2651760"/>
            <a:ext cx="6309360" cy="1097280"/>
          </a:xfrm>
          <a:prstGeom prst="rect">
            <a:avLst/>
          </a:prstGeom>
          <a:noFill/>
        </p:spPr>
        <p:txBody>
          <a:bodyPr wrap="square" anchor="ctr" lIns="54864" rIns="54864" tIns="27432" bIns="27432">
            <a:spAutoFit/>
          </a:bodyPr>
          <a:lstStyle/>
          <a:p>
            <a:pPr algn="ctr">
              <a:spcAft>
                <a:spcPts val="300"/>
              </a:spcAft>
              <a:buNone/>
            </a:pPr>
            <a:r>
              <a:rPr sz="6000" b="0" i="0">
                <a:solidFill>
                  <a:srgbClr val="111111"/>
                </a:solidFill>
                <a:latin typeface="Times New Roman"/>
              </a:rPr>
              <a:t>Thank You!</a:t>
            </a:r>
          </a:p>
        </p:txBody>
      </p:sp>
      <p:sp>
        <p:nvSpPr>
          <p:cNvPr id="9" name="Team"/>
          <p:cNvSpPr txBox="1"/>
          <p:nvPr/>
        </p:nvSpPr>
        <p:spPr>
          <a:xfrm>
            <a:off x="2926080" y="3749039"/>
            <a:ext cx="6309360" cy="73152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Anushka Tomar (Team leader) · Yash Saxena</a:t>
            </a:r>
          </a:p>
          <a:p>
            <a:pPr algn="ctr">
              <a:spcAft>
                <a:spcPts val="300"/>
              </a:spcAft>
              <a:buNone/>
            </a:pPr>
            <a:r>
              <a:rPr sz="1800" b="0" i="1">
                <a:solidFill>
                  <a:srgbClr val="111111"/>
                </a:solidFill>
                <a:latin typeface="Times New Roman"/>
              </a:rPr>
              <a:t>Team MOMENTUM · SDA Bocconi Asia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