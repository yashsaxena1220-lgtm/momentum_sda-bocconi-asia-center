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i="0">
                <a:solidFill>
                  <a:srgbClr val="111111"/>
                </a:solidFill>
                <a:latin typeface="Times New Roman"/>
              </a:rPr>
              <a:t>Average PM2.5, Mar 2019 to Feb 2020 (µg/m³)</a:t>
            </a:r>
          </a:p>
        </c:rich>
      </c:tx>
      <c:overlay val="0"/>
    </c:title>
    <c:autoTitleDeleted val="0"/>
    <c:plotArea>
      <c:layout/>
      <c:barChart>
        <c:barDir val="bar"/>
        <c:grouping val="clustered"/>
        <c:varyColors val="1"/>
        <c:ser>
          <c:idx val="0"/>
          <c:order val="0"/>
          <c:tx>
            <c:strRef>
              <c:f>Sheet1!$B$1</c:f>
              <c:strCache>
                <c:ptCount val="1"/>
                <c:pt idx="0">
                  <c:v>s</c:v>
                </c:pt>
              </c:strCache>
            </c:strRef>
          </c:tx>
          <c:spPr>
            <a:solidFill>
              <a:srgbClr val="2F5597"/>
            </a:solidFill>
          </c:spPr>
          <c:invertIfNegative val="1"/>
          <c:dPt>
            <c:idx val="0"/>
            <c:invertIfNegative val="1"/>
            <c:bubble3D val="0"/>
            <c:spPr>
              <a:solidFill>
                <a:srgbClr val="B23A2E"/>
              </a:solidFill>
            </c:spPr>
            <c:extLst>
              <c:ext xmlns:c16="http://schemas.microsoft.com/office/drawing/2014/chart" uri="{C3380CC4-5D6E-409C-BE32-E72D297353CC}">
                <c16:uniqueId val="{00000001-81F1-4D3B-B067-0AC36CE9F679}"/>
              </c:ext>
            </c:extLst>
          </c:dPt>
          <c:dPt>
            <c:idx val="1"/>
            <c:invertIfNegative val="1"/>
            <c:bubble3D val="0"/>
            <c:spPr>
              <a:solidFill>
                <a:srgbClr val="B23A2E"/>
              </a:solidFill>
            </c:spPr>
            <c:extLst>
              <c:ext xmlns:c16="http://schemas.microsoft.com/office/drawing/2014/chart" uri="{C3380CC4-5D6E-409C-BE32-E72D297353CC}">
                <c16:uniqueId val="{00000003-81F1-4D3B-B067-0AC36CE9F679}"/>
              </c:ext>
            </c:extLst>
          </c:dPt>
          <c:dPt>
            <c:idx val="2"/>
            <c:invertIfNegative val="1"/>
            <c:bubble3D val="0"/>
            <c:spPr>
              <a:solidFill>
                <a:srgbClr val="B23A2E"/>
              </a:solidFill>
            </c:spPr>
            <c:extLst>
              <c:ext xmlns:c16="http://schemas.microsoft.com/office/drawing/2014/chart" uri="{C3380CC4-5D6E-409C-BE32-E72D297353CC}">
                <c16:uniqueId val="{00000005-81F1-4D3B-B067-0AC36CE9F679}"/>
              </c:ext>
            </c:extLst>
          </c:dPt>
          <c:dLbls>
            <c:numFmt formatCode="0" sourceLinked="0"/>
            <c:spPr>
              <a:noFill/>
              <a:ln>
                <a:noFill/>
              </a:ln>
              <a:effectLst/>
            </c:spPr>
            <c:txPr>
              <a:bodyPr/>
              <a:lstStyle/>
              <a:p>
                <a:pPr>
                  <a:defRPr sz="1100" b="1">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Delhi</c:v>
                </c:pt>
                <c:pt idx="1">
                  <c:v>Lucknow</c:v>
                </c:pt>
                <c:pt idx="2">
                  <c:v>Patna</c:v>
                </c:pt>
                <c:pt idx="3">
                  <c:v>Kolkata</c:v>
                </c:pt>
                <c:pt idx="4">
                  <c:v>Chennai</c:v>
                </c:pt>
                <c:pt idx="5">
                  <c:v>Hyderabad</c:v>
                </c:pt>
                <c:pt idx="6">
                  <c:v>Mumbai</c:v>
                </c:pt>
                <c:pt idx="7">
                  <c:v>Bengaluru</c:v>
                </c:pt>
              </c:strCache>
            </c:strRef>
          </c:cat>
          <c:val>
            <c:numRef>
              <c:f>Sheet1!$B$2:$B$9</c:f>
              <c:numCache>
                <c:formatCode>General</c:formatCode>
                <c:ptCount val="8"/>
                <c:pt idx="0">
                  <c:v>104</c:v>
                </c:pt>
                <c:pt idx="1">
                  <c:v>94</c:v>
                </c:pt>
                <c:pt idx="2">
                  <c:v>88</c:v>
                </c:pt>
                <c:pt idx="3">
                  <c:v>56</c:v>
                </c:pt>
                <c:pt idx="4">
                  <c:v>41</c:v>
                </c:pt>
                <c:pt idx="5">
                  <c:v>39</c:v>
                </c:pt>
                <c:pt idx="6">
                  <c:v>36</c:v>
                </c:pt>
                <c:pt idx="7">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81F1-4D3B-B067-0AC36CE9F679}"/>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808080"/>
            </a:solidFill>
          </a:ln>
        </c:spPr>
        <c:txPr>
          <a:bodyPr/>
          <a:lstStyle/>
          <a:p>
            <a:pPr>
              <a:defRPr sz="1100">
                <a:latin typeface="Times New Roman"/>
              </a:defRPr>
            </a:pPr>
            <a:endParaRPr lang="en-US"/>
          </a:p>
        </c:txPr>
        <c:crossAx val="-2113994440"/>
        <c:crosses val="autoZero"/>
        <c:auto val="1"/>
        <c:lblAlgn val="ctr"/>
        <c:lblOffset val="100"/>
        <c:noMultiLvlLbl val="0"/>
      </c:catAx>
      <c:valAx>
        <c:axId val="-2113994440"/>
        <c:scaling>
          <c:orientation val="minMax"/>
          <c:max val="130"/>
          <c:min val="0"/>
        </c:scaling>
        <c:delete val="0"/>
        <c:axPos val="t"/>
        <c:majorGridlines>
          <c:spPr>
            <a:ln>
              <a:solidFill>
                <a:srgbClr val="D9D9D9"/>
              </a:solidFill>
            </a:ln>
          </c:spPr>
        </c:majorGridlines>
        <c:numFmt formatCode="General" sourceLinked="1"/>
        <c:majorTickMark val="out"/>
        <c:minorTickMark val="none"/>
        <c:tickLblPos val="nextTo"/>
        <c:spPr>
          <a:ln>
            <a:noFill/>
          </a:ln>
        </c:spPr>
        <c:txPr>
          <a:bodyPr/>
          <a:lstStyle/>
          <a:p>
            <a:pPr>
              <a:defRPr sz="1000">
                <a:latin typeface="Times New Roman"/>
              </a:defRPr>
            </a:pPr>
            <a:endParaRPr lang="en-US"/>
          </a:p>
        </c:txPr>
        <c:crossAx val="-2068027336"/>
        <c:crosses val="autoZero"/>
        <c:crossBetween val="between"/>
      </c:valAx>
    </c:plotArea>
    <c:plotVisOnly val="1"/>
    <c:dispBlanksAs val="gap"/>
    <c:showDLblsOverMax val="1"/>
  </c:chart>
  <c:txPr>
    <a:bodyPr/>
    <a:lstStyle/>
    <a:p>
      <a:pPr>
        <a:defRPr sz="1100">
          <a:solidFill>
            <a:srgbClr val="111111"/>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i="0">
                <a:solidFill>
                  <a:srgbClr val="111111"/>
                </a:solidFill>
                <a:latin typeface="Times New Roman"/>
              </a:rPr>
              <a:t>Patients by age group: every adult generation</a:t>
            </a:r>
          </a:p>
        </c:rich>
      </c:tx>
      <c:overlay val="0"/>
    </c:title>
    <c:autoTitleDeleted val="0"/>
    <c:plotArea>
      <c:layout/>
      <c:barChart>
        <c:barDir val="col"/>
        <c:grouping val="clustered"/>
        <c:varyColors val="1"/>
        <c:ser>
          <c:idx val="0"/>
          <c:order val="0"/>
          <c:tx>
            <c:strRef>
              <c:f>Sheet1!$B$1</c:f>
              <c:strCache>
                <c:ptCount val="1"/>
                <c:pt idx="0">
                  <c:v>s</c:v>
                </c:pt>
              </c:strCache>
            </c:strRef>
          </c:tx>
          <c:spPr>
            <a:solidFill>
              <a:srgbClr val="2F5597"/>
            </a:solidFill>
          </c:spPr>
          <c:invertIfNegative val="1"/>
          <c:dLbls>
            <c:numFmt formatCode="0" sourceLinked="0"/>
            <c:spPr>
              <a:noFill/>
              <a:ln>
                <a:noFill/>
              </a:ln>
              <a:effectLst/>
            </c:spPr>
            <c:txPr>
              <a:bodyPr/>
              <a:lstStyle/>
              <a:p>
                <a:pPr>
                  <a:defRPr sz="1100" b="1">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22-29</c:v>
                </c:pt>
                <c:pt idx="1">
                  <c:v>30-39</c:v>
                </c:pt>
                <c:pt idx="2">
                  <c:v>40-49</c:v>
                </c:pt>
                <c:pt idx="3">
                  <c:v>50-59</c:v>
                </c:pt>
                <c:pt idx="4">
                  <c:v>60-69</c:v>
                </c:pt>
                <c:pt idx="5">
                  <c:v>70-79</c:v>
                </c:pt>
                <c:pt idx="6">
                  <c:v>80+</c:v>
                </c:pt>
              </c:strCache>
            </c:strRef>
          </c:cat>
          <c:val>
            <c:numRef>
              <c:f>Sheet1!$B$2:$B$8</c:f>
              <c:numCache>
                <c:formatCode>General</c:formatCode>
                <c:ptCount val="7"/>
                <c:pt idx="0">
                  <c:v>20</c:v>
                </c:pt>
                <c:pt idx="1">
                  <c:v>40</c:v>
                </c:pt>
                <c:pt idx="2">
                  <c:v>49</c:v>
                </c:pt>
                <c:pt idx="3">
                  <c:v>62</c:v>
                </c:pt>
                <c:pt idx="4">
                  <c:v>67</c:v>
                </c:pt>
                <c:pt idx="5">
                  <c:v>79</c:v>
                </c:pt>
                <c:pt idx="6">
                  <c:v>103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3819-4667-98DF-5166282BEDD0}"/>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08080"/>
            </a:solidFill>
          </a:ln>
        </c:spPr>
        <c:txPr>
          <a:bodyPr/>
          <a:lstStyle/>
          <a:p>
            <a:pPr>
              <a:defRPr sz="1100">
                <a:latin typeface="Times New Roman"/>
              </a:defRPr>
            </a:pPr>
            <a:endParaRPr lang="en-US"/>
          </a:p>
        </c:txPr>
        <c:crossAx val="-2113994440"/>
        <c:crosses val="autoZero"/>
        <c:auto val="1"/>
        <c:lblAlgn val="ctr"/>
        <c:lblOffset val="100"/>
        <c:noMultiLvlLbl val="0"/>
      </c:catAx>
      <c:valAx>
        <c:axId val="-2113994440"/>
        <c:scaling>
          <c:orientation val="minMax"/>
          <c:max val="120"/>
          <c:min val="0"/>
        </c:scaling>
        <c:delete val="0"/>
        <c:axPos val="l"/>
        <c:majorGridlines>
          <c:spPr>
            <a:ln>
              <a:solidFill>
                <a:srgbClr val="D9D9D9"/>
              </a:solidFill>
            </a:ln>
          </c:spPr>
        </c:majorGridlines>
        <c:numFmt formatCode="General" sourceLinked="1"/>
        <c:majorTickMark val="out"/>
        <c:minorTickMark val="none"/>
        <c:tickLblPos val="nextTo"/>
        <c:spPr>
          <a:ln>
            <a:noFill/>
          </a:ln>
        </c:spPr>
        <c:txPr>
          <a:bodyPr/>
          <a:lstStyle/>
          <a:p>
            <a:pPr>
              <a:defRPr sz="1000">
                <a:latin typeface="Times New Roman"/>
              </a:defRPr>
            </a:pPr>
            <a:endParaRPr lang="en-US"/>
          </a:p>
        </c:txPr>
        <c:crossAx val="-2068027336"/>
        <c:crosses val="autoZero"/>
        <c:crossBetween val="between"/>
      </c:valAx>
    </c:plotArea>
    <c:plotVisOnly val="1"/>
    <c:dispBlanksAs val="gap"/>
    <c:showDLblsOverMax val="1"/>
  </c:chart>
  <c:txPr>
    <a:bodyPr/>
    <a:lstStyle/>
    <a:p>
      <a:pPr>
        <a:defRPr sz="1100">
          <a:solidFill>
            <a:srgbClr val="111111"/>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i="0">
                <a:solidFill>
                  <a:srgbClr val="111111"/>
                </a:solidFill>
                <a:latin typeface="Times New Roman"/>
              </a:rPr>
              <a:t>Prediction quality by data stream (AUROC)</a:t>
            </a:r>
          </a:p>
        </c:rich>
      </c:tx>
      <c:overlay val="0"/>
    </c:title>
    <c:autoTitleDeleted val="0"/>
    <c:plotArea>
      <c:layout/>
      <c:barChart>
        <c:barDir val="bar"/>
        <c:grouping val="clustered"/>
        <c:varyColors val="1"/>
        <c:ser>
          <c:idx val="0"/>
          <c:order val="0"/>
          <c:tx>
            <c:strRef>
              <c:f>Sheet1!$B$1</c:f>
              <c:strCache>
                <c:ptCount val="1"/>
                <c:pt idx="0">
                  <c:v>s</c:v>
                </c:pt>
              </c:strCache>
            </c:strRef>
          </c:tx>
          <c:spPr>
            <a:solidFill>
              <a:srgbClr val="9FB7C2"/>
            </a:solidFill>
          </c:spPr>
          <c:invertIfNegative val="1"/>
          <c:dPt>
            <c:idx val="4"/>
            <c:invertIfNegative val="1"/>
            <c:bubble3D val="0"/>
            <c:spPr>
              <a:solidFill>
                <a:srgbClr val="B23A2E"/>
              </a:solidFill>
            </c:spPr>
            <c:extLst>
              <c:ext xmlns:c16="http://schemas.microsoft.com/office/drawing/2014/chart" uri="{C3380CC4-5D6E-409C-BE32-E72D297353CC}">
                <c16:uniqueId val="{00000001-0840-4C7A-B0AD-97A00FB67C1A}"/>
              </c:ext>
            </c:extLst>
          </c:dPt>
          <c:dLbls>
            <c:numFmt formatCode="0.00" sourceLinked="0"/>
            <c:spPr>
              <a:noFill/>
              <a:ln>
                <a:noFill/>
              </a:ln>
              <a:effectLst/>
            </c:spPr>
            <c:txPr>
              <a:bodyPr/>
              <a:lstStyle/>
              <a:p>
                <a:pPr>
                  <a:defRPr sz="1100" b="1">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Record only</c:v>
                </c:pt>
                <c:pt idx="1">
                  <c:v>Air + weather only</c:v>
                </c:pt>
                <c:pt idx="2">
                  <c:v>Wearables only</c:v>
                </c:pt>
                <c:pt idx="3">
                  <c:v>Wearables + record</c:v>
                </c:pt>
                <c:pt idx="4">
                  <c:v>All three (twin)</c:v>
                </c:pt>
              </c:strCache>
            </c:strRef>
          </c:cat>
          <c:val>
            <c:numRef>
              <c:f>Sheet1!$B$2:$B$6</c:f>
              <c:numCache>
                <c:formatCode>General</c:formatCode>
                <c:ptCount val="5"/>
                <c:pt idx="0">
                  <c:v>0.593</c:v>
                </c:pt>
                <c:pt idx="1">
                  <c:v>0.566</c:v>
                </c:pt>
                <c:pt idx="2">
                  <c:v>0.818</c:v>
                </c:pt>
                <c:pt idx="3">
                  <c:v>0.818</c:v>
                </c:pt>
                <c:pt idx="4">
                  <c:v>0.815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0840-4C7A-B0AD-97A00FB67C1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808080"/>
            </a:solidFill>
          </a:ln>
        </c:spPr>
        <c:txPr>
          <a:bodyPr/>
          <a:lstStyle/>
          <a:p>
            <a:pPr>
              <a:defRPr sz="1100">
                <a:latin typeface="Times New Roman"/>
              </a:defRPr>
            </a:pPr>
            <a:endParaRPr lang="en-US"/>
          </a:p>
        </c:txPr>
        <c:crossAx val="-2113994440"/>
        <c:crosses val="autoZero"/>
        <c:auto val="1"/>
        <c:lblAlgn val="ctr"/>
        <c:lblOffset val="100"/>
        <c:noMultiLvlLbl val="0"/>
      </c:catAx>
      <c:valAx>
        <c:axId val="-2113994440"/>
        <c:scaling>
          <c:orientation val="minMax"/>
          <c:max val="1"/>
          <c:min val="0"/>
        </c:scaling>
        <c:delete val="0"/>
        <c:axPos val="t"/>
        <c:majorGridlines>
          <c:spPr>
            <a:ln>
              <a:solidFill>
                <a:srgbClr val="D9D9D9"/>
              </a:solidFill>
            </a:ln>
          </c:spPr>
        </c:majorGridlines>
        <c:numFmt formatCode="General" sourceLinked="1"/>
        <c:majorTickMark val="out"/>
        <c:minorTickMark val="none"/>
        <c:tickLblPos val="nextTo"/>
        <c:spPr>
          <a:ln>
            <a:noFill/>
          </a:ln>
        </c:spPr>
        <c:txPr>
          <a:bodyPr/>
          <a:lstStyle/>
          <a:p>
            <a:pPr>
              <a:defRPr sz="1000">
                <a:latin typeface="Times New Roman"/>
              </a:defRPr>
            </a:pPr>
            <a:endParaRPr lang="en-US"/>
          </a:p>
        </c:txPr>
        <c:crossAx val="-2068027336"/>
        <c:crosses val="autoZero"/>
        <c:crossBetween val="between"/>
      </c:valAx>
    </c:plotArea>
    <c:plotVisOnly val="1"/>
    <c:dispBlanksAs val="gap"/>
    <c:showDLblsOverMax val="1"/>
  </c:chart>
  <c:txPr>
    <a:bodyPr/>
    <a:lstStyle/>
    <a:p>
      <a:pPr>
        <a:defRPr sz="1100">
          <a:solidFill>
            <a:srgbClr val="111111"/>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i="0">
                <a:solidFill>
                  <a:srgbClr val="111111"/>
                </a:solidFill>
                <a:latin typeface="Times New Roman"/>
              </a:rPr>
              <a:t>Share of the twin's reasoning by factor (%)</a:t>
            </a:r>
          </a:p>
        </c:rich>
      </c:tx>
      <c:overlay val="0"/>
    </c:title>
    <c:autoTitleDeleted val="0"/>
    <c:plotArea>
      <c:layout/>
      <c:barChart>
        <c:barDir val="bar"/>
        <c:grouping val="clustered"/>
        <c:varyColors val="1"/>
        <c:ser>
          <c:idx val="0"/>
          <c:order val="0"/>
          <c:tx>
            <c:strRef>
              <c:f>Sheet1!$B$1</c:f>
              <c:strCache>
                <c:ptCount val="1"/>
                <c:pt idx="0">
                  <c:v>s</c:v>
                </c:pt>
              </c:strCache>
            </c:strRef>
          </c:tx>
          <c:spPr>
            <a:solidFill>
              <a:srgbClr val="2F5597"/>
            </a:solidFill>
          </c:spPr>
          <c:invertIfNegative val="1"/>
          <c:dLbls>
            <c:numFmt formatCode="0&quot;%&quot;" sourceLinked="0"/>
            <c:spPr>
              <a:noFill/>
              <a:ln>
                <a:noFill/>
              </a:ln>
              <a:effectLst/>
            </c:spPr>
            <c:txPr>
              <a:bodyPr/>
              <a:lstStyle/>
              <a:p>
                <a:pPr>
                  <a:defRPr sz="1100" b="1">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Health record</c:v>
                </c:pt>
                <c:pt idx="1">
                  <c:v>Breathing rate</c:v>
                </c:pt>
                <c:pt idx="2">
                  <c:v>Rescue inhaler use</c:v>
                </c:pt>
                <c:pt idx="3">
                  <c:v>Heart rate</c:v>
                </c:pt>
                <c:pt idx="4">
                  <c:v>Blood oxygen</c:v>
                </c:pt>
                <c:pt idx="5">
                  <c:v>Cold snap</c:v>
                </c:pt>
                <c:pt idx="6">
                  <c:v>Activity</c:v>
                </c:pt>
                <c:pt idx="7">
                  <c:v>Air pollution</c:v>
                </c:pt>
              </c:strCache>
            </c:strRef>
          </c:cat>
          <c:val>
            <c:numRef>
              <c:f>Sheet1!$B$2:$B$9</c:f>
              <c:numCache>
                <c:formatCode>General</c:formatCode>
                <c:ptCount val="8"/>
                <c:pt idx="0">
                  <c:v>39.5</c:v>
                </c:pt>
                <c:pt idx="1">
                  <c:v>12.5</c:v>
                </c:pt>
                <c:pt idx="2">
                  <c:v>10.7</c:v>
                </c:pt>
                <c:pt idx="3">
                  <c:v>9.8</c:v>
                </c:pt>
                <c:pt idx="4">
                  <c:v>9.3</c:v>
                </c:pt>
                <c:pt idx="5">
                  <c:v>7.6</c:v>
                </c:pt>
                <c:pt idx="6">
                  <c:v>3.9</c:v>
                </c:pt>
                <c:pt idx="7">
                  <c:v>2.3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C3F-4CF0-8F40-D30797845A85}"/>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808080"/>
            </a:solidFill>
          </a:ln>
        </c:spPr>
        <c:txPr>
          <a:bodyPr/>
          <a:lstStyle/>
          <a:p>
            <a:pPr>
              <a:defRPr sz="1100">
                <a:latin typeface="Times New Roman"/>
              </a:defRPr>
            </a:pPr>
            <a:endParaRPr lang="en-US"/>
          </a:p>
        </c:txPr>
        <c:crossAx val="-2113994440"/>
        <c:crosses val="autoZero"/>
        <c:auto val="1"/>
        <c:lblAlgn val="ctr"/>
        <c:lblOffset val="100"/>
        <c:noMultiLvlLbl val="0"/>
      </c:catAx>
      <c:valAx>
        <c:axId val="-2113994440"/>
        <c:scaling>
          <c:orientation val="minMax"/>
          <c:max val="40"/>
          <c:min val="0"/>
        </c:scaling>
        <c:delete val="0"/>
        <c:axPos val="t"/>
        <c:majorGridlines>
          <c:spPr>
            <a:ln>
              <a:solidFill>
                <a:srgbClr val="D9D9D9"/>
              </a:solidFill>
            </a:ln>
          </c:spPr>
        </c:majorGridlines>
        <c:numFmt formatCode="General" sourceLinked="1"/>
        <c:majorTickMark val="out"/>
        <c:minorTickMark val="none"/>
        <c:tickLblPos val="nextTo"/>
        <c:spPr>
          <a:ln>
            <a:noFill/>
          </a:ln>
        </c:spPr>
        <c:txPr>
          <a:bodyPr/>
          <a:lstStyle/>
          <a:p>
            <a:pPr>
              <a:defRPr sz="1000">
                <a:latin typeface="Times New Roman"/>
              </a:defRPr>
            </a:pPr>
            <a:endParaRPr lang="en-US"/>
          </a:p>
        </c:txPr>
        <c:crossAx val="-2068027336"/>
        <c:crosses val="autoZero"/>
        <c:crossBetween val="between"/>
      </c:valAx>
    </c:plotArea>
    <c:plotVisOnly val="1"/>
    <c:dispBlanksAs val="gap"/>
    <c:showDLblsOverMax val="1"/>
  </c:chart>
  <c:txPr>
    <a:bodyPr/>
    <a:lstStyle/>
    <a:p>
      <a:pPr>
        <a:defRPr sz="1100">
          <a:solidFill>
            <a:srgbClr val="111111"/>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78748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BreatheTwin is a digital twin of a COPD patient. It learns the patient's own normal, watches their city's air and weather, and warns 1 to 3 days before a likely flare-up.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problem: a huge COPD burden, flare-ups are the dangerous moments, the body warns days earlier, and India's winter air makes things worse. The chart uses real CPCB data from our replay year.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columns: what it is, the three data streams it fuses, what the doctor sees, and how it differs from usual care and generic wearables.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Each reading is compared with the patient's own last four weeks. A LightGBM model learns from body signals, inhaler use, weather and the record; air pollution uses a published dose-response. The twin then produces five outputs.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Air and weather are real. No open dataset of Indian COPD patients with wearables exists, so patients, watch readings and flare-ups are simulated from published studies. We also checked our record code on real MIMIC-IV demo patients.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LightGBM gradient-boosted trees, trained on 280 patients and tested on 120 it never saw. Safety rules stop nonsense answers. Explanations come from per-factor contributions (SHAP values).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AUROC 0.80 sits inside the published real-world range of 0.68 to 0.85. Body signals carry the 3-day warning; the record sets each person's starting risk. Measured on simulated patients.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Overview ranks all 400 patients by risk with the main reason and record facts. The patient page shows the risk dial, today's readings against the patient's own normal, safety checks and what would lower the risk.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health record has its own section and shows how much it raises or lowers risk. The what-if lab lets a doctor try a smog week, a cold snap, stopped inhaler, or record changes like eosinophils.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Enter the record, usual readings and readings now, and optionally today's PM2.5 from an AQI app. We tested it: same readings give low risk, warning signs give high risk, higher eosinophils raise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Smog and cold warnings for the next 3 days use India's CPCB bands and give plain advice. The one-page visit summary is what a family can print and take to the doctor.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twin, different views: a ranked list for doctors, a short call list for health workers, plain advice and a printable summary for families.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about what is simulated and assumed. The roadmap starts with validation on real Indian patients before anything else.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jpg"/><Relationship Id="rId4" Type="http://schemas.openxmlformats.org/officeDocument/2006/relationships/chart" Target="../charts/chart3.xml"/><Relationship Id="rId5"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jp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title.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itle card"/>
          <p:cNvSpPr/>
          <p:nvPr/>
        </p:nvSpPr>
        <p:spPr>
          <a:xfrm>
            <a:off x="3101187" y="1238798"/>
            <a:ext cx="5989320" cy="2772764"/>
          </a:xfrm>
          <a:prstGeom prst="rect">
            <a:avLst/>
          </a:prstGeom>
          <a:solidFill>
            <a:srgbClr val="3F6FD1"/>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dirty="0" err="1">
                <a:solidFill>
                  <a:srgbClr val="FFFFFF"/>
                </a:solidFill>
                <a:latin typeface="Times New Roman"/>
              </a:rPr>
              <a:t>BreatheTwin</a:t>
            </a:r>
            <a:endParaRPr sz="3000" b="1" i="0" dirty="0">
              <a:solidFill>
                <a:srgbClr val="FFFFFF"/>
              </a:solidFill>
              <a:latin typeface="Times New Roman"/>
            </a:endParaRPr>
          </a:p>
          <a:p>
            <a:pPr algn="ctr"/>
            <a:r>
              <a:rPr sz="2200" b="1" i="1" dirty="0">
                <a:solidFill>
                  <a:srgbClr val="FFFFFF"/>
                </a:solidFill>
                <a:latin typeface="Times New Roman"/>
              </a:rPr>
              <a:t>A COPD digital twin for India</a:t>
            </a:r>
          </a:p>
          <a:p>
            <a:pPr algn="ctr"/>
            <a:r>
              <a:rPr sz="1700" b="0" i="0" dirty="0">
                <a:solidFill>
                  <a:srgbClr val="FFFFFF"/>
                </a:solidFill>
                <a:latin typeface="Times New Roman"/>
              </a:rPr>
              <a:t>Warns 1 to 3 days before a flare-up, explains why, and shows what to do</a:t>
            </a:r>
          </a:p>
          <a:p>
            <a:pPr algn="ctr">
              <a:spcBef>
                <a:spcPts val="800"/>
              </a:spcBef>
            </a:pPr>
            <a:r>
              <a:rPr sz="1400" b="1" i="0" dirty="0">
                <a:solidFill>
                  <a:srgbClr val="FFFFFF"/>
                </a:solidFill>
                <a:latin typeface="Times New Roman"/>
              </a:rPr>
              <a:t>Team MOMENTUM · SDA Bocconi Asia Center, Mumbai</a:t>
            </a:r>
          </a:p>
          <a:p>
            <a:pPr algn="ctr"/>
            <a:r>
              <a:rPr sz="1300" b="0" i="1" dirty="0">
                <a:solidFill>
                  <a:srgbClr val="FFFFFF"/>
                </a:solidFill>
                <a:latin typeface="Times New Roman"/>
              </a:rPr>
              <a:t>Digital Twin Challenge 2026 · Happiest Health</a:t>
            </a:r>
          </a:p>
        </p:txBody>
      </p:sp>
      <p:sp>
        <p:nvSpPr>
          <p:cNvPr id="9" name="Rectangle 8">
            <a:extLst>
              <a:ext uri="{FF2B5EF4-FFF2-40B4-BE49-F238E27FC236}">
                <a16:creationId xmlns:a16="http://schemas.microsoft.com/office/drawing/2014/main" id="{08BAFD4F-5705-B38E-EE8D-5B9AE95786AB}"/>
              </a:ext>
            </a:extLst>
          </p:cNvPr>
          <p:cNvSpPr/>
          <p:nvPr/>
        </p:nvSpPr>
        <p:spPr>
          <a:xfrm>
            <a:off x="4665253" y="4208208"/>
            <a:ext cx="2861187" cy="144039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Name Anushka Tomar"/>
          <p:cNvSpPr txBox="1"/>
          <p:nvPr/>
        </p:nvSpPr>
        <p:spPr>
          <a:xfrm>
            <a:off x="4930724" y="4429459"/>
            <a:ext cx="2331720" cy="1440394"/>
          </a:xfrm>
          <a:prstGeom prst="rect">
            <a:avLst/>
          </a:prstGeom>
          <a:noFill/>
        </p:spPr>
        <p:txBody>
          <a:bodyPr wrap="square" lIns="54864" tIns="27432" rIns="54864" bIns="27432" anchor="t">
            <a:spAutoFit/>
          </a:bodyPr>
          <a:lstStyle/>
          <a:p>
            <a:pPr algn="ctr"/>
            <a:r>
              <a:rPr lang="en-IN" i="1" dirty="0">
                <a:ln w="0"/>
                <a:effectLst>
                  <a:outerShdw blurRad="38100" dist="19050" dir="2700000" algn="tl" rotWithShape="0">
                    <a:schemeClr val="dk1">
                      <a:alpha val="40000"/>
                    </a:schemeClr>
                  </a:outerShdw>
                </a:effectLst>
                <a:latin typeface="Times New Roman"/>
              </a:rPr>
              <a:t>Team Members -</a:t>
            </a:r>
            <a:br>
              <a:rPr lang="en-IN" sz="1800" i="0" dirty="0">
                <a:ln w="0"/>
                <a:effectLst>
                  <a:outerShdw blurRad="38100" dist="19050" dir="2700000" algn="tl" rotWithShape="0">
                    <a:schemeClr val="dk1">
                      <a:alpha val="40000"/>
                    </a:schemeClr>
                  </a:outerShdw>
                </a:effectLst>
                <a:latin typeface="Times New Roman"/>
              </a:rPr>
            </a:br>
            <a:r>
              <a:rPr sz="1800" i="0" dirty="0">
                <a:ln w="0"/>
                <a:effectLst>
                  <a:outerShdw blurRad="38100" dist="19050" dir="2700000" algn="tl" rotWithShape="0">
                    <a:schemeClr val="dk1">
                      <a:alpha val="40000"/>
                    </a:schemeClr>
                  </a:outerShdw>
                </a:effectLst>
                <a:latin typeface="Times New Roman"/>
              </a:rPr>
              <a:t>Anushka Tomar</a:t>
            </a:r>
            <a:br>
              <a:rPr lang="en-IN" dirty="0">
                <a:ln w="0"/>
                <a:effectLst>
                  <a:outerShdw blurRad="38100" dist="19050" dir="2700000" algn="tl" rotWithShape="0">
                    <a:schemeClr val="dk1">
                      <a:alpha val="40000"/>
                    </a:schemeClr>
                  </a:outerShdw>
                </a:effectLst>
                <a:latin typeface="Times New Roman"/>
              </a:rPr>
            </a:br>
            <a:r>
              <a:rPr lang="en-IN" dirty="0">
                <a:ln w="0"/>
                <a:effectLst>
                  <a:outerShdw blurRad="38100" dist="19050" dir="2700000" algn="tl" rotWithShape="0">
                    <a:schemeClr val="dk1">
                      <a:alpha val="40000"/>
                    </a:schemeClr>
                  </a:outerShdw>
                </a:effectLst>
                <a:latin typeface="Times New Roman"/>
              </a:rPr>
              <a:t>Yash Saxena</a:t>
            </a:r>
          </a:p>
          <a:p>
            <a:pPr algn="ctr">
              <a:spcAft>
                <a:spcPts val="0"/>
              </a:spcAft>
              <a:buNone/>
            </a:pPr>
            <a:endParaRPr sz="1800" i="0" dirty="0">
              <a:ln w="0"/>
              <a:effectLst>
                <a:outerShdw blurRad="38100" dist="19050" dir="2700000" algn="tl" rotWithShape="0">
                  <a:schemeClr val="dk1">
                    <a:alpha val="40000"/>
                  </a:schemeClr>
                </a:outerShdw>
              </a:effectLst>
              <a:latin typeface="Times New Roman"/>
            </a:endParaRPr>
          </a:p>
          <a:p>
            <a:pPr algn="ctr">
              <a:spcAft>
                <a:spcPts val="0"/>
              </a:spcAft>
              <a:buNone/>
            </a:pPr>
            <a:endParaRPr sz="1800" i="1" dirty="0">
              <a:ln w="0"/>
              <a:effectLst>
                <a:outerShdw blurRad="38100" dist="19050" dir="2700000" algn="tl" rotWithShape="0">
                  <a:schemeClr val="dk1">
                    <a:alpha val="40000"/>
                  </a:schemeClr>
                </a:outerShdw>
              </a:effectLst>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Flare-ups warn days ahead, yet India catches them too late</a:t>
            </a:r>
          </a:p>
        </p:txBody>
      </p:sp>
      <p:sp>
        <p:nvSpPr>
          <p:cNvPr id="10" name="Burden box"/>
          <p:cNvSpPr/>
          <p:nvPr/>
        </p:nvSpPr>
        <p:spPr>
          <a:xfrm>
            <a:off x="731520" y="2011680"/>
            <a:ext cx="3703320" cy="3730752"/>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Burden text"/>
          <p:cNvSpPr txBox="1"/>
          <p:nvPr/>
        </p:nvSpPr>
        <p:spPr>
          <a:xfrm>
            <a:off x="932688" y="2157984"/>
            <a:ext cx="3364992" cy="3566160"/>
          </a:xfrm>
          <a:prstGeom prst="rect">
            <a:avLst/>
          </a:prstGeom>
          <a:noFill/>
        </p:spPr>
        <p:txBody>
          <a:bodyPr wrap="square" lIns="54864" tIns="27432" rIns="54864" bIns="27432" anchor="t">
            <a:spAutoFit/>
          </a:bodyPr>
          <a:lstStyle/>
          <a:p>
            <a:pPr algn="l">
              <a:spcAft>
                <a:spcPts val="300"/>
              </a:spcAft>
              <a:buNone/>
            </a:pPr>
            <a:r>
              <a:rPr sz="1350" b="1" i="0">
                <a:solidFill>
                  <a:srgbClr val="111111"/>
                </a:solidFill>
                <a:latin typeface="Times New Roman"/>
              </a:rPr>
              <a:t>India's COPD burden is large</a:t>
            </a:r>
          </a:p>
          <a:p>
            <a:pPr marL="164592" indent="-164592" algn="l">
              <a:spcAft>
                <a:spcPts val="300"/>
              </a:spcAft>
              <a:buChar char="•"/>
            </a:pPr>
            <a:r>
              <a:rPr sz="1250" b="1" i="0">
                <a:solidFill>
                  <a:srgbClr val="111111"/>
                </a:solidFill>
                <a:latin typeface="Times New Roman"/>
              </a:rPr>
              <a:t>55 million</a:t>
            </a:r>
            <a:r>
              <a:rPr sz="1250" b="0" i="0">
                <a:solidFill>
                  <a:srgbClr val="111111"/>
                </a:solidFill>
                <a:latin typeface="Times New Roman"/>
              </a:rPr>
              <a:t> people in India lived with COPD in 2016 </a:t>
            </a:r>
            <a:r>
              <a:rPr sz="1250" b="0" i="1">
                <a:solidFill>
                  <a:srgbClr val="111111"/>
                </a:solidFill>
                <a:latin typeface="Times New Roman"/>
              </a:rPr>
              <a:t>(India State-Level Disease Burden Initiative, Lancet Global Health 2018)</a:t>
            </a:r>
          </a:p>
          <a:p>
            <a:pPr marL="164592" indent="-164592" algn="l">
              <a:spcAft>
                <a:spcPts val="300"/>
              </a:spcAft>
              <a:buChar char="•"/>
            </a:pPr>
            <a:r>
              <a:rPr sz="1250" b="0" i="0">
                <a:solidFill>
                  <a:srgbClr val="111111"/>
                </a:solidFill>
                <a:latin typeface="Times New Roman"/>
              </a:rPr>
              <a:t>Chronic respiratory disease caused </a:t>
            </a:r>
            <a:r>
              <a:rPr sz="1250" b="1" i="0">
                <a:solidFill>
                  <a:srgbClr val="111111"/>
                </a:solidFill>
                <a:latin typeface="Times New Roman"/>
              </a:rPr>
              <a:t>10.9%</a:t>
            </a:r>
            <a:r>
              <a:rPr sz="1250" b="0" i="0">
                <a:solidFill>
                  <a:srgbClr val="111111"/>
                </a:solidFill>
                <a:latin typeface="Times New Roman"/>
              </a:rPr>
              <a:t> of all deaths in India in 2016 </a:t>
            </a:r>
            <a:r>
              <a:rPr sz="1250" b="0" i="1">
                <a:solidFill>
                  <a:srgbClr val="111111"/>
                </a:solidFill>
                <a:latin typeface="Times New Roman"/>
              </a:rPr>
              <a:t>(same study)</a:t>
            </a:r>
          </a:p>
          <a:p>
            <a:pPr algn="l">
              <a:spcBef>
                <a:spcPts val="500"/>
              </a:spcBef>
              <a:spcAft>
                <a:spcPts val="300"/>
              </a:spcAft>
              <a:buNone/>
            </a:pPr>
            <a:r>
              <a:rPr sz="1350" b="1" i="0">
                <a:solidFill>
                  <a:srgbClr val="111111"/>
                </a:solidFill>
                <a:latin typeface="Times New Roman"/>
              </a:rPr>
              <a:t>Flare-ups are the dangerous moments</a:t>
            </a:r>
          </a:p>
          <a:p>
            <a:pPr marL="164592" indent="-164592" algn="l">
              <a:spcAft>
                <a:spcPts val="300"/>
              </a:spcAft>
              <a:buChar char="•"/>
            </a:pPr>
            <a:r>
              <a:rPr sz="1250" b="0" i="0">
                <a:solidFill>
                  <a:srgbClr val="111111"/>
                </a:solidFill>
                <a:latin typeface="Times New Roman"/>
              </a:rPr>
              <a:t>Patients have about </a:t>
            </a:r>
            <a:r>
              <a:rPr sz="1250" b="1" i="0">
                <a:solidFill>
                  <a:srgbClr val="111111"/>
                </a:solidFill>
                <a:latin typeface="Times New Roman"/>
              </a:rPr>
              <a:t>1 to 2 flare-ups a year</a:t>
            </a:r>
            <a:r>
              <a:rPr sz="1250" b="0" i="0">
                <a:solidFill>
                  <a:srgbClr val="111111"/>
                </a:solidFill>
                <a:latin typeface="Times New Roman"/>
              </a:rPr>
              <a:t>, more as COPD worsens </a:t>
            </a:r>
            <a:r>
              <a:rPr sz="1250" b="0" i="1">
                <a:solidFill>
                  <a:srgbClr val="111111"/>
                </a:solidFill>
                <a:latin typeface="Times New Roman"/>
              </a:rPr>
              <a:t>(ECLIPSE, NEJM 2010)</a:t>
            </a:r>
          </a:p>
          <a:p>
            <a:pPr marL="164592" indent="-164592" algn="l">
              <a:spcAft>
                <a:spcPts val="300"/>
              </a:spcAft>
              <a:buChar char="•"/>
            </a:pPr>
            <a:r>
              <a:rPr sz="1250" b="0" i="0">
                <a:solidFill>
                  <a:srgbClr val="111111"/>
                </a:solidFill>
                <a:latin typeface="Times New Roman"/>
              </a:rPr>
              <a:t>Warning signs start </a:t>
            </a:r>
            <a:r>
              <a:rPr sz="1250" b="1" i="0">
                <a:solidFill>
                  <a:srgbClr val="111111"/>
                </a:solidFill>
                <a:latin typeface="Times New Roman"/>
              </a:rPr>
              <a:t>5 to 7 days</a:t>
            </a:r>
            <a:r>
              <a:rPr sz="1250" b="0" i="0">
                <a:solidFill>
                  <a:srgbClr val="111111"/>
                </a:solidFill>
                <a:latin typeface="Times New Roman"/>
              </a:rPr>
              <a:t> earlier: breathing rises by </a:t>
            </a:r>
            <a:r>
              <a:rPr sz="1250" b="1" i="0">
                <a:solidFill>
                  <a:srgbClr val="111111"/>
                </a:solidFill>
                <a:latin typeface="Times New Roman"/>
              </a:rPr>
              <a:t>4.4 breaths/min</a:t>
            </a:r>
            <a:r>
              <a:rPr sz="1250" b="0" i="0">
                <a:solidFill>
                  <a:srgbClr val="111111"/>
                </a:solidFill>
                <a:latin typeface="Times New Roman"/>
              </a:rPr>
              <a:t> the day before </a:t>
            </a:r>
            <a:r>
              <a:rPr sz="1250" b="0" i="1">
                <a:solidFill>
                  <a:srgbClr val="111111"/>
                </a:solidFill>
                <a:latin typeface="Times New Roman"/>
              </a:rPr>
              <a:t>(Yañez 2012; Hurst 2010)</a:t>
            </a:r>
          </a:p>
          <a:p>
            <a:pPr marL="164592" indent="-164592" algn="l">
              <a:spcAft>
                <a:spcPts val="300"/>
              </a:spcAft>
              <a:buChar char="•"/>
            </a:pPr>
            <a:r>
              <a:rPr sz="1250" b="0" i="0">
                <a:solidFill>
                  <a:srgbClr val="111111"/>
                </a:solidFill>
                <a:latin typeface="Times New Roman"/>
              </a:rPr>
              <a:t>Today they are noticed only when the patient is already struggling</a:t>
            </a:r>
          </a:p>
        </p:txBody>
      </p:sp>
      <p:sp>
        <p:nvSpPr>
          <p:cNvPr id="12" name="Tag: The Care Gap"/>
          <p:cNvSpPr/>
          <p:nvPr/>
        </p:nvSpPr>
        <p:spPr>
          <a:xfrm>
            <a:off x="461772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The Care Gap</a:t>
            </a:r>
          </a:p>
        </p:txBody>
      </p:sp>
      <p:graphicFrame>
        <p:nvGraphicFramePr>
          <p:cNvPr id="13" name="Care gap table"/>
          <p:cNvGraphicFramePr>
            <a:graphicFrameLocks noGrp="1"/>
          </p:cNvGraphicFramePr>
          <p:nvPr/>
        </p:nvGraphicFramePr>
        <p:xfrm>
          <a:off x="4617720" y="2542032"/>
          <a:ext cx="3611880" cy="1969008"/>
        </p:xfrm>
        <a:graphic>
          <a:graphicData uri="http://schemas.openxmlformats.org/drawingml/2006/table">
            <a:tbl>
              <a:tblPr>
                <a:tableStyleId>{5940675A-B579-460E-94D1-54222C63F5DA}</a:tableStyleId>
              </a:tblPr>
              <a:tblGrid>
                <a:gridCol w="1691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384048">
                <a:tc>
                  <a:txBody>
                    <a:bodyPr/>
                    <a:lstStyle/>
                    <a:p>
                      <a:pPr algn="ctr"/>
                      <a:r>
                        <a:rPr sz="1250" b="1" i="0">
                          <a:solidFill>
                            <a:srgbClr val="111111"/>
                          </a:solidFill>
                          <a:latin typeface="Times New Roman"/>
                        </a:rPr>
                        <a:t>Care today</a:t>
                      </a:r>
                    </a:p>
                  </a:txBody>
                  <a:tcPr marL="54864" marR="54864" marT="22860" marB="22860" anchor="ctr">
                    <a:solidFill>
                      <a:srgbClr val="8EA9DB"/>
                    </a:solidFill>
                  </a:tcPr>
                </a:tc>
                <a:tc>
                  <a:txBody>
                    <a:bodyPr/>
                    <a:lstStyle/>
                    <a:p>
                      <a:pPr algn="ctr"/>
                      <a:r>
                        <a:rPr sz="1250" b="1" i="0">
                          <a:solidFill>
                            <a:srgbClr val="111111"/>
                          </a:solidFill>
                          <a:latin typeface="Times New Roman"/>
                        </a:rPr>
                        <a:t>What patients need</a:t>
                      </a:r>
                    </a:p>
                  </a:txBody>
                  <a:tcPr marL="54864" marR="54864" marT="22860" marB="22860" anchor="ctr">
                    <a:solidFill>
                      <a:srgbClr val="8EA9DB"/>
                    </a:solidFill>
                  </a:tcPr>
                </a:tc>
                <a:extLst>
                  <a:ext uri="{0D108BD9-81ED-4DB2-BD59-A6C34878D82A}">
                    <a16:rowId xmlns:a16="http://schemas.microsoft.com/office/drawing/2014/main" val="10000"/>
                  </a:ext>
                </a:extLst>
              </a:tr>
              <a:tr h="384048">
                <a:tc>
                  <a:txBody>
                    <a:bodyPr/>
                    <a:lstStyle/>
                    <a:p>
                      <a:pPr algn="l"/>
                      <a:r>
                        <a:rPr sz="1150" b="0" i="0">
                          <a:solidFill>
                            <a:srgbClr val="111111"/>
                          </a:solidFill>
                          <a:latin typeface="Times New Roman"/>
                        </a:rPr>
                        <a:t>Check-ups every few months</a:t>
                      </a:r>
                    </a:p>
                  </a:txBody>
                  <a:tcPr marL="54864" marR="54864" marT="22860" marB="22860" anchor="ctr">
                    <a:solidFill>
                      <a:srgbClr val="FFFFFF"/>
                    </a:solidFill>
                  </a:tcPr>
                </a:tc>
                <a:tc>
                  <a:txBody>
                    <a:bodyPr/>
                    <a:lstStyle/>
                    <a:p>
                      <a:pPr algn="l"/>
                      <a:r>
                        <a:rPr sz="1150" b="0" i="0">
                          <a:solidFill>
                            <a:srgbClr val="111111"/>
                          </a:solidFill>
                          <a:latin typeface="Times New Roman"/>
                        </a:rPr>
                        <a:t>A daily watch against their own normal</a:t>
                      </a:r>
                    </a:p>
                  </a:txBody>
                  <a:tcPr marL="54864" marR="54864" marT="22860" marB="22860" anchor="ctr">
                    <a:solidFill>
                      <a:srgbClr val="FFFFFF"/>
                    </a:solidFill>
                  </a:tcPr>
                </a:tc>
                <a:extLst>
                  <a:ext uri="{0D108BD9-81ED-4DB2-BD59-A6C34878D82A}">
                    <a16:rowId xmlns:a16="http://schemas.microsoft.com/office/drawing/2014/main" val="10001"/>
                  </a:ext>
                </a:extLst>
              </a:tr>
              <a:tr h="384048">
                <a:tc>
                  <a:txBody>
                    <a:bodyPr/>
                    <a:lstStyle/>
                    <a:p>
                      <a:pPr algn="l"/>
                      <a:r>
                        <a:rPr sz="1150" b="0" i="0">
                          <a:solidFill>
                            <a:srgbClr val="111111"/>
                          </a:solidFill>
                          <a:latin typeface="Times New Roman"/>
                        </a:rPr>
                        <a:t>Acts after symptoms appear</a:t>
                      </a:r>
                    </a:p>
                  </a:txBody>
                  <a:tcPr marL="54864" marR="54864" marT="22860" marB="22860" anchor="ctr">
                    <a:solidFill>
                      <a:srgbClr val="FFFFFF"/>
                    </a:solidFill>
                  </a:tcPr>
                </a:tc>
                <a:tc>
                  <a:txBody>
                    <a:bodyPr/>
                    <a:lstStyle/>
                    <a:p>
                      <a:pPr algn="l"/>
                      <a:r>
                        <a:rPr sz="1150" b="0" i="0">
                          <a:solidFill>
                            <a:srgbClr val="111111"/>
                          </a:solidFill>
                          <a:latin typeface="Times New Roman"/>
                        </a:rPr>
                        <a:t>A warning 1 to 3 days ahead</a:t>
                      </a:r>
                    </a:p>
                  </a:txBody>
                  <a:tcPr marL="54864" marR="54864" marT="22860" marB="22860" anchor="ctr">
                    <a:solidFill>
                      <a:srgbClr val="FFFFFF"/>
                    </a:solidFill>
                  </a:tcPr>
                </a:tc>
                <a:extLst>
                  <a:ext uri="{0D108BD9-81ED-4DB2-BD59-A6C34878D82A}">
                    <a16:rowId xmlns:a16="http://schemas.microsoft.com/office/drawing/2014/main" val="10002"/>
                  </a:ext>
                </a:extLst>
              </a:tr>
              <a:tr h="384048">
                <a:tc>
                  <a:txBody>
                    <a:bodyPr/>
                    <a:lstStyle/>
                    <a:p>
                      <a:pPr algn="l"/>
                      <a:r>
                        <a:rPr sz="1150" b="0" i="0">
                          <a:solidFill>
                            <a:srgbClr val="111111"/>
                          </a:solidFill>
                          <a:latin typeface="Times New Roman"/>
                        </a:rPr>
                        <a:t>Same alarm limits for everyone</a:t>
                      </a:r>
                    </a:p>
                  </a:txBody>
                  <a:tcPr marL="54864" marR="54864" marT="22860" marB="22860" anchor="ctr">
                    <a:solidFill>
                      <a:srgbClr val="FFFFFF"/>
                    </a:solidFill>
                  </a:tcPr>
                </a:tc>
                <a:tc>
                  <a:txBody>
                    <a:bodyPr/>
                    <a:lstStyle/>
                    <a:p>
                      <a:pPr algn="l"/>
                      <a:r>
                        <a:rPr sz="1150" b="0" i="0">
                          <a:solidFill>
                            <a:srgbClr val="111111"/>
                          </a:solidFill>
                          <a:latin typeface="Times New Roman"/>
                        </a:rPr>
                        <a:t>Limits personal to each patient</a:t>
                      </a:r>
                    </a:p>
                  </a:txBody>
                  <a:tcPr marL="54864" marR="54864" marT="22860" marB="22860" anchor="ctr">
                    <a:solidFill>
                      <a:srgbClr val="FFFFFF"/>
                    </a:solidFill>
                  </a:tcPr>
                </a:tc>
                <a:extLst>
                  <a:ext uri="{0D108BD9-81ED-4DB2-BD59-A6C34878D82A}">
                    <a16:rowId xmlns:a16="http://schemas.microsoft.com/office/drawing/2014/main" val="10003"/>
                  </a:ext>
                </a:extLst>
              </a:tr>
              <a:tr h="384048">
                <a:tc>
                  <a:txBody>
                    <a:bodyPr/>
                    <a:lstStyle/>
                    <a:p>
                      <a:pPr algn="l"/>
                      <a:r>
                        <a:rPr sz="1150" b="0" i="0">
                          <a:solidFill>
                            <a:srgbClr val="111111"/>
                          </a:solidFill>
                          <a:latin typeface="Times New Roman"/>
                        </a:rPr>
                        <a:t>Ignores city air and weather</a:t>
                      </a:r>
                    </a:p>
                  </a:txBody>
                  <a:tcPr marL="54864" marR="54864" marT="22860" marB="22860" anchor="ctr">
                    <a:solidFill>
                      <a:srgbClr val="FFFFFF"/>
                    </a:solidFill>
                  </a:tcPr>
                </a:tc>
                <a:tc>
                  <a:txBody>
                    <a:bodyPr/>
                    <a:lstStyle/>
                    <a:p>
                      <a:pPr algn="l"/>
                      <a:r>
                        <a:rPr sz="1150" b="0" i="0">
                          <a:solidFill>
                            <a:srgbClr val="111111"/>
                          </a:solidFill>
                          <a:latin typeface="Times New Roman"/>
                        </a:rPr>
                        <a:t>Record, body and air in one view</a:t>
                      </a:r>
                    </a:p>
                  </a:txBody>
                  <a:tcPr marL="54864" marR="54864" marT="22860" marB="22860" anchor="ctr">
                    <a:solidFill>
                      <a:srgbClr val="FFFFFF"/>
                    </a:solidFill>
                  </a:tcPr>
                </a:tc>
                <a:extLst>
                  <a:ext uri="{0D108BD9-81ED-4DB2-BD59-A6C34878D82A}">
                    <a16:rowId xmlns:a16="http://schemas.microsoft.com/office/drawing/2014/main" val="10004"/>
                  </a:ext>
                </a:extLst>
              </a:tr>
            </a:tbl>
          </a:graphicData>
        </a:graphic>
      </p:graphicFrame>
      <p:sp>
        <p:nvSpPr>
          <p:cNvPr id="14" name="Air box"/>
          <p:cNvSpPr/>
          <p:nvPr/>
        </p:nvSpPr>
        <p:spPr>
          <a:xfrm>
            <a:off x="4617720" y="4553712"/>
            <a:ext cx="3611880" cy="1188720"/>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Air text"/>
          <p:cNvSpPr txBox="1"/>
          <p:nvPr/>
        </p:nvSpPr>
        <p:spPr>
          <a:xfrm>
            <a:off x="4709160" y="4590288"/>
            <a:ext cx="3474720" cy="1143000"/>
          </a:xfrm>
          <a:prstGeom prst="rect">
            <a:avLst/>
          </a:prstGeom>
          <a:noFill/>
        </p:spPr>
        <p:txBody>
          <a:bodyPr wrap="square" lIns="54864" tIns="27432" rIns="54864" bIns="27432" anchor="t">
            <a:spAutoFit/>
          </a:bodyPr>
          <a:lstStyle/>
          <a:p>
            <a:pPr algn="l">
              <a:spcAft>
                <a:spcPts val="100"/>
              </a:spcAft>
              <a:buNone/>
            </a:pPr>
            <a:r>
              <a:rPr sz="1250" b="1" i="0">
                <a:solidFill>
                  <a:srgbClr val="111111"/>
                </a:solidFill>
                <a:latin typeface="Times New Roman"/>
              </a:rPr>
              <a:t>Air makes it worse </a:t>
            </a:r>
            <a:r>
              <a:rPr sz="1250" b="1" i="1">
                <a:solidFill>
                  <a:srgbClr val="111111"/>
                </a:solidFill>
                <a:latin typeface="Times New Roman"/>
              </a:rPr>
              <a:t>(real CPCB data, 2019-20)</a:t>
            </a:r>
          </a:p>
          <a:p>
            <a:pPr marL="164592" indent="-164592" algn="l">
              <a:spcAft>
                <a:spcPts val="100"/>
              </a:spcAft>
              <a:buChar char="•"/>
            </a:pPr>
            <a:r>
              <a:rPr sz="1150" b="0" i="0">
                <a:solidFill>
                  <a:srgbClr val="111111"/>
                </a:solidFill>
                <a:latin typeface="Times New Roman"/>
              </a:rPr>
              <a:t>Delhi PM2.5 averaged </a:t>
            </a:r>
            <a:r>
              <a:rPr sz="1150" b="1" i="0">
                <a:solidFill>
                  <a:srgbClr val="111111"/>
                </a:solidFill>
                <a:latin typeface="Times New Roman"/>
              </a:rPr>
              <a:t>104 µg/m³</a:t>
            </a:r>
            <a:r>
              <a:rPr sz="1150" b="0" i="0">
                <a:solidFill>
                  <a:srgbClr val="111111"/>
                </a:solidFill>
                <a:latin typeface="Times New Roman"/>
              </a:rPr>
              <a:t>, about </a:t>
            </a:r>
            <a:r>
              <a:rPr sz="1150" b="1" i="0">
                <a:solidFill>
                  <a:srgbClr val="111111"/>
                </a:solidFill>
                <a:latin typeface="Times New Roman"/>
              </a:rPr>
              <a:t>7×</a:t>
            </a:r>
            <a:r>
              <a:rPr sz="1150" b="0" i="0">
                <a:solidFill>
                  <a:srgbClr val="111111"/>
                </a:solidFill>
                <a:latin typeface="Times New Roman"/>
              </a:rPr>
              <a:t> the WHO daily safe level of 15</a:t>
            </a:r>
          </a:p>
          <a:p>
            <a:pPr marL="164592" indent="-164592" algn="l">
              <a:spcAft>
                <a:spcPts val="100"/>
              </a:spcAft>
              <a:buChar char="•"/>
            </a:pPr>
            <a:r>
              <a:rPr sz="1150" b="0" i="0">
                <a:solidFill>
                  <a:srgbClr val="111111"/>
                </a:solidFill>
                <a:latin typeface="Times New Roman"/>
              </a:rPr>
              <a:t>Winter air was </a:t>
            </a:r>
            <a:r>
              <a:rPr sz="1150" b="1" i="0">
                <a:solidFill>
                  <a:srgbClr val="111111"/>
                </a:solidFill>
                <a:latin typeface="Times New Roman"/>
              </a:rPr>
              <a:t>3× dirtier</a:t>
            </a:r>
            <a:r>
              <a:rPr sz="1150" b="0" i="0">
                <a:solidFill>
                  <a:srgbClr val="111111"/>
                </a:solidFill>
                <a:latin typeface="Times New Roman"/>
              </a:rPr>
              <a:t> than monsoon air (104 vs 32 µg/m³)</a:t>
            </a:r>
          </a:p>
        </p:txBody>
      </p:sp>
      <p:graphicFrame>
        <p:nvGraphicFramePr>
          <p:cNvPr id="16" name="City PM2.5 chart"/>
          <p:cNvGraphicFramePr>
            <a:graphicFrameLocks noGrp="1"/>
          </p:cNvGraphicFramePr>
          <p:nvPr/>
        </p:nvGraphicFramePr>
        <p:xfrm>
          <a:off x="8412480" y="2011680"/>
          <a:ext cx="3063240" cy="3730752"/>
        </p:xfrm>
        <a:graphic>
          <a:graphicData uri="http://schemas.openxmlformats.org/drawingml/2006/chart">
            <c:chart xmlns:c="http://schemas.openxmlformats.org/drawingml/2006/chart" xmlns:r="http://schemas.openxmlformats.org/officeDocument/2006/relationships" r:id="rId4"/>
          </a:graphicData>
        </a:graphic>
      </p:graphicFrame>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700" b="1" i="0">
                <a:solidFill>
                  <a:srgbClr val="111111"/>
                </a:solidFill>
                <a:latin typeface="Times New Roman"/>
              </a:rPr>
              <a:t>The opportunity:</a:t>
            </a:r>
          </a:p>
          <a:p>
            <a:pPr algn="ctr"/>
            <a:r>
              <a:rPr sz="1500" b="0" i="1">
                <a:solidFill>
                  <a:srgbClr val="111111"/>
                </a:solidFill>
                <a:latin typeface="Times New Roman"/>
              </a:rPr>
              <a:t>Use the days of warning the body already gives: a personal twin that spots a flare-up early, explains why, and tells families what to do.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BreatheTwin: a twin that warns 1 to 3 days before a flare-up</a:t>
            </a:r>
          </a:p>
        </p:txBody>
      </p:sp>
      <p:sp>
        <p:nvSpPr>
          <p:cNvPr id="10" name="Tag: Core Proposition"/>
          <p:cNvSpPr/>
          <p:nvPr/>
        </p:nvSpPr>
        <p:spPr>
          <a:xfrm>
            <a:off x="731520" y="2029968"/>
            <a:ext cx="237744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Core Proposition</a:t>
            </a:r>
          </a:p>
        </p:txBody>
      </p:sp>
      <p:sp>
        <p:nvSpPr>
          <p:cNvPr id="11" name="Tag: 3 Data Streams"/>
          <p:cNvSpPr/>
          <p:nvPr/>
        </p:nvSpPr>
        <p:spPr>
          <a:xfrm>
            <a:off x="3291840" y="2029968"/>
            <a:ext cx="28803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3 Data Streams</a:t>
            </a:r>
          </a:p>
        </p:txBody>
      </p:sp>
      <p:sp>
        <p:nvSpPr>
          <p:cNvPr id="12" name="Tag: Tech &amp; Experience"/>
          <p:cNvSpPr/>
          <p:nvPr/>
        </p:nvSpPr>
        <p:spPr>
          <a:xfrm>
            <a:off x="6355080" y="2029968"/>
            <a:ext cx="228600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Tech &amp; Experience</a:t>
            </a:r>
          </a:p>
        </p:txBody>
      </p:sp>
      <p:sp>
        <p:nvSpPr>
          <p:cNvPr id="13" name="Tag: Key Differentiator"/>
          <p:cNvSpPr/>
          <p:nvPr/>
        </p:nvSpPr>
        <p:spPr>
          <a:xfrm>
            <a:off x="8823960" y="2029968"/>
            <a:ext cx="26517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Key Differentiator</a:t>
            </a:r>
          </a:p>
        </p:txBody>
      </p:sp>
      <p:sp>
        <p:nvSpPr>
          <p:cNvPr id="14" name="Proposition box"/>
          <p:cNvSpPr/>
          <p:nvPr/>
        </p:nvSpPr>
        <p:spPr>
          <a:xfrm>
            <a:off x="731520" y="2606040"/>
            <a:ext cx="237744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Proposition text"/>
          <p:cNvSpPr txBox="1"/>
          <p:nvPr/>
        </p:nvSpPr>
        <p:spPr>
          <a:xfrm>
            <a:off x="822960" y="2697480"/>
            <a:ext cx="2240280" cy="3749039"/>
          </a:xfrm>
          <a:prstGeom prst="rect">
            <a:avLst/>
          </a:prstGeom>
          <a:noFill/>
        </p:spPr>
        <p:txBody>
          <a:bodyPr wrap="square" lIns="54864" tIns="27432" rIns="54864" bIns="27432" anchor="t">
            <a:spAutoFit/>
          </a:bodyPr>
          <a:lstStyle/>
          <a:p>
            <a:pPr algn="l">
              <a:spcAft>
                <a:spcPts val="500"/>
              </a:spcAft>
              <a:buNone/>
            </a:pPr>
            <a:r>
              <a:rPr sz="1500" b="1" i="0">
                <a:solidFill>
                  <a:srgbClr val="111111"/>
                </a:solidFill>
                <a:latin typeface="Times New Roman"/>
              </a:rPr>
              <a:t>A personal twin for every COPD patient that:</a:t>
            </a:r>
          </a:p>
          <a:p>
            <a:pPr marL="164592" indent="-164592" algn="l">
              <a:spcAft>
                <a:spcPts val="500"/>
              </a:spcAft>
              <a:buChar char="•"/>
            </a:pPr>
            <a:r>
              <a:rPr sz="1400" b="0" i="0">
                <a:solidFill>
                  <a:srgbClr val="111111"/>
                </a:solidFill>
                <a:latin typeface="Times New Roman"/>
              </a:rPr>
              <a:t>Learns each person's </a:t>
            </a:r>
            <a:r>
              <a:rPr sz="1400" b="1" i="0">
                <a:solidFill>
                  <a:srgbClr val="111111"/>
                </a:solidFill>
                <a:latin typeface="Times New Roman"/>
              </a:rPr>
              <a:t>own normal</a:t>
            </a:r>
          </a:p>
          <a:p>
            <a:pPr marL="164592" indent="-164592" algn="l">
              <a:spcAft>
                <a:spcPts val="500"/>
              </a:spcAft>
              <a:buChar char="•"/>
            </a:pPr>
            <a:r>
              <a:rPr sz="1400" b="0" i="0">
                <a:solidFill>
                  <a:srgbClr val="111111"/>
                </a:solidFill>
                <a:latin typeface="Times New Roman"/>
              </a:rPr>
              <a:t>Predicts a </a:t>
            </a:r>
            <a:r>
              <a:rPr sz="1400" b="1" i="0">
                <a:solidFill>
                  <a:srgbClr val="111111"/>
                </a:solidFill>
                <a:latin typeface="Times New Roman"/>
              </a:rPr>
              <a:t>flare-up 1 to 3 days ahead</a:t>
            </a:r>
          </a:p>
          <a:p>
            <a:pPr marL="164592" indent="-164592" algn="l">
              <a:spcAft>
                <a:spcPts val="500"/>
              </a:spcAft>
              <a:buChar char="•"/>
            </a:pPr>
            <a:r>
              <a:rPr sz="1400" b="1" i="0">
                <a:solidFill>
                  <a:srgbClr val="111111"/>
                </a:solidFill>
                <a:latin typeface="Times New Roman"/>
              </a:rPr>
              <a:t>Explains the reasons</a:t>
            </a:r>
            <a:r>
              <a:rPr sz="1400" b="0" i="0">
                <a:solidFill>
                  <a:srgbClr val="111111"/>
                </a:solidFill>
                <a:latin typeface="Times New Roman"/>
              </a:rPr>
              <a:t> in plain words</a:t>
            </a:r>
          </a:p>
          <a:p>
            <a:pPr marL="164592" indent="-164592" algn="l">
              <a:spcAft>
                <a:spcPts val="500"/>
              </a:spcAft>
              <a:buChar char="•"/>
            </a:pPr>
            <a:r>
              <a:rPr sz="1400" b="0" i="0">
                <a:solidFill>
                  <a:srgbClr val="111111"/>
                </a:solidFill>
                <a:latin typeface="Times New Roman"/>
              </a:rPr>
              <a:t>Shows what would </a:t>
            </a:r>
            <a:r>
              <a:rPr sz="1400" b="1" i="0">
                <a:solidFill>
                  <a:srgbClr val="111111"/>
                </a:solidFill>
                <a:latin typeface="Times New Roman"/>
              </a:rPr>
              <a:t>lower the risk</a:t>
            </a:r>
          </a:p>
          <a:p>
            <a:pPr marL="164592" indent="-164592" algn="l">
              <a:spcAft>
                <a:spcPts val="500"/>
              </a:spcAft>
              <a:buChar char="•"/>
            </a:pPr>
            <a:r>
              <a:rPr sz="1400" b="0" i="0">
                <a:solidFill>
                  <a:srgbClr val="111111"/>
                </a:solidFill>
                <a:latin typeface="Times New Roman"/>
              </a:rPr>
              <a:t>Gives families </a:t>
            </a:r>
            <a:r>
              <a:rPr sz="1400" b="1" i="0">
                <a:solidFill>
                  <a:srgbClr val="111111"/>
                </a:solidFill>
                <a:latin typeface="Times New Roman"/>
              </a:rPr>
              <a:t>smog warnings</a:t>
            </a:r>
            <a:r>
              <a:rPr sz="1400" b="0" i="0">
                <a:solidFill>
                  <a:srgbClr val="111111"/>
                </a:solidFill>
                <a:latin typeface="Times New Roman"/>
              </a:rPr>
              <a:t> and a </a:t>
            </a:r>
            <a:r>
              <a:rPr sz="1400" b="1" i="0">
                <a:solidFill>
                  <a:srgbClr val="111111"/>
                </a:solidFill>
                <a:latin typeface="Times New Roman"/>
              </a:rPr>
              <a:t>visit summary</a:t>
            </a:r>
            <a:r>
              <a:rPr sz="1400" b="0" i="0">
                <a:solidFill>
                  <a:srgbClr val="111111"/>
                </a:solidFill>
                <a:latin typeface="Times New Roman"/>
              </a:rPr>
              <a:t> for the doctor</a:t>
            </a:r>
          </a:p>
        </p:txBody>
      </p:sp>
      <p:graphicFrame>
        <p:nvGraphicFramePr>
          <p:cNvPr id="16" name="Streams table"/>
          <p:cNvGraphicFramePr>
            <a:graphicFrameLocks noGrp="1"/>
          </p:cNvGraphicFramePr>
          <p:nvPr/>
        </p:nvGraphicFramePr>
        <p:xfrm>
          <a:off x="3291840" y="2606040"/>
          <a:ext cx="2880360" cy="3291840"/>
        </p:xfrm>
        <a:graphic>
          <a:graphicData uri="http://schemas.openxmlformats.org/drawingml/2006/table">
            <a:tbl>
              <a:tblPr>
                <a:tableStyleId>{5940675A-B579-460E-94D1-54222C63F5DA}</a:tableStyleId>
              </a:tblPr>
              <a:tblGrid>
                <a:gridCol w="10515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822960">
                <a:tc>
                  <a:txBody>
                    <a:bodyPr/>
                    <a:lstStyle/>
                    <a:p>
                      <a:pPr algn="ctr"/>
                      <a:r>
                        <a:rPr sz="1250" b="1" i="0">
                          <a:solidFill>
                            <a:srgbClr val="111111"/>
                          </a:solidFill>
                          <a:latin typeface="Times New Roman"/>
                        </a:rPr>
                        <a:t>Stream</a:t>
                      </a:r>
                    </a:p>
                  </a:txBody>
                  <a:tcPr marL="54864" marR="54864" marT="22860" marB="22860" anchor="ctr">
                    <a:solidFill>
                      <a:srgbClr val="8EA9DB"/>
                    </a:solidFill>
                  </a:tcPr>
                </a:tc>
                <a:tc>
                  <a:txBody>
                    <a:bodyPr/>
                    <a:lstStyle/>
                    <a:p>
                      <a:pPr algn="ctr"/>
                      <a:r>
                        <a:rPr sz="1250" b="1" i="0">
                          <a:solidFill>
                            <a:srgbClr val="111111"/>
                          </a:solidFill>
                          <a:latin typeface="Times New Roman"/>
                        </a:rPr>
                        <a:t>What it adds</a:t>
                      </a:r>
                    </a:p>
                  </a:txBody>
                  <a:tcPr marL="54864" marR="54864" marT="22860" marB="22860" anchor="ctr">
                    <a:solidFill>
                      <a:srgbClr val="8EA9DB"/>
                    </a:solidFill>
                  </a:tcPr>
                </a:tc>
                <a:extLst>
                  <a:ext uri="{0D108BD9-81ED-4DB2-BD59-A6C34878D82A}">
                    <a16:rowId xmlns:a16="http://schemas.microsoft.com/office/drawing/2014/main" val="10000"/>
                  </a:ext>
                </a:extLst>
              </a:tr>
              <a:tr h="822960">
                <a:tc>
                  <a:txBody>
                    <a:bodyPr/>
                    <a:lstStyle/>
                    <a:p>
                      <a:pPr algn="l"/>
                      <a:r>
                        <a:rPr sz="1150" b="1" i="0">
                          <a:solidFill>
                            <a:srgbClr val="111111"/>
                          </a:solidFill>
                          <a:latin typeface="Times New Roman"/>
                        </a:rPr>
                        <a:t>Health record (EHR)</a:t>
                      </a:r>
                    </a:p>
                  </a:txBody>
                  <a:tcPr marL="54864" marR="54864" marT="22860" marB="22860" anchor="ctr">
                    <a:solidFill>
                      <a:srgbClr val="FFFFFF"/>
                    </a:solidFill>
                  </a:tcPr>
                </a:tc>
                <a:tc>
                  <a:txBody>
                    <a:bodyPr/>
                    <a:lstStyle/>
                    <a:p>
                      <a:pPr algn="l"/>
                      <a:r>
                        <a:rPr sz="1150" b="0" i="0">
                          <a:solidFill>
                            <a:srgbClr val="111111"/>
                          </a:solidFill>
                          <a:latin typeface="Times New Roman"/>
                        </a:rPr>
                        <a:t>Severity, past flare-ups, smoking, blood tests, other illnesses: the </a:t>
                      </a:r>
                      <a:r>
                        <a:rPr sz="1150" b="0" i="1">
                          <a:solidFill>
                            <a:srgbClr val="111111"/>
                          </a:solidFill>
                          <a:latin typeface="Times New Roman"/>
                        </a:rPr>
                        <a:t>starting risk</a:t>
                      </a:r>
                    </a:p>
                  </a:txBody>
                  <a:tcPr marL="54864" marR="54864" marT="22860" marB="22860" anchor="ctr">
                    <a:solidFill>
                      <a:srgbClr val="FFFFFF"/>
                    </a:solidFill>
                  </a:tcPr>
                </a:tc>
                <a:extLst>
                  <a:ext uri="{0D108BD9-81ED-4DB2-BD59-A6C34878D82A}">
                    <a16:rowId xmlns:a16="http://schemas.microsoft.com/office/drawing/2014/main" val="10001"/>
                  </a:ext>
                </a:extLst>
              </a:tr>
              <a:tr h="822960">
                <a:tc>
                  <a:txBody>
                    <a:bodyPr/>
                    <a:lstStyle/>
                    <a:p>
                      <a:pPr algn="l"/>
                      <a:r>
                        <a:rPr sz="1150" b="1" i="0">
                          <a:solidFill>
                            <a:srgbClr val="111111"/>
                          </a:solidFill>
                          <a:latin typeface="Times New Roman"/>
                        </a:rPr>
                        <a:t>Wearable + smart inhaler</a:t>
                      </a:r>
                    </a:p>
                  </a:txBody>
                  <a:tcPr marL="54864" marR="54864" marT="22860" marB="22860" anchor="ctr">
                    <a:solidFill>
                      <a:srgbClr val="FFFFFF"/>
                    </a:solidFill>
                  </a:tcPr>
                </a:tc>
                <a:tc>
                  <a:txBody>
                    <a:bodyPr/>
                    <a:lstStyle/>
                    <a:p>
                      <a:pPr algn="l"/>
                      <a:r>
                        <a:rPr sz="1150" b="0" i="0">
                          <a:solidFill>
                            <a:srgbClr val="111111"/>
                          </a:solidFill>
                          <a:latin typeface="Times New Roman"/>
                        </a:rPr>
                        <a:t>Daily heart rate, breathing, oxygen, steps, sleep, inhaler use: the </a:t>
                      </a:r>
                      <a:r>
                        <a:rPr sz="1150" b="0" i="1">
                          <a:solidFill>
                            <a:srgbClr val="111111"/>
                          </a:solidFill>
                          <a:latin typeface="Times New Roman"/>
                        </a:rPr>
                        <a:t>early warning</a:t>
                      </a:r>
                    </a:p>
                  </a:txBody>
                  <a:tcPr marL="54864" marR="54864" marT="22860" marB="22860" anchor="ctr">
                    <a:solidFill>
                      <a:srgbClr val="FFFFFF"/>
                    </a:solidFill>
                  </a:tcPr>
                </a:tc>
                <a:extLst>
                  <a:ext uri="{0D108BD9-81ED-4DB2-BD59-A6C34878D82A}">
                    <a16:rowId xmlns:a16="http://schemas.microsoft.com/office/drawing/2014/main" val="10002"/>
                  </a:ext>
                </a:extLst>
              </a:tr>
              <a:tr h="822960">
                <a:tc>
                  <a:txBody>
                    <a:bodyPr/>
                    <a:lstStyle/>
                    <a:p>
                      <a:pPr algn="l"/>
                      <a:r>
                        <a:rPr sz="1150" b="1" i="0">
                          <a:solidFill>
                            <a:srgbClr val="111111"/>
                          </a:solidFill>
                          <a:latin typeface="Times New Roman"/>
                        </a:rPr>
                        <a:t>City air + weather</a:t>
                      </a:r>
                    </a:p>
                  </a:txBody>
                  <a:tcPr marL="54864" marR="54864" marT="22860" marB="22860" anchor="ctr">
                    <a:solidFill>
                      <a:srgbClr val="FFFFFF"/>
                    </a:solidFill>
                  </a:tcPr>
                </a:tc>
                <a:tc>
                  <a:txBody>
                    <a:bodyPr/>
                    <a:lstStyle/>
                    <a:p>
                      <a:pPr algn="l"/>
                      <a:r>
                        <a:rPr sz="1150" b="0" i="0">
                          <a:solidFill>
                            <a:srgbClr val="111111"/>
                          </a:solidFill>
                          <a:latin typeface="Times New Roman"/>
                        </a:rPr>
                        <a:t>PM2.5, cold snaps, humidity: the </a:t>
                      </a:r>
                      <a:r>
                        <a:rPr sz="1150" b="0" i="1">
                          <a:solidFill>
                            <a:srgbClr val="111111"/>
                          </a:solidFill>
                          <a:latin typeface="Times New Roman"/>
                        </a:rPr>
                        <a:t>seasonal trigger</a:t>
                      </a:r>
                      <a:r>
                        <a:rPr sz="1150" b="0" i="0">
                          <a:solidFill>
                            <a:srgbClr val="111111"/>
                          </a:solidFill>
                          <a:latin typeface="Times New Roman"/>
                        </a:rPr>
                        <a:t> and the advice</a:t>
                      </a:r>
                    </a:p>
                  </a:txBody>
                  <a:tcPr marL="54864" marR="54864" marT="22860" marB="22860" anchor="ctr">
                    <a:solidFill>
                      <a:srgbClr val="FFFFFF"/>
                    </a:solidFill>
                  </a:tcPr>
                </a:tc>
                <a:extLst>
                  <a:ext uri="{0D108BD9-81ED-4DB2-BD59-A6C34878D82A}">
                    <a16:rowId xmlns:a16="http://schemas.microsoft.com/office/drawing/2014/main" val="10003"/>
                  </a:ext>
                </a:extLst>
              </a:tr>
            </a:tbl>
          </a:graphicData>
        </a:graphic>
      </p:graphicFrame>
      <p:sp>
        <p:nvSpPr>
          <p:cNvPr id="17" name="Tech box"/>
          <p:cNvSpPr/>
          <p:nvPr/>
        </p:nvSpPr>
        <p:spPr>
          <a:xfrm>
            <a:off x="6355080" y="2606040"/>
            <a:ext cx="228600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Dashboard screenshot" descr="calllist.png"/>
          <p:cNvPicPr>
            <a:picLocks noChangeAspect="1"/>
          </p:cNvPicPr>
          <p:nvPr/>
        </p:nvPicPr>
        <p:blipFill>
          <a:blip r:embed="rId4"/>
          <a:stretch>
            <a:fillRect/>
          </a:stretch>
        </p:blipFill>
        <p:spPr>
          <a:xfrm>
            <a:off x="6428232" y="2840398"/>
            <a:ext cx="2139696" cy="2923706"/>
          </a:xfrm>
          <a:prstGeom prst="rect">
            <a:avLst/>
          </a:prstGeom>
          <a:ln w="9525">
            <a:solidFill>
              <a:srgbClr val="BFBFBF"/>
            </a:solidFill>
          </a:ln>
        </p:spPr>
      </p:pic>
      <p:sp>
        <p:nvSpPr>
          <p:cNvPr id="19" name="TextBox 18"/>
          <p:cNvSpPr txBox="1"/>
          <p:nvPr/>
        </p:nvSpPr>
        <p:spPr>
          <a:xfrm>
            <a:off x="6400800" y="5943600"/>
            <a:ext cx="2194560" cy="502920"/>
          </a:xfrm>
          <a:prstGeom prst="rect">
            <a:avLst/>
          </a:prstGeom>
          <a:noFill/>
        </p:spPr>
        <p:txBody>
          <a:bodyPr wrap="square" lIns="54864" tIns="27432" rIns="54864" bIns="27432" anchor="t">
            <a:spAutoFit/>
          </a:bodyPr>
          <a:lstStyle/>
          <a:p>
            <a:pPr algn="ctr">
              <a:spcAft>
                <a:spcPts val="300"/>
              </a:spcAft>
              <a:buNone/>
            </a:pPr>
            <a:r>
              <a:rPr sz="1100" b="0" i="1">
                <a:solidFill>
                  <a:srgbClr val="111111"/>
                </a:solidFill>
                <a:latin typeface="Times New Roman"/>
              </a:rPr>
              <a:t>Doctor's view: the risk, who to call today, and why</a:t>
            </a:r>
          </a:p>
        </p:txBody>
      </p:sp>
      <p:graphicFrame>
        <p:nvGraphicFramePr>
          <p:cNvPr id="20" name="Differentiator table"/>
          <p:cNvGraphicFramePr>
            <a:graphicFrameLocks noGrp="1"/>
          </p:cNvGraphicFramePr>
          <p:nvPr/>
        </p:nvGraphicFramePr>
        <p:xfrm>
          <a:off x="8823960" y="2834640"/>
          <a:ext cx="2651760" cy="3017520"/>
        </p:xfrm>
        <a:graphic>
          <a:graphicData uri="http://schemas.openxmlformats.org/drawingml/2006/table">
            <a:tbl>
              <a:tblPr>
                <a:tableStyleId>{5940675A-B579-460E-94D1-54222C63F5DA}</a:tableStyleId>
              </a:tblPr>
              <a:tblGrid>
                <a:gridCol w="804672">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tblGrid>
              <a:tr h="603504">
                <a:tc>
                  <a:txBody>
                    <a:bodyPr/>
                    <a:lstStyle/>
                    <a:p>
                      <a:pPr algn="ctr"/>
                      <a:r>
                        <a:rPr sz="1200" b="1" i="0">
                          <a:solidFill>
                            <a:srgbClr val="111111"/>
                          </a:solidFill>
                          <a:latin typeface="Times New Roman"/>
                        </a:rPr>
                        <a:t>Usual care</a:t>
                      </a:r>
                    </a:p>
                  </a:txBody>
                  <a:tcPr marL="54864" marR="54864" marT="22860" marB="22860" anchor="ctr">
                    <a:solidFill>
                      <a:srgbClr val="8EA9DB"/>
                    </a:solidFill>
                  </a:tcPr>
                </a:tc>
                <a:tc>
                  <a:txBody>
                    <a:bodyPr/>
                    <a:lstStyle/>
                    <a:p>
                      <a:pPr algn="ctr"/>
                      <a:r>
                        <a:rPr sz="1200" b="1" i="0">
                          <a:solidFill>
                            <a:srgbClr val="111111"/>
                          </a:solidFill>
                          <a:latin typeface="Times New Roman"/>
                        </a:rPr>
                        <a:t>Wearables</a:t>
                      </a:r>
                    </a:p>
                  </a:txBody>
                  <a:tcPr marL="54864" marR="54864" marT="22860" marB="22860" anchor="ctr">
                    <a:solidFill>
                      <a:srgbClr val="8EA9DB"/>
                    </a:solidFill>
                  </a:tcPr>
                </a:tc>
                <a:tc>
                  <a:txBody>
                    <a:bodyPr/>
                    <a:lstStyle/>
                    <a:p>
                      <a:pPr algn="ctr"/>
                      <a:r>
                        <a:rPr sz="1200" b="1" i="0">
                          <a:solidFill>
                            <a:srgbClr val="111111"/>
                          </a:solidFill>
                          <a:latin typeface="Times New Roman"/>
                        </a:rPr>
                        <a:t>BreatheTwin</a:t>
                      </a:r>
                    </a:p>
                  </a:txBody>
                  <a:tcPr marL="54864" marR="54864" marT="22860" marB="22860" anchor="ctr">
                    <a:solidFill>
                      <a:srgbClr val="8EA9DB"/>
                    </a:solidFill>
                  </a:tcPr>
                </a:tc>
                <a:extLst>
                  <a:ext uri="{0D108BD9-81ED-4DB2-BD59-A6C34878D82A}">
                    <a16:rowId xmlns:a16="http://schemas.microsoft.com/office/drawing/2014/main" val="10000"/>
                  </a:ext>
                </a:extLst>
              </a:tr>
              <a:tr h="603504">
                <a:tc>
                  <a:txBody>
                    <a:bodyPr/>
                    <a:lstStyle/>
                    <a:p>
                      <a:pPr algn="l"/>
                      <a:r>
                        <a:rPr sz="1100" b="0" i="0">
                          <a:solidFill>
                            <a:srgbClr val="111111"/>
                          </a:solidFill>
                          <a:latin typeface="Times New Roman"/>
                        </a:rPr>
                        <a:t>Reactive</a:t>
                      </a:r>
                    </a:p>
                  </a:txBody>
                  <a:tcPr marL="54864" marR="54864" marT="22860" marB="22860" anchor="ctr">
                    <a:solidFill>
                      <a:srgbClr val="FFFFFF"/>
                    </a:solidFill>
                  </a:tcPr>
                </a:tc>
                <a:tc>
                  <a:txBody>
                    <a:bodyPr/>
                    <a:lstStyle/>
                    <a:p>
                      <a:pPr algn="l"/>
                      <a:r>
                        <a:rPr sz="1100" b="0" i="0">
                          <a:solidFill>
                            <a:srgbClr val="111111"/>
                          </a:solidFill>
                          <a:latin typeface="Times New Roman"/>
                        </a:rPr>
                        <a:t>Raw numbers</a:t>
                      </a:r>
                    </a:p>
                  </a:txBody>
                  <a:tcPr marL="54864" marR="54864" marT="22860" marB="22860" anchor="ctr">
                    <a:solidFill>
                      <a:srgbClr val="FFFFFF"/>
                    </a:solidFill>
                  </a:tcPr>
                </a:tc>
                <a:tc>
                  <a:txBody>
                    <a:bodyPr/>
                    <a:lstStyle/>
                    <a:p>
                      <a:pPr algn="l"/>
                      <a:r>
                        <a:rPr sz="1100" b="1" i="0">
                          <a:solidFill>
                            <a:srgbClr val="111111"/>
                          </a:solidFill>
                          <a:latin typeface="Times New Roman"/>
                        </a:rPr>
                        <a:t>Predictive</a:t>
                      </a:r>
                    </a:p>
                  </a:txBody>
                  <a:tcPr marL="54864" marR="54864" marT="22860" marB="22860" anchor="ctr">
                    <a:solidFill>
                      <a:srgbClr val="FFFFFF"/>
                    </a:solidFill>
                  </a:tcPr>
                </a:tc>
                <a:extLst>
                  <a:ext uri="{0D108BD9-81ED-4DB2-BD59-A6C34878D82A}">
                    <a16:rowId xmlns:a16="http://schemas.microsoft.com/office/drawing/2014/main" val="10001"/>
                  </a:ext>
                </a:extLst>
              </a:tr>
              <a:tr h="603504">
                <a:tc>
                  <a:txBody>
                    <a:bodyPr/>
                    <a:lstStyle/>
                    <a:p>
                      <a:pPr algn="l"/>
                      <a:r>
                        <a:rPr sz="1100" b="0" i="0">
                          <a:solidFill>
                            <a:srgbClr val="111111"/>
                          </a:solidFill>
                          <a:latin typeface="Times New Roman"/>
                        </a:rPr>
                        <a:t>Textbook limits</a:t>
                      </a:r>
                    </a:p>
                  </a:txBody>
                  <a:tcPr marL="54864" marR="54864" marT="22860" marB="22860" anchor="ctr">
                    <a:solidFill>
                      <a:srgbClr val="FFFFFF"/>
                    </a:solidFill>
                  </a:tcPr>
                </a:tc>
                <a:tc>
                  <a:txBody>
                    <a:bodyPr/>
                    <a:lstStyle/>
                    <a:p>
                      <a:pPr algn="l"/>
                      <a:r>
                        <a:rPr sz="1100" b="0" i="0">
                          <a:solidFill>
                            <a:srgbClr val="111111"/>
                          </a:solidFill>
                          <a:latin typeface="Times New Roman"/>
                        </a:rPr>
                        <a:t>Textbook limits</a:t>
                      </a:r>
                    </a:p>
                  </a:txBody>
                  <a:tcPr marL="54864" marR="54864" marT="22860" marB="22860" anchor="ctr">
                    <a:solidFill>
                      <a:srgbClr val="FFFFFF"/>
                    </a:solidFill>
                  </a:tcPr>
                </a:tc>
                <a:tc>
                  <a:txBody>
                    <a:bodyPr/>
                    <a:lstStyle/>
                    <a:p>
                      <a:pPr algn="l"/>
                      <a:r>
                        <a:rPr sz="1100" b="1" i="0">
                          <a:solidFill>
                            <a:srgbClr val="111111"/>
                          </a:solidFill>
                          <a:latin typeface="Times New Roman"/>
                        </a:rPr>
                        <a:t>Own normal</a:t>
                      </a:r>
                    </a:p>
                  </a:txBody>
                  <a:tcPr marL="54864" marR="54864" marT="22860" marB="22860" anchor="ctr">
                    <a:solidFill>
                      <a:srgbClr val="FFFFFF"/>
                    </a:solidFill>
                  </a:tcPr>
                </a:tc>
                <a:extLst>
                  <a:ext uri="{0D108BD9-81ED-4DB2-BD59-A6C34878D82A}">
                    <a16:rowId xmlns:a16="http://schemas.microsoft.com/office/drawing/2014/main" val="10002"/>
                  </a:ext>
                </a:extLst>
              </a:tr>
              <a:tr h="603504">
                <a:tc>
                  <a:txBody>
                    <a:bodyPr/>
                    <a:lstStyle/>
                    <a:p>
                      <a:pPr algn="l"/>
                      <a:r>
                        <a:rPr sz="1100" b="0" i="0">
                          <a:solidFill>
                            <a:srgbClr val="111111"/>
                          </a:solidFill>
                          <a:latin typeface="Times New Roman"/>
                        </a:rPr>
                        <a:t>No air data</a:t>
                      </a:r>
                    </a:p>
                  </a:txBody>
                  <a:tcPr marL="54864" marR="54864" marT="22860" marB="22860" anchor="ctr">
                    <a:solidFill>
                      <a:srgbClr val="FFFFFF"/>
                    </a:solidFill>
                  </a:tcPr>
                </a:tc>
                <a:tc>
                  <a:txBody>
                    <a:bodyPr/>
                    <a:lstStyle/>
                    <a:p>
                      <a:pPr algn="l"/>
                      <a:r>
                        <a:rPr sz="1100" b="0" i="0">
                          <a:solidFill>
                            <a:srgbClr val="111111"/>
                          </a:solidFill>
                          <a:latin typeface="Times New Roman"/>
                        </a:rPr>
                        <a:t>No record</a:t>
                      </a:r>
                    </a:p>
                  </a:txBody>
                  <a:tcPr marL="54864" marR="54864" marT="22860" marB="22860" anchor="ctr">
                    <a:solidFill>
                      <a:srgbClr val="FFFFFF"/>
                    </a:solidFill>
                  </a:tcPr>
                </a:tc>
                <a:tc>
                  <a:txBody>
                    <a:bodyPr/>
                    <a:lstStyle/>
                    <a:p>
                      <a:pPr algn="l"/>
                      <a:r>
                        <a:rPr sz="1100" b="1" i="0">
                          <a:solidFill>
                            <a:srgbClr val="111111"/>
                          </a:solidFill>
                          <a:latin typeface="Times New Roman"/>
                        </a:rPr>
                        <a:t>Record + body + air</a:t>
                      </a:r>
                    </a:p>
                  </a:txBody>
                  <a:tcPr marL="54864" marR="54864" marT="22860" marB="22860" anchor="ctr">
                    <a:solidFill>
                      <a:srgbClr val="FFFFFF"/>
                    </a:solidFill>
                  </a:tcPr>
                </a:tc>
                <a:extLst>
                  <a:ext uri="{0D108BD9-81ED-4DB2-BD59-A6C34878D82A}">
                    <a16:rowId xmlns:a16="http://schemas.microsoft.com/office/drawing/2014/main" val="10003"/>
                  </a:ext>
                </a:extLst>
              </a:tr>
              <a:tr h="603504">
                <a:tc>
                  <a:txBody>
                    <a:bodyPr/>
                    <a:lstStyle/>
                    <a:p>
                      <a:pPr algn="l"/>
                      <a:r>
                        <a:rPr sz="1100" b="0" i="0">
                          <a:solidFill>
                            <a:srgbClr val="111111"/>
                          </a:solidFill>
                          <a:latin typeface="Times New Roman"/>
                        </a:rPr>
                        <a:t>Doctor only</a:t>
                      </a:r>
                    </a:p>
                  </a:txBody>
                  <a:tcPr marL="54864" marR="54864" marT="22860" marB="22860" anchor="ctr">
                    <a:solidFill>
                      <a:srgbClr val="FFFFFF"/>
                    </a:solidFill>
                  </a:tcPr>
                </a:tc>
                <a:tc>
                  <a:txBody>
                    <a:bodyPr/>
                    <a:lstStyle/>
                    <a:p>
                      <a:pPr algn="l"/>
                      <a:r>
                        <a:rPr sz="1100" b="0" i="0">
                          <a:solidFill>
                            <a:srgbClr val="111111"/>
                          </a:solidFill>
                          <a:latin typeface="Times New Roman"/>
                        </a:rPr>
                        <a:t>User only</a:t>
                      </a:r>
                    </a:p>
                  </a:txBody>
                  <a:tcPr marL="54864" marR="54864" marT="22860" marB="22860" anchor="ctr">
                    <a:solidFill>
                      <a:srgbClr val="FFFFFF"/>
                    </a:solidFill>
                  </a:tcPr>
                </a:tc>
                <a:tc>
                  <a:txBody>
                    <a:bodyPr/>
                    <a:lstStyle/>
                    <a:p>
                      <a:pPr algn="l"/>
                      <a:r>
                        <a:rPr sz="1100" b="1" i="0">
                          <a:solidFill>
                            <a:srgbClr val="111111"/>
                          </a:solidFill>
                          <a:latin typeface="Times New Roman"/>
                        </a:rPr>
                        <a:t>Doctor + family</a:t>
                      </a:r>
                    </a:p>
                  </a:txBody>
                  <a:tcPr marL="54864" marR="54864" marT="22860" marB="22860" anchor="ct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How the twin works: three data streams, one personal model</a:t>
            </a:r>
          </a:p>
        </p:txBody>
      </p:sp>
      <p:sp>
        <p:nvSpPr>
          <p:cNvPr id="10" name="Tag: Data In"/>
          <p:cNvSpPr/>
          <p:nvPr/>
        </p:nvSpPr>
        <p:spPr>
          <a:xfrm>
            <a:off x="731520" y="2011680"/>
            <a:ext cx="25146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Data In</a:t>
            </a:r>
          </a:p>
        </p:txBody>
      </p:sp>
      <p:sp>
        <p:nvSpPr>
          <p:cNvPr id="11" name="Tag: The Twin"/>
          <p:cNvSpPr/>
          <p:nvPr/>
        </p:nvSpPr>
        <p:spPr>
          <a:xfrm>
            <a:off x="3611880" y="2011680"/>
            <a:ext cx="43434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The Twin</a:t>
            </a:r>
          </a:p>
        </p:txBody>
      </p:sp>
      <p:sp>
        <p:nvSpPr>
          <p:cNvPr id="12" name="Tag: What Comes Out"/>
          <p:cNvSpPr/>
          <p:nvPr/>
        </p:nvSpPr>
        <p:spPr>
          <a:xfrm>
            <a:off x="8321040" y="2011680"/>
            <a:ext cx="3154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What Comes Out</a:t>
            </a:r>
          </a:p>
        </p:txBody>
      </p:sp>
      <p:sp>
        <p:nvSpPr>
          <p:cNvPr id="13" name="Stream Health record (EHR)"/>
          <p:cNvSpPr/>
          <p:nvPr/>
        </p:nvSpPr>
        <p:spPr>
          <a:xfrm>
            <a:off x="731520" y="2542032"/>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Health record (EHR)</a:t>
            </a:r>
          </a:p>
          <a:p>
            <a:pPr algn="ctr"/>
            <a:r>
              <a:rPr sz="1100" b="0" i="1">
                <a:solidFill>
                  <a:srgbClr val="111111"/>
                </a:solidFill>
                <a:latin typeface="Times New Roman"/>
              </a:rPr>
              <a:t>420 synthetic patients: Synthea + India overlay</a:t>
            </a:r>
          </a:p>
        </p:txBody>
      </p:sp>
      <p:sp>
        <p:nvSpPr>
          <p:cNvPr id="14" name="Stream Wearable + smart inhaler"/>
          <p:cNvSpPr/>
          <p:nvPr/>
        </p:nvSpPr>
        <p:spPr>
          <a:xfrm>
            <a:off x="731520" y="3438144"/>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Wearable + smart inhaler</a:t>
            </a:r>
          </a:p>
          <a:p>
            <a:pPr algn="ctr"/>
            <a:r>
              <a:rPr sz="1100" b="0" i="1">
                <a:solidFill>
                  <a:srgbClr val="111111"/>
                </a:solidFill>
                <a:latin typeface="Times New Roman"/>
              </a:rPr>
              <a:t>heart rate, breathing, SpO2, steps, sleep, puffs, doses</a:t>
            </a:r>
          </a:p>
        </p:txBody>
      </p:sp>
      <p:sp>
        <p:nvSpPr>
          <p:cNvPr id="15" name="Stream City air + weather"/>
          <p:cNvSpPr/>
          <p:nvPr/>
        </p:nvSpPr>
        <p:spPr>
          <a:xfrm>
            <a:off x="731520" y="4334256"/>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City air + weather</a:t>
            </a:r>
          </a:p>
          <a:p>
            <a:pPr algn="ctr"/>
            <a:r>
              <a:rPr sz="1100" b="0" i="1">
                <a:solidFill>
                  <a:srgbClr val="111111"/>
                </a:solidFill>
                <a:latin typeface="Times New Roman"/>
              </a:rPr>
              <a:t>real CPCB PM2.5 and Open-Meteo, 8 cities</a:t>
            </a:r>
          </a:p>
        </p:txBody>
      </p:sp>
      <p:sp>
        <p:nvSpPr>
          <p:cNvPr id="16" name="Arrow"/>
          <p:cNvSpPr/>
          <p:nvPr/>
        </p:nvSpPr>
        <p:spPr>
          <a:xfrm>
            <a:off x="3291840"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1. Personal baseline"/>
          <p:cNvSpPr/>
          <p:nvPr/>
        </p:nvSpPr>
        <p:spPr>
          <a:xfrm>
            <a:off x="3630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03320" y="2633472"/>
            <a:ext cx="1874519" cy="2377440"/>
          </a:xfrm>
          <a:prstGeom prst="rect">
            <a:avLst/>
          </a:prstGeom>
          <a:noFill/>
        </p:spPr>
        <p:txBody>
          <a:bodyPr wrap="square" lIns="54864" tIns="27432" rIns="54864" bIns="27432" anchor="ctr">
            <a:spAutoFit/>
          </a:bodyPr>
          <a:lstStyle/>
          <a:p>
            <a:pPr algn="ctr">
              <a:spcAft>
                <a:spcPts val="300"/>
              </a:spcAft>
              <a:buNone/>
            </a:pPr>
            <a:r>
              <a:rPr sz="1350" b="1" i="0">
                <a:solidFill>
                  <a:srgbClr val="111111"/>
                </a:solidFill>
                <a:latin typeface="Times New Roman"/>
              </a:rPr>
              <a:t>1. Personal baseline</a:t>
            </a:r>
          </a:p>
          <a:p>
            <a:pPr algn="ctr">
              <a:spcAft>
                <a:spcPts val="300"/>
              </a:spcAft>
              <a:buNone/>
            </a:pPr>
            <a:r>
              <a:rPr sz="1250" b="0" i="0">
                <a:solidFill>
                  <a:srgbClr val="111111"/>
                </a:solidFill>
                <a:latin typeface="Times New Roman"/>
              </a:rPr>
              <a:t>Every reading compared with the patient's </a:t>
            </a:r>
            <a:r>
              <a:rPr sz="1250" b="1" i="0">
                <a:solidFill>
                  <a:srgbClr val="111111"/>
                </a:solidFill>
                <a:latin typeface="Times New Roman"/>
              </a:rPr>
              <a:t>own last 4 weeks</a:t>
            </a:r>
            <a:r>
              <a:rPr sz="1250" b="0" i="0">
                <a:solidFill>
                  <a:srgbClr val="111111"/>
                </a:solidFill>
                <a:latin typeface="Times New Roman"/>
              </a:rPr>
              <a:t>, not a textbook range</a:t>
            </a:r>
          </a:p>
        </p:txBody>
      </p:sp>
      <p:sp>
        <p:nvSpPr>
          <p:cNvPr id="19" name="2. Hybrid risk engine"/>
          <p:cNvSpPr/>
          <p:nvPr/>
        </p:nvSpPr>
        <p:spPr>
          <a:xfrm>
            <a:off x="5916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989320" y="2633472"/>
            <a:ext cx="1874519" cy="2377440"/>
          </a:xfrm>
          <a:prstGeom prst="rect">
            <a:avLst/>
          </a:prstGeom>
          <a:noFill/>
        </p:spPr>
        <p:txBody>
          <a:bodyPr wrap="square" lIns="54864" tIns="27432" rIns="54864" bIns="27432" anchor="ctr">
            <a:spAutoFit/>
          </a:bodyPr>
          <a:lstStyle/>
          <a:p>
            <a:pPr algn="ctr">
              <a:spcAft>
                <a:spcPts val="300"/>
              </a:spcAft>
              <a:buNone/>
            </a:pPr>
            <a:r>
              <a:rPr sz="1350" b="1" i="0">
                <a:solidFill>
                  <a:srgbClr val="111111"/>
                </a:solidFill>
                <a:latin typeface="Times New Roman"/>
              </a:rPr>
              <a:t>2. Hybrid risk engine</a:t>
            </a:r>
          </a:p>
          <a:p>
            <a:pPr algn="ctr">
              <a:spcAft>
                <a:spcPts val="300"/>
              </a:spcAft>
              <a:buNone/>
            </a:pPr>
            <a:r>
              <a:rPr sz="1250" b="1" i="0">
                <a:solidFill>
                  <a:srgbClr val="111111"/>
                </a:solidFill>
                <a:latin typeface="Times New Roman"/>
              </a:rPr>
              <a:t>LightGBM</a:t>
            </a:r>
            <a:r>
              <a:rPr sz="1250" b="0" i="0">
                <a:solidFill>
                  <a:srgbClr val="111111"/>
                </a:solidFill>
                <a:latin typeface="Times New Roman"/>
              </a:rPr>
              <a:t> learns body signals, inhaler use, weather and record  ×  </a:t>
            </a:r>
            <a:r>
              <a:rPr sz="1250" b="1" i="0">
                <a:solidFill>
                  <a:srgbClr val="111111"/>
                </a:solidFill>
                <a:latin typeface="Times New Roman"/>
              </a:rPr>
              <a:t>published PM2.5 effect</a:t>
            </a:r>
            <a:r>
              <a:rPr sz="1250" b="0" i="0">
                <a:solidFill>
                  <a:srgbClr val="111111"/>
                </a:solidFill>
                <a:latin typeface="Times New Roman"/>
              </a:rPr>
              <a:t> (DeVries 2017)</a:t>
            </a:r>
          </a:p>
        </p:txBody>
      </p:sp>
      <p:sp>
        <p:nvSpPr>
          <p:cNvPr id="21" name="Arrow"/>
          <p:cNvSpPr/>
          <p:nvPr/>
        </p:nvSpPr>
        <p:spPr>
          <a:xfrm>
            <a:off x="5669280" y="3611880"/>
            <a:ext cx="22860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Arrow"/>
          <p:cNvSpPr/>
          <p:nvPr/>
        </p:nvSpPr>
        <p:spPr>
          <a:xfrm>
            <a:off x="7973568"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utput 1"/>
          <p:cNvSpPr/>
          <p:nvPr/>
        </p:nvSpPr>
        <p:spPr>
          <a:xfrm>
            <a:off x="8321040" y="2542032"/>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1200" b="1" i="0">
                <a:solidFill>
                  <a:srgbClr val="111111"/>
                </a:solidFill>
                <a:latin typeface="Times New Roman"/>
              </a:rPr>
              <a:t>Risk of a flare-up in the next 3 days</a:t>
            </a:r>
          </a:p>
        </p:txBody>
      </p:sp>
      <p:sp>
        <p:nvSpPr>
          <p:cNvPr id="24" name="Output 2"/>
          <p:cNvSpPr/>
          <p:nvPr/>
        </p:nvSpPr>
        <p:spPr>
          <a:xfrm>
            <a:off x="8321040" y="3063239"/>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1200" b="1" i="0">
                <a:solidFill>
                  <a:srgbClr val="111111"/>
                </a:solidFill>
                <a:latin typeface="Times New Roman"/>
              </a:rPr>
              <a:t>Reasons, ranked by how much they push risk</a:t>
            </a:r>
          </a:p>
        </p:txBody>
      </p:sp>
      <p:sp>
        <p:nvSpPr>
          <p:cNvPr id="25" name="Output 3"/>
          <p:cNvSpPr/>
          <p:nvPr/>
        </p:nvSpPr>
        <p:spPr>
          <a:xfrm>
            <a:off x="8321040" y="3584448"/>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1200" b="1" i="0">
                <a:solidFill>
                  <a:srgbClr val="111111"/>
                </a:solidFill>
                <a:latin typeface="Times New Roman"/>
              </a:rPr>
              <a:t>Safety checks against own normal</a:t>
            </a:r>
          </a:p>
        </p:txBody>
      </p:sp>
      <p:sp>
        <p:nvSpPr>
          <p:cNvPr id="26" name="Output 4"/>
          <p:cNvSpPr/>
          <p:nvPr/>
        </p:nvSpPr>
        <p:spPr>
          <a:xfrm>
            <a:off x="8321040" y="4105656"/>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1200" b="1" i="0">
                <a:solidFill>
                  <a:srgbClr val="111111"/>
                </a:solidFill>
                <a:latin typeface="Times New Roman"/>
              </a:rPr>
              <a:t>What-if answers for doctor and family</a:t>
            </a:r>
          </a:p>
        </p:txBody>
      </p:sp>
      <p:sp>
        <p:nvSpPr>
          <p:cNvPr id="27" name="Output 5"/>
          <p:cNvSpPr/>
          <p:nvPr/>
        </p:nvSpPr>
        <p:spPr>
          <a:xfrm>
            <a:off x="8321040" y="4626864"/>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sz="1200" b="1" i="0">
                <a:solidFill>
                  <a:srgbClr val="111111"/>
                </a:solidFill>
                <a:latin typeface="Times New Roman"/>
              </a:rPr>
              <a:t>Smog warnings + one-page visit summary</a:t>
            </a:r>
          </a:p>
        </p:txBody>
      </p:sp>
      <p:sp>
        <p:nvSpPr>
          <p:cNvPr id="28" name="TextBox 27"/>
          <p:cNvSpPr txBox="1"/>
          <p:nvPr/>
        </p:nvSpPr>
        <p:spPr>
          <a:xfrm>
            <a:off x="731520" y="5230368"/>
            <a:ext cx="3657600" cy="320040"/>
          </a:xfrm>
          <a:prstGeom prst="rect">
            <a:avLst/>
          </a:prstGeom>
          <a:noFill/>
        </p:spPr>
        <p:txBody>
          <a:bodyPr wrap="square" lIns="54864" tIns="27432" rIns="54864" bIns="27432" anchor="t">
            <a:spAutoFit/>
          </a:bodyPr>
          <a:lstStyle/>
          <a:p>
            <a:pPr algn="l">
              <a:spcAft>
                <a:spcPts val="300"/>
              </a:spcAft>
              <a:buNone/>
            </a:pPr>
            <a:r>
              <a:rPr sz="1500" b="1" i="0">
                <a:solidFill>
                  <a:srgbClr val="111111"/>
                </a:solidFill>
                <a:latin typeface="Times New Roman"/>
              </a:rPr>
              <a:t>Twin journey</a:t>
            </a:r>
          </a:p>
        </p:txBody>
      </p:sp>
      <p:sp>
        <p:nvSpPr>
          <p:cNvPr id="29" name="Step 1: Health record"/>
          <p:cNvSpPr/>
          <p:nvPr/>
        </p:nvSpPr>
        <p:spPr>
          <a:xfrm>
            <a:off x="731520" y="5577840"/>
            <a:ext cx="1859280" cy="68580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Ins="164592" rtlCol="0" anchor="ctr"/>
          <a:lstStyle/>
          <a:p>
            <a:pPr algn="ctr"/>
            <a:r>
              <a:rPr sz="1300" b="1" i="0">
                <a:solidFill>
                  <a:srgbClr val="111111"/>
                </a:solidFill>
                <a:latin typeface="Times New Roman"/>
              </a:rPr>
              <a:t>Health record</a:t>
            </a:r>
          </a:p>
        </p:txBody>
      </p:sp>
      <p:sp>
        <p:nvSpPr>
          <p:cNvPr id="30" name="Step 2: Daily readings"/>
          <p:cNvSpPr/>
          <p:nvPr/>
        </p:nvSpPr>
        <p:spPr>
          <a:xfrm>
            <a:off x="2481072"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Daily readings</a:t>
            </a:r>
          </a:p>
        </p:txBody>
      </p:sp>
      <p:sp>
        <p:nvSpPr>
          <p:cNvPr id="31" name="Step 3: Own normal"/>
          <p:cNvSpPr/>
          <p:nvPr/>
        </p:nvSpPr>
        <p:spPr>
          <a:xfrm>
            <a:off x="4230624"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Own normal</a:t>
            </a:r>
          </a:p>
        </p:txBody>
      </p:sp>
      <p:sp>
        <p:nvSpPr>
          <p:cNvPr id="32" name="Step 4: Risk score"/>
          <p:cNvSpPr/>
          <p:nvPr/>
        </p:nvSpPr>
        <p:spPr>
          <a:xfrm>
            <a:off x="5980176"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Risk score</a:t>
            </a:r>
          </a:p>
        </p:txBody>
      </p:sp>
      <p:sp>
        <p:nvSpPr>
          <p:cNvPr id="33" name="Step 5: Reasons"/>
          <p:cNvSpPr/>
          <p:nvPr/>
        </p:nvSpPr>
        <p:spPr>
          <a:xfrm>
            <a:off x="7729728"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Reasons</a:t>
            </a:r>
          </a:p>
        </p:txBody>
      </p:sp>
      <p:sp>
        <p:nvSpPr>
          <p:cNvPr id="34" name="Step 6: Action + advice"/>
          <p:cNvSpPr/>
          <p:nvPr/>
        </p:nvSpPr>
        <p:spPr>
          <a:xfrm>
            <a:off x="9479280"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Action + advice</a:t>
            </a:r>
          </a:p>
        </p:txBody>
      </p:sp>
      <p:sp>
        <p:nvSpPr>
          <p:cNvPr id="35" name="TextBox 34"/>
          <p:cNvSpPr txBox="1"/>
          <p:nvPr/>
        </p:nvSpPr>
        <p:spPr>
          <a:xfrm>
            <a:off x="731520" y="6291072"/>
            <a:ext cx="10744200" cy="292608"/>
          </a:xfrm>
          <a:prstGeom prst="rect">
            <a:avLst/>
          </a:prstGeom>
          <a:noFill/>
        </p:spPr>
        <p:txBody>
          <a:bodyPr wrap="square" lIns="54864" tIns="27432" rIns="54864" bIns="27432" anchor="t">
            <a:spAutoFit/>
          </a:bodyPr>
          <a:lstStyle/>
          <a:p>
            <a:pPr algn="ctr">
              <a:spcAft>
                <a:spcPts val="300"/>
              </a:spcAft>
              <a:buNone/>
            </a:pPr>
            <a:r>
              <a:rPr sz="1100" b="0" i="1">
                <a:solidFill>
                  <a:srgbClr val="111111"/>
                </a:solidFill>
                <a:latin typeface="Times New Roman"/>
              </a:rPr>
              <a:t>Why hybrid: the body-signal patterns are complex and best learned from data; the air-pollution effect is small and well measured in large studies, so we take it from the literature.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Open, anonymised or synthetic data, and clear about which</a:t>
            </a:r>
          </a:p>
        </p:txBody>
      </p:sp>
      <p:sp>
        <p:nvSpPr>
          <p:cNvPr id="10" name="Tag: Data Sources"/>
          <p:cNvSpPr/>
          <p:nvPr/>
        </p:nvSpPr>
        <p:spPr>
          <a:xfrm>
            <a:off x="731520" y="2011680"/>
            <a:ext cx="6172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Data Sources</a:t>
            </a:r>
          </a:p>
        </p:txBody>
      </p:sp>
      <p:graphicFrame>
        <p:nvGraphicFramePr>
          <p:cNvPr id="11" name="Sources table"/>
          <p:cNvGraphicFramePr>
            <a:graphicFrameLocks noGrp="1"/>
          </p:cNvGraphicFramePr>
          <p:nvPr/>
        </p:nvGraphicFramePr>
        <p:xfrm>
          <a:off x="731520" y="2542032"/>
          <a:ext cx="6172200" cy="2743200"/>
        </p:xfrm>
        <a:graphic>
          <a:graphicData uri="http://schemas.openxmlformats.org/drawingml/2006/table">
            <a:tbl>
              <a:tblPr>
                <a:tableStyleId>{5940675A-B579-460E-94D1-54222C63F5DA}</a:tableStyleId>
              </a:tblPr>
              <a:tblGrid>
                <a:gridCol w="13258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57200">
                <a:tc>
                  <a:txBody>
                    <a:bodyPr/>
                    <a:lstStyle/>
                    <a:p>
                      <a:pPr algn="ctr"/>
                      <a:r>
                        <a:rPr sz="1250" b="1" i="0">
                          <a:solidFill>
                            <a:srgbClr val="111111"/>
                          </a:solidFill>
                          <a:latin typeface="Times New Roman"/>
                        </a:rPr>
                        <a:t>Stream</a:t>
                      </a:r>
                    </a:p>
                  </a:txBody>
                  <a:tcPr marL="54864" marR="54864" marT="22860" marB="22860" anchor="ctr">
                    <a:solidFill>
                      <a:srgbClr val="8EA9DB"/>
                    </a:solidFill>
                  </a:tcPr>
                </a:tc>
                <a:tc>
                  <a:txBody>
                    <a:bodyPr/>
                    <a:lstStyle/>
                    <a:p>
                      <a:pPr algn="ctr"/>
                      <a:r>
                        <a:rPr sz="1250" b="1" i="0">
                          <a:solidFill>
                            <a:srgbClr val="111111"/>
                          </a:solidFill>
                          <a:latin typeface="Times New Roman"/>
                        </a:rPr>
                        <a:t>Source</a:t>
                      </a:r>
                    </a:p>
                  </a:txBody>
                  <a:tcPr marL="54864" marR="54864" marT="22860" marB="22860" anchor="ctr">
                    <a:solidFill>
                      <a:srgbClr val="8EA9DB"/>
                    </a:solidFill>
                  </a:tcPr>
                </a:tc>
                <a:tc>
                  <a:txBody>
                    <a:bodyPr/>
                    <a:lstStyle/>
                    <a:p>
                      <a:pPr algn="ctr"/>
                      <a:r>
                        <a:rPr sz="1250" b="1" i="0">
                          <a:solidFill>
                            <a:srgbClr val="111111"/>
                          </a:solidFill>
                          <a:latin typeface="Times New Roman"/>
                        </a:rPr>
                        <a:t>Real or synthetic</a:t>
                      </a:r>
                    </a:p>
                  </a:txBody>
                  <a:tcPr marL="54864" marR="54864" marT="22860" marB="22860" anchor="ctr">
                    <a:solidFill>
                      <a:srgbClr val="8EA9DB"/>
                    </a:solidFill>
                  </a:tcPr>
                </a:tc>
                <a:tc>
                  <a:txBody>
                    <a:bodyPr/>
                    <a:lstStyle/>
                    <a:p>
                      <a:pPr algn="ctr"/>
                      <a:r>
                        <a:rPr sz="1250" b="1" i="0">
                          <a:solidFill>
                            <a:srgbClr val="111111"/>
                          </a:solidFill>
                          <a:latin typeface="Times New Roman"/>
                        </a:rPr>
                        <a:t>Licence</a:t>
                      </a:r>
                    </a:p>
                  </a:txBody>
                  <a:tcPr marL="54864" marR="54864" marT="22860" marB="22860" anchor="ctr">
                    <a:solidFill>
                      <a:srgbClr val="8EA9DB"/>
                    </a:solidFill>
                  </a:tcPr>
                </a:tc>
                <a:extLst>
                  <a:ext uri="{0D108BD9-81ED-4DB2-BD59-A6C34878D82A}">
                    <a16:rowId xmlns:a16="http://schemas.microsoft.com/office/drawing/2014/main" val="10000"/>
                  </a:ext>
                </a:extLst>
              </a:tr>
              <a:tr h="457200">
                <a:tc>
                  <a:txBody>
                    <a:bodyPr/>
                    <a:lstStyle/>
                    <a:p>
                      <a:pPr algn="l"/>
                      <a:r>
                        <a:rPr sz="1150" b="0" i="0">
                          <a:solidFill>
                            <a:srgbClr val="111111"/>
                          </a:solidFill>
                          <a:latin typeface="Times New Roman"/>
                        </a:rPr>
                        <a:t>Health records</a:t>
                      </a:r>
                    </a:p>
                  </a:txBody>
                  <a:tcPr marL="54864" marR="54864" marT="22860" marB="22860" anchor="ctr">
                    <a:solidFill>
                      <a:srgbClr val="FFFFFF"/>
                    </a:solidFill>
                  </a:tcPr>
                </a:tc>
                <a:tc>
                  <a:txBody>
                    <a:bodyPr/>
                    <a:lstStyle/>
                    <a:p>
                      <a:pPr algn="l"/>
                      <a:r>
                        <a:rPr sz="1150" b="0" i="0">
                          <a:solidFill>
                            <a:srgbClr val="111111"/>
                          </a:solidFill>
                          <a:latin typeface="Times New Roman"/>
                        </a:rPr>
                        <a:t>Synthea COPD cohort + our India overlay and younger patients</a:t>
                      </a:r>
                    </a:p>
                  </a:txBody>
                  <a:tcPr marL="54864" marR="54864" marT="22860" marB="22860" anchor="ctr">
                    <a:solidFill>
                      <a:srgbClr val="FFFFFF"/>
                    </a:solidFill>
                  </a:tcPr>
                </a:tc>
                <a:tc>
                  <a:txBody>
                    <a:bodyPr/>
                    <a:lstStyle/>
                    <a:p>
                      <a:pPr algn="l"/>
                      <a:r>
                        <a:rPr sz="1150" b="0" i="0">
                          <a:solidFill>
                            <a:srgbClr val="111111"/>
                          </a:solidFill>
                          <a:latin typeface="Times New Roman"/>
                        </a:rPr>
                        <a:t>Synthetic</a:t>
                      </a:r>
                    </a:p>
                  </a:txBody>
                  <a:tcPr marL="54864" marR="54864" marT="22860" marB="22860" anchor="ctr">
                    <a:solidFill>
                      <a:srgbClr val="FFFFFF"/>
                    </a:solidFill>
                  </a:tcPr>
                </a:tc>
                <a:tc>
                  <a:txBody>
                    <a:bodyPr/>
                    <a:lstStyle/>
                    <a:p>
                      <a:pPr algn="l"/>
                      <a:r>
                        <a:rPr sz="1150" b="0" i="0">
                          <a:solidFill>
                            <a:srgbClr val="111111"/>
                          </a:solidFill>
                          <a:latin typeface="Times New Roman"/>
                        </a:rPr>
                        <a:t>Apache 2.0</a:t>
                      </a:r>
                    </a:p>
                  </a:txBody>
                  <a:tcPr marL="54864" marR="54864" marT="22860" marB="22860" anchor="ctr">
                    <a:solidFill>
                      <a:srgbClr val="FFFFFF"/>
                    </a:solidFill>
                  </a:tcPr>
                </a:tc>
                <a:extLst>
                  <a:ext uri="{0D108BD9-81ED-4DB2-BD59-A6C34878D82A}">
                    <a16:rowId xmlns:a16="http://schemas.microsoft.com/office/drawing/2014/main" val="10001"/>
                  </a:ext>
                </a:extLst>
              </a:tr>
              <a:tr h="457200">
                <a:tc>
                  <a:txBody>
                    <a:bodyPr/>
                    <a:lstStyle/>
                    <a:p>
                      <a:pPr algn="l"/>
                      <a:r>
                        <a:rPr sz="1150" b="0" i="0">
                          <a:solidFill>
                            <a:srgbClr val="111111"/>
                          </a:solidFill>
                          <a:latin typeface="Times New Roman"/>
                        </a:rPr>
                        <a:t>Wearables and flare-ups</a:t>
                      </a:r>
                    </a:p>
                  </a:txBody>
                  <a:tcPr marL="54864" marR="54864" marT="22860" marB="22860" anchor="ctr">
                    <a:solidFill>
                      <a:srgbClr val="FFFFFF"/>
                    </a:solidFill>
                  </a:tcPr>
                </a:tc>
                <a:tc>
                  <a:txBody>
                    <a:bodyPr/>
                    <a:lstStyle/>
                    <a:p>
                      <a:pPr algn="l"/>
                      <a:r>
                        <a:rPr sz="1150" b="0" i="0">
                          <a:solidFill>
                            <a:srgbClr val="111111"/>
                          </a:solidFill>
                          <a:latin typeface="Times New Roman"/>
                        </a:rPr>
                        <a:t>Simulated; every effect size from a published study</a:t>
                      </a:r>
                    </a:p>
                  </a:txBody>
                  <a:tcPr marL="54864" marR="54864" marT="22860" marB="22860" anchor="ctr">
                    <a:solidFill>
                      <a:srgbClr val="FFFFFF"/>
                    </a:solidFill>
                  </a:tcPr>
                </a:tc>
                <a:tc>
                  <a:txBody>
                    <a:bodyPr/>
                    <a:lstStyle/>
                    <a:p>
                      <a:pPr algn="l"/>
                      <a:r>
                        <a:rPr sz="1150" b="0" i="0">
                          <a:solidFill>
                            <a:srgbClr val="111111"/>
                          </a:solidFill>
                          <a:latin typeface="Times New Roman"/>
                        </a:rPr>
                        <a:t>Synthetic</a:t>
                      </a:r>
                    </a:p>
                  </a:txBody>
                  <a:tcPr marL="54864" marR="54864" marT="22860" marB="22860" anchor="ctr">
                    <a:solidFill>
                      <a:srgbClr val="FFFFFF"/>
                    </a:solidFill>
                  </a:tcPr>
                </a:tc>
                <a:tc>
                  <a:txBody>
                    <a:bodyPr/>
                    <a:lstStyle/>
                    <a:p>
                      <a:pPr algn="l"/>
                      <a:r>
                        <a:rPr sz="1150" b="0" i="0">
                          <a:solidFill>
                            <a:srgbClr val="111111"/>
                          </a:solidFill>
                          <a:latin typeface="Times New Roman"/>
                        </a:rPr>
                        <a:t>Ours (MIT)</a:t>
                      </a:r>
                    </a:p>
                  </a:txBody>
                  <a:tcPr marL="54864" marR="54864" marT="22860" marB="22860" anchor="ctr">
                    <a:solidFill>
                      <a:srgbClr val="FFFFFF"/>
                    </a:solidFill>
                  </a:tcPr>
                </a:tc>
                <a:extLst>
                  <a:ext uri="{0D108BD9-81ED-4DB2-BD59-A6C34878D82A}">
                    <a16:rowId xmlns:a16="http://schemas.microsoft.com/office/drawing/2014/main" val="10002"/>
                  </a:ext>
                </a:extLst>
              </a:tr>
              <a:tr h="457200">
                <a:tc>
                  <a:txBody>
                    <a:bodyPr/>
                    <a:lstStyle/>
                    <a:p>
                      <a:pPr algn="l"/>
                      <a:r>
                        <a:rPr sz="1150" b="0" i="0">
                          <a:solidFill>
                            <a:srgbClr val="111111"/>
                          </a:solidFill>
                          <a:latin typeface="Times New Roman"/>
                        </a:rPr>
                        <a:t>Air quality</a:t>
                      </a:r>
                    </a:p>
                  </a:txBody>
                  <a:tcPr marL="54864" marR="54864" marT="22860" marB="22860" anchor="ctr">
                    <a:solidFill>
                      <a:srgbClr val="FFFFFF"/>
                    </a:solidFill>
                  </a:tcPr>
                </a:tc>
                <a:tc>
                  <a:txBody>
                    <a:bodyPr/>
                    <a:lstStyle/>
                    <a:p>
                      <a:pPr algn="l"/>
                      <a:r>
                        <a:rPr sz="1150" b="0" i="0">
                          <a:solidFill>
                            <a:srgbClr val="111111"/>
                          </a:solidFill>
                          <a:latin typeface="Times New Roman"/>
                        </a:rPr>
                        <a:t>CPCB daily PM2.5, 8 cities (Kaggle 'Air Quality Data in India')</a:t>
                      </a:r>
                    </a:p>
                  </a:txBody>
                  <a:tcPr marL="54864" marR="54864" marT="22860" marB="22860" anchor="ctr">
                    <a:solidFill>
                      <a:srgbClr val="FFFFFF"/>
                    </a:solidFill>
                  </a:tcPr>
                </a:tc>
                <a:tc>
                  <a:txBody>
                    <a:bodyPr/>
                    <a:lstStyle/>
                    <a:p>
                      <a:pPr algn="l"/>
                      <a:r>
                        <a:rPr sz="1150" b="1" i="0">
                          <a:solidFill>
                            <a:srgbClr val="111111"/>
                          </a:solidFill>
                          <a:latin typeface="Times New Roman"/>
                        </a:rPr>
                        <a:t>Real</a:t>
                      </a:r>
                    </a:p>
                  </a:txBody>
                  <a:tcPr marL="54864" marR="54864" marT="22860" marB="22860" anchor="ctr">
                    <a:solidFill>
                      <a:srgbClr val="FFFFFF"/>
                    </a:solidFill>
                  </a:tcPr>
                </a:tc>
                <a:tc>
                  <a:txBody>
                    <a:bodyPr/>
                    <a:lstStyle/>
                    <a:p>
                      <a:pPr algn="l"/>
                      <a:r>
                        <a:rPr sz="1150" b="0" i="0">
                          <a:solidFill>
                            <a:srgbClr val="111111"/>
                          </a:solidFill>
                          <a:latin typeface="Times New Roman"/>
                        </a:rPr>
                        <a:t>CC0</a:t>
                      </a:r>
                    </a:p>
                  </a:txBody>
                  <a:tcPr marL="54864" marR="54864" marT="22860" marB="22860" anchor="ctr">
                    <a:solidFill>
                      <a:srgbClr val="FFFFFF"/>
                    </a:solidFill>
                  </a:tcPr>
                </a:tc>
                <a:extLst>
                  <a:ext uri="{0D108BD9-81ED-4DB2-BD59-A6C34878D82A}">
                    <a16:rowId xmlns:a16="http://schemas.microsoft.com/office/drawing/2014/main" val="10003"/>
                  </a:ext>
                </a:extLst>
              </a:tr>
              <a:tr h="457200">
                <a:tc>
                  <a:txBody>
                    <a:bodyPr/>
                    <a:lstStyle/>
                    <a:p>
                      <a:pPr algn="l"/>
                      <a:r>
                        <a:rPr sz="1150" b="0" i="0">
                          <a:solidFill>
                            <a:srgbClr val="111111"/>
                          </a:solidFill>
                          <a:latin typeface="Times New Roman"/>
                        </a:rPr>
                        <a:t>Weather</a:t>
                      </a:r>
                    </a:p>
                  </a:txBody>
                  <a:tcPr marL="54864" marR="54864" marT="22860" marB="22860" anchor="ctr">
                    <a:solidFill>
                      <a:srgbClr val="FFFFFF"/>
                    </a:solidFill>
                  </a:tcPr>
                </a:tc>
                <a:tc>
                  <a:txBody>
                    <a:bodyPr/>
                    <a:lstStyle/>
                    <a:p>
                      <a:pPr algn="l"/>
                      <a:r>
                        <a:rPr sz="1150" b="0" i="0">
                          <a:solidFill>
                            <a:srgbClr val="111111"/>
                          </a:solidFill>
                          <a:latin typeface="Times New Roman"/>
                        </a:rPr>
                        <a:t>Open-Meteo archive: temperature, humidity</a:t>
                      </a:r>
                    </a:p>
                  </a:txBody>
                  <a:tcPr marL="54864" marR="54864" marT="22860" marB="22860" anchor="ctr">
                    <a:solidFill>
                      <a:srgbClr val="FFFFFF"/>
                    </a:solidFill>
                  </a:tcPr>
                </a:tc>
                <a:tc>
                  <a:txBody>
                    <a:bodyPr/>
                    <a:lstStyle/>
                    <a:p>
                      <a:pPr algn="l"/>
                      <a:r>
                        <a:rPr sz="1150" b="1" i="0">
                          <a:solidFill>
                            <a:srgbClr val="111111"/>
                          </a:solidFill>
                          <a:latin typeface="Times New Roman"/>
                        </a:rPr>
                        <a:t>Real</a:t>
                      </a:r>
                    </a:p>
                  </a:txBody>
                  <a:tcPr marL="54864" marR="54864" marT="22860" marB="22860" anchor="ctr">
                    <a:solidFill>
                      <a:srgbClr val="FFFFFF"/>
                    </a:solidFill>
                  </a:tcPr>
                </a:tc>
                <a:tc>
                  <a:txBody>
                    <a:bodyPr/>
                    <a:lstStyle/>
                    <a:p>
                      <a:pPr algn="l"/>
                      <a:r>
                        <a:rPr sz="1150" b="0" i="0">
                          <a:solidFill>
                            <a:srgbClr val="111111"/>
                          </a:solidFill>
                          <a:latin typeface="Times New Roman"/>
                        </a:rPr>
                        <a:t>CC BY 4.0</a:t>
                      </a:r>
                    </a:p>
                  </a:txBody>
                  <a:tcPr marL="54864" marR="54864" marT="22860" marB="22860" anchor="ctr">
                    <a:solidFill>
                      <a:srgbClr val="FFFFFF"/>
                    </a:solidFill>
                  </a:tcPr>
                </a:tc>
                <a:extLst>
                  <a:ext uri="{0D108BD9-81ED-4DB2-BD59-A6C34878D82A}">
                    <a16:rowId xmlns:a16="http://schemas.microsoft.com/office/drawing/2014/main" val="10004"/>
                  </a:ext>
                </a:extLst>
              </a:tr>
              <a:tr h="457200">
                <a:tc>
                  <a:txBody>
                    <a:bodyPr/>
                    <a:lstStyle/>
                    <a:p>
                      <a:pPr algn="l"/>
                      <a:r>
                        <a:rPr sz="1150" b="0" i="0">
                          <a:solidFill>
                            <a:srgbClr val="111111"/>
                          </a:solidFill>
                          <a:latin typeface="Times New Roman"/>
                        </a:rPr>
                        <a:t>Real-data check</a:t>
                      </a:r>
                    </a:p>
                  </a:txBody>
                  <a:tcPr marL="54864" marR="54864" marT="22860" marB="22860" anchor="ctr">
                    <a:solidFill>
                      <a:srgbClr val="FFFFFF"/>
                    </a:solidFill>
                  </a:tcPr>
                </a:tc>
                <a:tc>
                  <a:txBody>
                    <a:bodyPr/>
                    <a:lstStyle/>
                    <a:p>
                      <a:pPr algn="l"/>
                      <a:r>
                        <a:rPr sz="1150" b="0" i="0">
                          <a:solidFill>
                            <a:srgbClr val="111111"/>
                          </a:solidFill>
                          <a:latin typeface="Times New Roman"/>
                        </a:rPr>
                        <a:t>MIMIC-IV Clinical Database Demo v2.2 (14 COPD patients)</a:t>
                      </a:r>
                    </a:p>
                  </a:txBody>
                  <a:tcPr marL="54864" marR="54864" marT="22860" marB="22860" anchor="ctr">
                    <a:solidFill>
                      <a:srgbClr val="FFFFFF"/>
                    </a:solidFill>
                  </a:tcPr>
                </a:tc>
                <a:tc>
                  <a:txBody>
                    <a:bodyPr/>
                    <a:lstStyle/>
                    <a:p>
                      <a:pPr algn="l"/>
                      <a:r>
                        <a:rPr sz="1150" b="1" i="0">
                          <a:solidFill>
                            <a:srgbClr val="111111"/>
                          </a:solidFill>
                          <a:latin typeface="Times New Roman"/>
                        </a:rPr>
                        <a:t>Real</a:t>
                      </a:r>
                      <a:r>
                        <a:rPr sz="1150" b="0" i="0">
                          <a:solidFill>
                            <a:srgbClr val="111111"/>
                          </a:solidFill>
                          <a:latin typeface="Times New Roman"/>
                        </a:rPr>
                        <a:t>, aggregate only</a:t>
                      </a:r>
                    </a:p>
                  </a:txBody>
                  <a:tcPr marL="54864" marR="54864" marT="22860" marB="22860" anchor="ctr">
                    <a:solidFill>
                      <a:srgbClr val="FFFFFF"/>
                    </a:solidFill>
                  </a:tcPr>
                </a:tc>
                <a:tc>
                  <a:txBody>
                    <a:bodyPr/>
                    <a:lstStyle/>
                    <a:p>
                      <a:pPr algn="l"/>
                      <a:r>
                        <a:rPr sz="1150" b="0" i="0">
                          <a:solidFill>
                            <a:srgbClr val="111111"/>
                          </a:solidFill>
                          <a:latin typeface="Times New Roman"/>
                        </a:rPr>
                        <a:t>ODbL 1.0</a:t>
                      </a:r>
                    </a:p>
                  </a:txBody>
                  <a:tcPr marL="54864" marR="54864" marT="22860" marB="22860" anchor="ctr">
                    <a:solidFill>
                      <a:srgbClr val="FFFFFF"/>
                    </a:solidFill>
                  </a:tcPr>
                </a:tc>
                <a:extLst>
                  <a:ext uri="{0D108BD9-81ED-4DB2-BD59-A6C34878D82A}">
                    <a16:rowId xmlns:a16="http://schemas.microsoft.com/office/drawing/2014/main" val="10005"/>
                  </a:ext>
                </a:extLst>
              </a:tr>
            </a:tbl>
          </a:graphicData>
        </a:graphic>
      </p:graphicFrame>
      <p:sp>
        <p:nvSpPr>
          <p:cNvPr id="12" name="MIMIC box"/>
          <p:cNvSpPr/>
          <p:nvPr/>
        </p:nvSpPr>
        <p:spPr>
          <a:xfrm>
            <a:off x="731520" y="5376672"/>
            <a:ext cx="6172200" cy="411480"/>
          </a:xfrm>
          <a:prstGeom prst="roundRect">
            <a:avLst>
              <a:gd name="adj" fmla="val 3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5394960"/>
            <a:ext cx="6035040" cy="384048"/>
          </a:xfrm>
          <a:prstGeom prst="rect">
            <a:avLst/>
          </a:prstGeom>
          <a:noFill/>
        </p:spPr>
        <p:txBody>
          <a:bodyPr wrap="square" lIns="54864" tIns="27432" rIns="54864" bIns="27432" anchor="ctr">
            <a:spAutoFit/>
          </a:bodyPr>
          <a:lstStyle/>
          <a:p>
            <a:pPr algn="l">
              <a:spcAft>
                <a:spcPts val="300"/>
              </a:spcAft>
              <a:buNone/>
            </a:pPr>
            <a:r>
              <a:rPr sz="1150" b="1" i="0">
                <a:solidFill>
                  <a:srgbClr val="111111"/>
                </a:solidFill>
                <a:latin typeface="Times New Roman"/>
              </a:rPr>
              <a:t>Real-data check:</a:t>
            </a:r>
            <a:r>
              <a:rPr sz="1150" b="0" i="0">
                <a:solidFill>
                  <a:srgbClr val="111111"/>
                </a:solidFill>
                <a:latin typeface="Times New Roman"/>
              </a:rPr>
              <a:t> sex mix and heart disease match real patients; heart failure and diabetes are lower in synthetic records.</a:t>
            </a:r>
          </a:p>
        </p:txBody>
      </p:sp>
      <p:sp>
        <p:nvSpPr>
          <p:cNvPr id="14" name="Tag: Our Patient Cohort (400)"/>
          <p:cNvSpPr/>
          <p:nvPr/>
        </p:nvSpPr>
        <p:spPr>
          <a:xfrm>
            <a:off x="7132320" y="2011680"/>
            <a:ext cx="4343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Our Patient Cohort (420)</a:t>
            </a:r>
          </a:p>
        </p:txBody>
      </p:sp>
      <p:graphicFrame>
        <p:nvGraphicFramePr>
          <p:cNvPr id="15" name="Age chart"/>
          <p:cNvGraphicFramePr>
            <a:graphicFrameLocks noGrp="1"/>
          </p:cNvGraphicFramePr>
          <p:nvPr/>
        </p:nvGraphicFramePr>
        <p:xfrm>
          <a:off x="7132320" y="2487168"/>
          <a:ext cx="4343400" cy="2514600"/>
        </p:xfrm>
        <a:graphic>
          <a:graphicData uri="http://schemas.openxmlformats.org/drawingml/2006/chart">
            <c:chart xmlns:c="http://schemas.openxmlformats.org/drawingml/2006/chart" xmlns:r="http://schemas.openxmlformats.org/officeDocument/2006/relationships" r:id="rId4"/>
          </a:graphicData>
        </a:graphic>
      </p:graphicFrame>
      <p:sp>
        <p:nvSpPr>
          <p:cNvPr id="16" name="Cohort text"/>
          <p:cNvSpPr txBox="1"/>
          <p:nvPr/>
        </p:nvSpPr>
        <p:spPr>
          <a:xfrm>
            <a:off x="7178040" y="5029200"/>
            <a:ext cx="4297680" cy="777240"/>
          </a:xfrm>
          <a:prstGeom prst="rect">
            <a:avLst/>
          </a:prstGeom>
          <a:noFill/>
        </p:spPr>
        <p:txBody>
          <a:bodyPr wrap="square" lIns="54864" tIns="27432" rIns="54864" bIns="27432" anchor="t">
            <a:spAutoFit/>
          </a:bodyPr>
          <a:lstStyle/>
          <a:p>
            <a:pPr marL="164592" indent="-164592" algn="l">
              <a:spcAft>
                <a:spcPts val="100"/>
              </a:spcAft>
              <a:buChar char="•"/>
            </a:pPr>
            <a:r>
              <a:rPr sz="1150" b="0" i="0">
                <a:solidFill>
                  <a:srgbClr val="111111"/>
                </a:solidFill>
                <a:latin typeface="Times New Roman"/>
              </a:rPr>
              <a:t>Severity GOLD 1 / 2 / 3 / 4: </a:t>
            </a:r>
            <a:r>
              <a:rPr sz="1150" b="1" i="0">
                <a:solidFill>
                  <a:srgbClr val="111111"/>
                </a:solidFill>
                <a:latin typeface="Times New Roman"/>
              </a:rPr>
              <a:t>18% / 43% / 28% / 11%</a:t>
            </a:r>
          </a:p>
          <a:p>
            <a:pPr marL="164592" indent="-164592" algn="l">
              <a:spcAft>
                <a:spcPts val="100"/>
              </a:spcAft>
              <a:buChar char="•"/>
            </a:pPr>
            <a:r>
              <a:rPr sz="1150" b="0" i="0">
                <a:solidFill>
                  <a:srgbClr val="111111"/>
                </a:solidFill>
                <a:latin typeface="Times New Roman"/>
              </a:rPr>
              <a:t>Current smokers 19% · cooking smoke at home 32% · 8 cities</a:t>
            </a:r>
            <a:r>
              <a:rPr sz="1150" b="1" i="0">
                <a:solidFill>
                  <a:srgbClr val="111111"/>
                </a:solidFill>
                <a:latin typeface="Times New Roman"/>
              </a:rPr>
              <a:t/>
            </a:r>
            <a:r>
              <a:rPr sz="1150" b="0" i="0">
                <a:solidFill>
                  <a:srgbClr val="111111"/>
                </a:solidFill>
                <a:latin typeface="Times New Roman"/>
              </a:rPr>
              <a:t/>
            </a:r>
            <a:r>
              <a:rPr sz="1150" b="1" i="0">
                <a:solidFill>
                  <a:srgbClr val="111111"/>
                </a:solidFill>
                <a:latin typeface="Times New Roman"/>
              </a:rPr>
              <a:t/>
            </a:r>
            <a:r>
              <a:rPr sz="1150" b="0" i="0">
                <a:solidFill>
                  <a:srgbClr val="111111"/>
                </a:solidFill>
                <a:latin typeface="Times New Roman"/>
              </a:rPr>
              <a:t/>
            </a:r>
          </a:p>
        </p:txBody>
      </p:sp>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700" b="1" i="0">
                <a:solidFill>
                  <a:srgbClr val="111111"/>
                </a:solidFill>
                <a:latin typeface="Times New Roman"/>
              </a:rPr>
              <a:t>Honest by design:</a:t>
            </a:r>
          </a:p>
          <a:p>
            <a:pPr algn="ctr"/>
            <a:r>
              <a:rPr sz="1500" b="0" i="1">
                <a:solidFill>
                  <a:srgbClr val="111111"/>
                </a:solidFill>
                <a:latin typeface="Times New Roman"/>
              </a:rPr>
              <a:t>Air and weather are real; patients, watch readings and flare-ups are simulated, so the results prove the idea works, not clinical accuracy.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AI model: learn the body, borrow published science for the air</a:t>
            </a:r>
          </a:p>
        </p:txBody>
      </p:sp>
      <p:sp>
        <p:nvSpPr>
          <p:cNvPr id="10" name="Tag: What the Model Looks At"/>
          <p:cNvSpPr/>
          <p:nvPr/>
        </p:nvSpPr>
        <p:spPr>
          <a:xfrm>
            <a:off x="731520" y="2011680"/>
            <a:ext cx="5486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What the Model Looks At</a:t>
            </a:r>
          </a:p>
        </p:txBody>
      </p:sp>
      <p:graphicFrame>
        <p:nvGraphicFramePr>
          <p:cNvPr id="11" name="Inputs table"/>
          <p:cNvGraphicFramePr>
            <a:graphicFrameLocks noGrp="1"/>
          </p:cNvGraphicFramePr>
          <p:nvPr/>
        </p:nvGraphicFramePr>
        <p:xfrm>
          <a:off x="731520" y="2542032"/>
          <a:ext cx="5486400" cy="3008376"/>
        </p:xfrm>
        <a:graphic>
          <a:graphicData uri="http://schemas.openxmlformats.org/drawingml/2006/table">
            <a:tbl>
              <a:tblPr>
                <a:tableStyleId>{5940675A-B579-460E-94D1-54222C63F5DA}</a:tableStyleId>
              </a:tblPr>
              <a:tblGrid>
                <a:gridCol w="178308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tblGrid>
              <a:tr h="429768">
                <a:tc>
                  <a:txBody>
                    <a:bodyPr/>
                    <a:lstStyle/>
                    <a:p>
                      <a:pPr algn="ctr"/>
                      <a:r>
                        <a:rPr sz="1250" b="1" i="0">
                          <a:solidFill>
                            <a:srgbClr val="111111"/>
                          </a:solidFill>
                          <a:latin typeface="Times New Roman"/>
                        </a:rPr>
                        <a:t>Data input</a:t>
                      </a:r>
                    </a:p>
                  </a:txBody>
                  <a:tcPr marL="54864" marR="54864" marT="22860" marB="22860" anchor="ctr">
                    <a:solidFill>
                      <a:srgbClr val="8EA9DB"/>
                    </a:solidFill>
                  </a:tcPr>
                </a:tc>
                <a:tc>
                  <a:txBody>
                    <a:bodyPr/>
                    <a:lstStyle/>
                    <a:p>
                      <a:pPr algn="ctr"/>
                      <a:r>
                        <a:rPr sz="1250" b="1" i="0">
                          <a:solidFill>
                            <a:srgbClr val="111111"/>
                          </a:solidFill>
                          <a:latin typeface="Times New Roman"/>
                        </a:rPr>
                        <a:t>Signal the twin uses</a:t>
                      </a:r>
                    </a:p>
                  </a:txBody>
                  <a:tcPr marL="54864" marR="54864" marT="22860" marB="22860" anchor="ctr">
                    <a:solidFill>
                      <a:srgbClr val="8EA9DB"/>
                    </a:solidFill>
                  </a:tcPr>
                </a:tc>
                <a:extLst>
                  <a:ext uri="{0D108BD9-81ED-4DB2-BD59-A6C34878D82A}">
                    <a16:rowId xmlns:a16="http://schemas.microsoft.com/office/drawing/2014/main" val="10000"/>
                  </a:ext>
                </a:extLst>
              </a:tr>
              <a:tr h="429768">
                <a:tc>
                  <a:txBody>
                    <a:bodyPr/>
                    <a:lstStyle/>
                    <a:p>
                      <a:pPr algn="l"/>
                      <a:r>
                        <a:rPr sz="1150" b="0" i="0">
                          <a:solidFill>
                            <a:srgbClr val="111111"/>
                          </a:solidFill>
                          <a:latin typeface="Times New Roman"/>
                        </a:rPr>
                        <a:t>Breathing, oxygen, heart rate</a:t>
                      </a:r>
                    </a:p>
                  </a:txBody>
                  <a:tcPr marL="54864" marR="54864" marT="22860" marB="22860" anchor="ctr">
                    <a:solidFill>
                      <a:srgbClr val="FFFFFF"/>
                    </a:solidFill>
                  </a:tcPr>
                </a:tc>
                <a:tc>
                  <a:txBody>
                    <a:bodyPr/>
                    <a:lstStyle/>
                    <a:p>
                      <a:pPr algn="l"/>
                      <a:r>
                        <a:rPr sz="1150" b="0" i="0">
                          <a:solidFill>
                            <a:srgbClr val="111111"/>
                          </a:solidFill>
                          <a:latin typeface="Times New Roman"/>
                        </a:rPr>
                        <a:t>Change vs </a:t>
                      </a:r>
                      <a:r>
                        <a:rPr sz="1150" b="1" i="0">
                          <a:solidFill>
                            <a:srgbClr val="111111"/>
                          </a:solidFill>
                          <a:latin typeface="Times New Roman"/>
                        </a:rPr>
                        <a:t>own normal</a:t>
                      </a:r>
                      <a:r>
                        <a:rPr sz="1150" b="0" i="0">
                          <a:solidFill>
                            <a:srgbClr val="111111"/>
                          </a:solidFill>
                          <a:latin typeface="Times New Roman"/>
                        </a:rPr>
                        <a:t> (today, 3-day average, how unusual)</a:t>
                      </a:r>
                    </a:p>
                  </a:txBody>
                  <a:tcPr marL="54864" marR="54864" marT="22860" marB="22860" anchor="ctr">
                    <a:solidFill>
                      <a:srgbClr val="FFFFFF"/>
                    </a:solidFill>
                  </a:tcPr>
                </a:tc>
                <a:extLst>
                  <a:ext uri="{0D108BD9-81ED-4DB2-BD59-A6C34878D82A}">
                    <a16:rowId xmlns:a16="http://schemas.microsoft.com/office/drawing/2014/main" val="10001"/>
                  </a:ext>
                </a:extLst>
              </a:tr>
              <a:tr h="429768">
                <a:tc>
                  <a:txBody>
                    <a:bodyPr/>
                    <a:lstStyle/>
                    <a:p>
                      <a:pPr algn="l"/>
                      <a:r>
                        <a:rPr sz="1150" b="0" i="0">
                          <a:solidFill>
                            <a:srgbClr val="111111"/>
                          </a:solidFill>
                          <a:latin typeface="Times New Roman"/>
                        </a:rPr>
                        <a:t>Steps and sleep</a:t>
                      </a:r>
                    </a:p>
                  </a:txBody>
                  <a:tcPr marL="54864" marR="54864" marT="22860" marB="22860" anchor="ctr">
                    <a:solidFill>
                      <a:srgbClr val="FFFFFF"/>
                    </a:solidFill>
                  </a:tcPr>
                </a:tc>
                <a:tc>
                  <a:txBody>
                    <a:bodyPr/>
                    <a:lstStyle/>
                    <a:p>
                      <a:pPr algn="l"/>
                      <a:r>
                        <a:rPr sz="1150" b="0" i="0">
                          <a:solidFill>
                            <a:srgbClr val="111111"/>
                          </a:solidFill>
                          <a:latin typeface="Times New Roman"/>
                        </a:rPr>
                        <a:t>Drop vs own normal</a:t>
                      </a:r>
                    </a:p>
                  </a:txBody>
                  <a:tcPr marL="54864" marR="54864" marT="22860" marB="22860" anchor="ctr">
                    <a:solidFill>
                      <a:srgbClr val="FFFFFF"/>
                    </a:solidFill>
                  </a:tcPr>
                </a:tc>
                <a:extLst>
                  <a:ext uri="{0D108BD9-81ED-4DB2-BD59-A6C34878D82A}">
                    <a16:rowId xmlns:a16="http://schemas.microsoft.com/office/drawing/2014/main" val="10002"/>
                  </a:ext>
                </a:extLst>
              </a:tr>
              <a:tr h="429768">
                <a:tc>
                  <a:txBody>
                    <a:bodyPr/>
                    <a:lstStyle/>
                    <a:p>
                      <a:pPr algn="l"/>
                      <a:r>
                        <a:rPr sz="1150" b="0" i="0">
                          <a:solidFill>
                            <a:srgbClr val="111111"/>
                          </a:solidFill>
                          <a:latin typeface="Times New Roman"/>
                        </a:rPr>
                        <a:t>Inhalers</a:t>
                      </a:r>
                    </a:p>
                  </a:txBody>
                  <a:tcPr marL="54864" marR="54864" marT="22860" marB="22860" anchor="ctr">
                    <a:solidFill>
                      <a:srgbClr val="FFFFFF"/>
                    </a:solidFill>
                  </a:tcPr>
                </a:tc>
                <a:tc>
                  <a:txBody>
                    <a:bodyPr/>
                    <a:lstStyle/>
                    <a:p>
                      <a:pPr algn="l"/>
                      <a:r>
                        <a:rPr sz="1150" b="0" i="0">
                          <a:solidFill>
                            <a:srgbClr val="111111"/>
                          </a:solidFill>
                          <a:latin typeface="Times New Roman"/>
                        </a:rPr>
                        <a:t>Extra rescue puffs; % of daily doses taken this week</a:t>
                      </a:r>
                    </a:p>
                  </a:txBody>
                  <a:tcPr marL="54864" marR="54864" marT="22860" marB="22860" anchor="ctr">
                    <a:solidFill>
                      <a:srgbClr val="FFFFFF"/>
                    </a:solidFill>
                  </a:tcPr>
                </a:tc>
                <a:extLst>
                  <a:ext uri="{0D108BD9-81ED-4DB2-BD59-A6C34878D82A}">
                    <a16:rowId xmlns:a16="http://schemas.microsoft.com/office/drawing/2014/main" val="10003"/>
                  </a:ext>
                </a:extLst>
              </a:tr>
              <a:tr h="429768">
                <a:tc>
                  <a:txBody>
                    <a:bodyPr/>
                    <a:lstStyle/>
                    <a:p>
                      <a:pPr algn="l"/>
                      <a:r>
                        <a:rPr sz="1150" b="0" i="0">
                          <a:solidFill>
                            <a:srgbClr val="111111"/>
                          </a:solidFill>
                          <a:latin typeface="Times New Roman"/>
                        </a:rPr>
                        <a:t>Weather</a:t>
                      </a:r>
                    </a:p>
                  </a:txBody>
                  <a:tcPr marL="54864" marR="54864" marT="22860" marB="22860" anchor="ctr">
                    <a:solidFill>
                      <a:srgbClr val="FFFFFF"/>
                    </a:solidFill>
                  </a:tcPr>
                </a:tc>
                <a:tc>
                  <a:txBody>
                    <a:bodyPr/>
                    <a:lstStyle/>
                    <a:p>
                      <a:pPr algn="l"/>
                      <a:r>
                        <a:rPr sz="1150" b="0" i="0">
                          <a:solidFill>
                            <a:srgbClr val="111111"/>
                          </a:solidFill>
                          <a:latin typeface="Times New Roman"/>
                        </a:rPr>
                        <a:t>3-week temperature drop, night low, humid heat</a:t>
                      </a:r>
                    </a:p>
                  </a:txBody>
                  <a:tcPr marL="54864" marR="54864" marT="22860" marB="22860" anchor="ctr">
                    <a:solidFill>
                      <a:srgbClr val="FFFFFF"/>
                    </a:solidFill>
                  </a:tcPr>
                </a:tc>
                <a:extLst>
                  <a:ext uri="{0D108BD9-81ED-4DB2-BD59-A6C34878D82A}">
                    <a16:rowId xmlns:a16="http://schemas.microsoft.com/office/drawing/2014/main" val="10004"/>
                  </a:ext>
                </a:extLst>
              </a:tr>
              <a:tr h="429768">
                <a:tc>
                  <a:txBody>
                    <a:bodyPr/>
                    <a:lstStyle/>
                    <a:p>
                      <a:pPr algn="l"/>
                      <a:r>
                        <a:rPr sz="1150" b="0" i="0">
                          <a:solidFill>
                            <a:srgbClr val="111111"/>
                          </a:solidFill>
                          <a:latin typeface="Times New Roman"/>
                        </a:rPr>
                        <a:t>Health record</a:t>
                      </a:r>
                    </a:p>
                  </a:txBody>
                  <a:tcPr marL="54864" marR="54864" marT="22860" marB="22860" anchor="ctr">
                    <a:solidFill>
                      <a:srgbClr val="FFFFFF"/>
                    </a:solidFill>
                  </a:tcPr>
                </a:tc>
                <a:tc>
                  <a:txBody>
                    <a:bodyPr/>
                    <a:lstStyle/>
                    <a:p>
                      <a:pPr algn="l"/>
                      <a:r>
                        <a:rPr sz="1150" b="0" i="0">
                          <a:solidFill>
                            <a:srgbClr val="111111"/>
                          </a:solidFill>
                          <a:latin typeface="Times New Roman"/>
                        </a:rPr>
                        <a:t>Age, GOLD stage, past flare-ups, smoking, cooking smoke, eosinophils, other illnesses, BMI, flu vaccine, home oxygen</a:t>
                      </a:r>
                    </a:p>
                  </a:txBody>
                  <a:tcPr marL="54864" marR="54864" marT="22860" marB="22860" anchor="ctr">
                    <a:solidFill>
                      <a:srgbClr val="FFFFFF"/>
                    </a:solidFill>
                  </a:tcPr>
                </a:tc>
                <a:extLst>
                  <a:ext uri="{0D108BD9-81ED-4DB2-BD59-A6C34878D82A}">
                    <a16:rowId xmlns:a16="http://schemas.microsoft.com/office/drawing/2014/main" val="10005"/>
                  </a:ext>
                </a:extLst>
              </a:tr>
              <a:tr h="429768">
                <a:tc>
                  <a:txBody>
                    <a:bodyPr/>
                    <a:lstStyle/>
                    <a:p>
                      <a:pPr algn="l"/>
                      <a:r>
                        <a:rPr sz="1150" b="0" i="0">
                          <a:solidFill>
                            <a:srgbClr val="111111"/>
                          </a:solidFill>
                          <a:latin typeface="Times New Roman"/>
                        </a:rPr>
                        <a:t>Air (PM2.5)</a:t>
                      </a:r>
                    </a:p>
                  </a:txBody>
                  <a:tcPr marL="54864" marR="54864" marT="22860" marB="22860" anchor="ctr">
                    <a:solidFill>
                      <a:srgbClr val="FFFFFF"/>
                    </a:solidFill>
                  </a:tcPr>
                </a:tc>
                <a:tc>
                  <a:txBody>
                    <a:bodyPr/>
                    <a:lstStyle/>
                    <a:p>
                      <a:pPr algn="l"/>
                      <a:r>
                        <a:rPr sz="1150" b="0" i="0">
                          <a:solidFill>
                            <a:srgbClr val="111111"/>
                          </a:solidFill>
                          <a:latin typeface="Times New Roman"/>
                        </a:rPr>
                        <a:t>Published dose-response, </a:t>
                      </a:r>
                      <a:r>
                        <a:rPr sz="1150" b="1" i="0">
                          <a:solidFill>
                            <a:srgbClr val="111111"/>
                          </a:solidFill>
                          <a:latin typeface="Times New Roman"/>
                        </a:rPr>
                        <a:t>not learned</a:t>
                      </a:r>
                      <a:r>
                        <a:rPr sz="1150" b="0" i="0">
                          <a:solidFill>
                            <a:srgbClr val="111111"/>
                          </a:solidFill>
                          <a:latin typeface="Times New Roman"/>
                        </a:rPr>
                        <a:t>: +2.5% risk per 10 µg/m³</a:t>
                      </a:r>
                    </a:p>
                  </a:txBody>
                  <a:tcPr marL="54864" marR="54864" marT="22860" marB="22860" anchor="ctr">
                    <a:solidFill>
                      <a:srgbClr val="FFFFFF"/>
                    </a:solidFill>
                  </a:tcPr>
                </a:tc>
                <a:extLst>
                  <a:ext uri="{0D108BD9-81ED-4DB2-BD59-A6C34878D82A}">
                    <a16:rowId xmlns:a16="http://schemas.microsoft.com/office/drawing/2014/main" val="10006"/>
                  </a:ext>
                </a:extLst>
              </a:tr>
            </a:tbl>
          </a:graphicData>
        </a:graphic>
      </p:graphicFrame>
      <p:sp>
        <p:nvSpPr>
          <p:cNvPr id="12" name="Tag: Model Details"/>
          <p:cNvSpPr/>
          <p:nvPr/>
        </p:nvSpPr>
        <p:spPr>
          <a:xfrm>
            <a:off x="6446520" y="2011680"/>
            <a:ext cx="5029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Model Details</a:t>
            </a:r>
          </a:p>
        </p:txBody>
      </p:sp>
      <p:graphicFrame>
        <p:nvGraphicFramePr>
          <p:cNvPr id="13" name="Model table"/>
          <p:cNvGraphicFramePr>
            <a:graphicFrameLocks noGrp="1"/>
          </p:cNvGraphicFramePr>
          <p:nvPr/>
        </p:nvGraphicFramePr>
        <p:xfrm>
          <a:off x="6446520" y="2542032"/>
          <a:ext cx="5029200" cy="1972056"/>
        </p:xfrm>
        <a:graphic>
          <a:graphicData uri="http://schemas.openxmlformats.org/drawingml/2006/table">
            <a:tbl>
              <a:tblPr>
                <a:tableStyleId>{5940675A-B579-460E-94D1-54222C63F5DA}</a:tableStyleId>
              </a:tblPr>
              <a:tblGrid>
                <a:gridCol w="12344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93192">
                <a:tc>
                  <a:txBody>
                    <a:bodyPr/>
                    <a:lstStyle/>
                    <a:p>
                      <a:pPr algn="l"/>
                      <a:r>
                        <a:rPr sz="1150" b="1" i="0">
                          <a:solidFill>
                            <a:srgbClr val="111111"/>
                          </a:solidFill>
                          <a:latin typeface="Times New Roman"/>
                        </a:rPr>
                        <a:t>Algorithm</a:t>
                      </a:r>
                    </a:p>
                  </a:txBody>
                  <a:tcPr marL="54864" marR="54864" marT="22860" marB="22860" anchor="ctr">
                    <a:solidFill>
                      <a:srgbClr val="FFFFFF"/>
                    </a:solidFill>
                  </a:tcPr>
                </a:tc>
                <a:tc>
                  <a:txBody>
                    <a:bodyPr/>
                    <a:lstStyle/>
                    <a:p>
                      <a:pPr algn="l"/>
                      <a:r>
                        <a:rPr sz="1150" b="0" i="0">
                          <a:solidFill>
                            <a:srgbClr val="111111"/>
                          </a:solidFill>
                          <a:latin typeface="Times New Roman"/>
                        </a:rPr>
                        <a:t>LightGBM (gradient-boosted decision trees)</a:t>
                      </a:r>
                    </a:p>
                  </a:txBody>
                  <a:tcPr marL="54864" marR="54864" marT="22860" marB="22860" anchor="ctr">
                    <a:solidFill>
                      <a:srgbClr val="FFFFFF"/>
                    </a:solidFill>
                  </a:tcPr>
                </a:tc>
                <a:extLst>
                  <a:ext uri="{0D108BD9-81ED-4DB2-BD59-A6C34878D82A}">
                    <a16:rowId xmlns:a16="http://schemas.microsoft.com/office/drawing/2014/main" val="10000"/>
                  </a:ext>
                </a:extLst>
              </a:tr>
              <a:tr h="393192">
                <a:tc>
                  <a:txBody>
                    <a:bodyPr/>
                    <a:lstStyle/>
                    <a:p>
                      <a:pPr algn="l"/>
                      <a:r>
                        <a:rPr sz="1150" b="1" i="0">
                          <a:solidFill>
                            <a:srgbClr val="111111"/>
                          </a:solidFill>
                          <a:latin typeface="Times New Roman"/>
                        </a:rPr>
                        <a:t>Predicts</a:t>
                      </a:r>
                    </a:p>
                  </a:txBody>
                  <a:tcPr marL="54864" marR="54864" marT="22860" marB="22860" anchor="ctr">
                    <a:solidFill>
                      <a:srgbClr val="FFFFFF"/>
                    </a:solidFill>
                  </a:tcPr>
                </a:tc>
                <a:tc>
                  <a:txBody>
                    <a:bodyPr/>
                    <a:lstStyle/>
                    <a:p>
                      <a:pPr algn="l"/>
                      <a:r>
                        <a:rPr sz="1150" b="0" i="0">
                          <a:solidFill>
                            <a:srgbClr val="111111"/>
                          </a:solidFill>
                          <a:latin typeface="Times New Roman"/>
                        </a:rPr>
                        <a:t>Will a flare-up start in the next 1 to 3 days?</a:t>
                      </a:r>
                    </a:p>
                  </a:txBody>
                  <a:tcPr marL="54864" marR="54864" marT="22860" marB="22860" anchor="ctr">
                    <a:solidFill>
                      <a:srgbClr val="FFFFFF"/>
                    </a:solidFill>
                  </a:tcPr>
                </a:tc>
                <a:extLst>
                  <a:ext uri="{0D108BD9-81ED-4DB2-BD59-A6C34878D82A}">
                    <a16:rowId xmlns:a16="http://schemas.microsoft.com/office/drawing/2014/main" val="10001"/>
                  </a:ext>
                </a:extLst>
              </a:tr>
              <a:tr h="393192">
                <a:tc>
                  <a:txBody>
                    <a:bodyPr/>
                    <a:lstStyle/>
                    <a:p>
                      <a:pPr algn="l"/>
                      <a:r>
                        <a:rPr sz="1150" b="1" i="0">
                          <a:solidFill>
                            <a:srgbClr val="111111"/>
                          </a:solidFill>
                          <a:latin typeface="Times New Roman"/>
                        </a:rPr>
                        <a:t>Tested on</a:t>
                      </a:r>
                    </a:p>
                  </a:txBody>
                  <a:tcPr marL="54864" marR="54864" marT="22860" marB="22860" anchor="ctr">
                    <a:solidFill>
                      <a:srgbClr val="FFFFFF"/>
                    </a:solidFill>
                  </a:tcPr>
                </a:tc>
                <a:tc>
                  <a:txBody>
                    <a:bodyPr/>
                    <a:lstStyle/>
                    <a:p>
                      <a:pPr algn="l"/>
                      <a:r>
                        <a:rPr sz="1150" b="0" i="0">
                          <a:solidFill>
                            <a:srgbClr val="111111"/>
                          </a:solidFill>
                          <a:latin typeface="Times New Roman"/>
                        </a:rPr>
                        <a:t>126 patients never seen in training (294 trained)</a:t>
                      </a:r>
                    </a:p>
                  </a:txBody>
                  <a:tcPr marL="54864" marR="54864" marT="22860" marB="22860" anchor="ctr">
                    <a:solidFill>
                      <a:srgbClr val="FFFFFF"/>
                    </a:solidFill>
                  </a:tcPr>
                </a:tc>
                <a:extLst>
                  <a:ext uri="{0D108BD9-81ED-4DB2-BD59-A6C34878D82A}">
                    <a16:rowId xmlns:a16="http://schemas.microsoft.com/office/drawing/2014/main" val="10002"/>
                  </a:ext>
                </a:extLst>
              </a:tr>
              <a:tr h="393192">
                <a:tc>
                  <a:txBody>
                    <a:bodyPr/>
                    <a:lstStyle/>
                    <a:p>
                      <a:pPr algn="l"/>
                      <a:r>
                        <a:rPr sz="1150" b="1" i="0">
                          <a:solidFill>
                            <a:srgbClr val="111111"/>
                          </a:solidFill>
                          <a:latin typeface="Times New Roman"/>
                        </a:rPr>
                        <a:t>Safety rules</a:t>
                      </a:r>
                    </a:p>
                  </a:txBody>
                  <a:tcPr marL="54864" marR="54864" marT="22860" marB="22860" anchor="ctr">
                    <a:solidFill>
                      <a:srgbClr val="FFFFFF"/>
                    </a:solidFill>
                  </a:tcPr>
                </a:tc>
                <a:tc>
                  <a:txBody>
                    <a:bodyPr/>
                    <a:lstStyle/>
                    <a:p>
                      <a:pPr algn="l"/>
                      <a:r>
                        <a:rPr sz="1150" b="0" i="0">
                          <a:solidFill>
                            <a:srgbClr val="111111"/>
                          </a:solidFill>
                          <a:latin typeface="Times New Roman"/>
                        </a:rPr>
                        <a:t>Warning signs can never lower risk; more inhaler doses can never raise it</a:t>
                      </a:r>
                    </a:p>
                  </a:txBody>
                  <a:tcPr marL="54864" marR="54864" marT="22860" marB="22860" anchor="ctr">
                    <a:solidFill>
                      <a:srgbClr val="FFFFFF"/>
                    </a:solidFill>
                  </a:tcPr>
                </a:tc>
                <a:extLst>
                  <a:ext uri="{0D108BD9-81ED-4DB2-BD59-A6C34878D82A}">
                    <a16:rowId xmlns:a16="http://schemas.microsoft.com/office/drawing/2014/main" val="10003"/>
                  </a:ext>
                </a:extLst>
              </a:tr>
              <a:tr h="393192">
                <a:tc>
                  <a:txBody>
                    <a:bodyPr/>
                    <a:lstStyle/>
                    <a:p>
                      <a:pPr algn="l"/>
                      <a:r>
                        <a:rPr sz="1150" b="1" i="0">
                          <a:solidFill>
                            <a:srgbClr val="111111"/>
                          </a:solidFill>
                          <a:latin typeface="Times New Roman"/>
                        </a:rPr>
                        <a:t>Explanations</a:t>
                      </a:r>
                    </a:p>
                  </a:txBody>
                  <a:tcPr marL="54864" marR="54864" marT="22860" marB="22860" anchor="ctr">
                    <a:solidFill>
                      <a:srgbClr val="FFFFFF"/>
                    </a:solidFill>
                  </a:tcPr>
                </a:tc>
                <a:tc>
                  <a:txBody>
                    <a:bodyPr/>
                    <a:lstStyle/>
                    <a:p>
                      <a:pPr algn="l"/>
                      <a:r>
                        <a:rPr sz="1150" b="0" i="0">
                          <a:solidFill>
                            <a:srgbClr val="111111"/>
                          </a:solidFill>
                          <a:latin typeface="Times New Roman"/>
                        </a:rPr>
                        <a:t>Per-factor contributions (SHAP values): "what is pushing the risk"</a:t>
                      </a:r>
                    </a:p>
                  </a:txBody>
                  <a:tcPr marL="54864" marR="54864" marT="22860" marB="22860" anchor="ctr">
                    <a:solidFill>
                      <a:srgbClr val="FFFFFF"/>
                    </a:solidFill>
                  </a:tcPr>
                </a:tc>
                <a:extLst>
                  <a:ext uri="{0D108BD9-81ED-4DB2-BD59-A6C34878D82A}">
                    <a16:rowId xmlns:a16="http://schemas.microsoft.com/office/drawing/2014/main" val="10004"/>
                  </a:ext>
                </a:extLst>
              </a:tr>
            </a:tbl>
          </a:graphicData>
        </a:graphic>
      </p:graphicFrame>
      <p:sp>
        <p:nvSpPr>
          <p:cNvPr id="14" name="Sources box"/>
          <p:cNvSpPr/>
          <p:nvPr/>
        </p:nvSpPr>
        <p:spPr>
          <a:xfrm>
            <a:off x="6446520" y="4645152"/>
            <a:ext cx="5029200" cy="18288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ources text"/>
          <p:cNvSpPr txBox="1"/>
          <p:nvPr/>
        </p:nvSpPr>
        <p:spPr>
          <a:xfrm>
            <a:off x="6537960" y="4681728"/>
            <a:ext cx="4892040" cy="1783080"/>
          </a:xfrm>
          <a:prstGeom prst="rect">
            <a:avLst/>
          </a:prstGeom>
          <a:noFill/>
        </p:spPr>
        <p:txBody>
          <a:bodyPr wrap="square" lIns="54864" tIns="27432" rIns="54864" bIns="27432" anchor="t">
            <a:spAutoFit/>
          </a:bodyPr>
          <a:lstStyle/>
          <a:p>
            <a:pPr algn="l">
              <a:spcAft>
                <a:spcPts val="400"/>
              </a:spcAft>
              <a:buNone/>
            </a:pPr>
            <a:r>
              <a:rPr sz="1350" b="1" i="0">
                <a:solidFill>
                  <a:srgbClr val="111111"/>
                </a:solidFill>
                <a:latin typeface="Times New Roman"/>
              </a:rPr>
              <a:t>Every number has a source</a:t>
            </a:r>
          </a:p>
          <a:p>
            <a:pPr marL="164592" indent="-164592" algn="l">
              <a:spcAft>
                <a:spcPts val="400"/>
              </a:spcAft>
              <a:buChar char="•"/>
            </a:pPr>
            <a:r>
              <a:rPr sz="1250" b="0" i="0">
                <a:solidFill>
                  <a:srgbClr val="111111"/>
                </a:solidFill>
                <a:latin typeface="Times New Roman"/>
              </a:rPr>
              <a:t>Breathing rise before flare-ups: </a:t>
            </a:r>
            <a:r>
              <a:rPr sz="1250" b="0" i="1">
                <a:solidFill>
                  <a:srgbClr val="111111"/>
                </a:solidFill>
                <a:latin typeface="Times New Roman"/>
              </a:rPr>
              <a:t>Yañez 2012</a:t>
            </a:r>
          </a:p>
          <a:p>
            <a:pPr marL="164592" indent="-164592" algn="l">
              <a:spcAft>
                <a:spcPts val="400"/>
              </a:spcAft>
              <a:buChar char="•"/>
            </a:pPr>
            <a:r>
              <a:rPr sz="1250" b="0" i="0">
                <a:solidFill>
                  <a:srgbClr val="111111"/>
                </a:solidFill>
                <a:latin typeface="Times New Roman"/>
              </a:rPr>
              <a:t>Flare-up rates by severity: </a:t>
            </a:r>
            <a:r>
              <a:rPr sz="1250" b="0" i="1">
                <a:solidFill>
                  <a:srgbClr val="111111"/>
                </a:solidFill>
                <a:latin typeface="Times New Roman"/>
              </a:rPr>
              <a:t>ECLIPSE, Hurst 2010</a:t>
            </a:r>
          </a:p>
          <a:p>
            <a:pPr marL="164592" indent="-164592" algn="l">
              <a:spcAft>
                <a:spcPts val="400"/>
              </a:spcAft>
              <a:buChar char="•"/>
            </a:pPr>
            <a:r>
              <a:rPr sz="1250" b="0" i="0">
                <a:solidFill>
                  <a:srgbClr val="111111"/>
                </a:solidFill>
                <a:latin typeface="Times New Roman"/>
              </a:rPr>
              <a:t>Eosinophils ≥340/µL: </a:t>
            </a:r>
            <a:r>
              <a:rPr sz="1250" b="1" i="0">
                <a:solidFill>
                  <a:srgbClr val="111111"/>
                </a:solidFill>
                <a:latin typeface="Times New Roman"/>
              </a:rPr>
              <a:t>1.76×</a:t>
            </a:r>
            <a:r>
              <a:rPr sz="1250" b="0" i="0">
                <a:solidFill>
                  <a:srgbClr val="111111"/>
                </a:solidFill>
                <a:latin typeface="Times New Roman"/>
              </a:rPr>
              <a:t> flare-ups </a:t>
            </a:r>
            <a:r>
              <a:rPr sz="1250" b="0" i="1">
                <a:solidFill>
                  <a:srgbClr val="111111"/>
                </a:solidFill>
                <a:latin typeface="Times New Roman"/>
              </a:rPr>
              <a:t>(Vedel-Krogh 2016)</a:t>
            </a:r>
          </a:p>
          <a:p>
            <a:pPr marL="164592" indent="-164592" algn="l">
              <a:spcAft>
                <a:spcPts val="400"/>
              </a:spcAft>
              <a:buChar char="•"/>
            </a:pPr>
            <a:r>
              <a:rPr sz="1250" b="0" i="0">
                <a:solidFill>
                  <a:srgbClr val="111111"/>
                </a:solidFill>
                <a:latin typeface="Times New Roman"/>
              </a:rPr>
              <a:t>Still smoking: </a:t>
            </a:r>
            <a:r>
              <a:rPr sz="1250" b="1" i="0">
                <a:solidFill>
                  <a:srgbClr val="111111"/>
                </a:solidFill>
                <a:latin typeface="Times New Roman"/>
              </a:rPr>
              <a:t>1.28×</a:t>
            </a:r>
            <a:r>
              <a:rPr sz="1250" b="0" i="0">
                <a:solidFill>
                  <a:srgbClr val="111111"/>
                </a:solidFill>
                <a:latin typeface="Times New Roman"/>
              </a:rPr>
              <a:t> </a:t>
            </a:r>
            <a:r>
              <a:rPr sz="1250" b="0" i="1">
                <a:solidFill>
                  <a:srgbClr val="111111"/>
                </a:solidFill>
                <a:latin typeface="Times New Roman"/>
              </a:rPr>
              <a:t>(Au 2009)</a:t>
            </a:r>
            <a:r>
              <a:rPr sz="1250" b="0" i="0">
                <a:solidFill>
                  <a:srgbClr val="111111"/>
                </a:solidFill>
                <a:latin typeface="Times New Roman"/>
              </a:rPr>
              <a:t> · PM2.5: </a:t>
            </a:r>
            <a:r>
              <a:rPr sz="1250" b="0" i="1">
                <a:solidFill>
                  <a:srgbClr val="111111"/>
                </a:solidFill>
                <a:latin typeface="Times New Roman"/>
              </a:rPr>
              <a:t>DeVries 2017</a:t>
            </a:r>
          </a:p>
          <a:p>
            <a:pPr marL="164592" indent="-164592" algn="l">
              <a:spcAft>
                <a:spcPts val="400"/>
              </a:spcAft>
              <a:buChar char="•"/>
            </a:pPr>
            <a:r>
              <a:rPr sz="1250" b="0" i="0">
                <a:solidFill>
                  <a:srgbClr val="111111"/>
                </a:solidFill>
                <a:latin typeface="Times New Roman"/>
              </a:rPr>
              <a:t>Anything unsourced is labelled </a:t>
            </a:r>
            <a:r>
              <a:rPr sz="1250" b="1" i="0">
                <a:solidFill>
                  <a:srgbClr val="111111"/>
                </a:solidFill>
                <a:latin typeface="Times New Roman"/>
              </a:rPr>
              <a:t>ASSUMPTION</a:t>
            </a:r>
            <a:r>
              <a:rPr sz="1250" b="0" i="0">
                <a:solidFill>
                  <a:srgbClr val="111111"/>
                </a:solidFill>
                <a:latin typeface="Times New Roman"/>
              </a:rPr>
              <a:t> in the code</a:t>
            </a:r>
          </a:p>
        </p:txBody>
      </p:sp>
      <p:sp>
        <p:nvSpPr>
          <p:cNvPr id="16" name="Tech stack box"/>
          <p:cNvSpPr/>
          <p:nvPr/>
        </p:nvSpPr>
        <p:spPr>
          <a:xfrm>
            <a:off x="731520" y="5650992"/>
            <a:ext cx="5486400" cy="822960"/>
          </a:xfrm>
          <a:prstGeom prst="roundRect">
            <a:avLst>
              <a:gd name="adj" fmla="val 2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2960" y="5669280"/>
            <a:ext cx="5349240" cy="786384"/>
          </a:xfrm>
          <a:prstGeom prst="rect">
            <a:avLst/>
          </a:prstGeom>
          <a:noFill/>
        </p:spPr>
        <p:txBody>
          <a:bodyPr wrap="square" lIns="54864" tIns="27432" rIns="54864" bIns="27432" anchor="ctr">
            <a:spAutoFit/>
          </a:bodyPr>
          <a:lstStyle/>
          <a:p>
            <a:pPr algn="l">
              <a:spcAft>
                <a:spcPts val="200"/>
              </a:spcAft>
              <a:buNone/>
            </a:pPr>
            <a:r>
              <a:rPr sz="1150" b="1" i="0">
                <a:solidFill>
                  <a:srgbClr val="111111"/>
                </a:solidFill>
                <a:latin typeface="Times New Roman"/>
              </a:rPr>
              <a:t>Tech stack:</a:t>
            </a:r>
            <a:r>
              <a:rPr sz="1150" b="0" i="0">
                <a:solidFill>
                  <a:srgbClr val="111111"/>
                </a:solidFill>
                <a:latin typeface="Times New Roman"/>
              </a:rPr>
              <a:t> Python · pandas · LightGBM · scikit-learn · Streamlit · Plotly · Synthea (Java)</a:t>
            </a:r>
          </a:p>
          <a:p>
            <a:pPr algn="l">
              <a:spcAft>
                <a:spcPts val="200"/>
              </a:spcAft>
              <a:buNone/>
            </a:pPr>
            <a:r>
              <a:rPr sz="1150" b="1" i="0">
                <a:solidFill>
                  <a:srgbClr val="111111"/>
                </a:solidFill>
                <a:latin typeface="Times New Roman"/>
              </a:rPr>
              <a:t>Open source:</a:t>
            </a:r>
            <a:r>
              <a:rPr sz="1150" b="0" i="0">
                <a:solidFill>
                  <a:srgbClr val="111111"/>
                </a:solidFill>
                <a:latin typeface="Times New Roman"/>
              </a:rPr>
              <a:t> MIT licence; whole pipeline rebuilds with one command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Results: 2 in 3 flare-ups flagged 1 to 3 days ahead</a:t>
            </a:r>
          </a:p>
        </p:txBody>
      </p:sp>
      <p:sp>
        <p:nvSpPr>
          <p:cNvPr id="10" name="KPI Accuracy score (AUROC)"/>
          <p:cNvSpPr/>
          <p:nvPr/>
        </p:nvSpPr>
        <p:spPr>
          <a:xfrm>
            <a:off x="731520"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3400" b="1" i="0">
                <a:solidFill>
                  <a:srgbClr val="0B2A78"/>
                </a:solidFill>
                <a:latin typeface="Times New Roman"/>
              </a:rPr>
              <a:t>0.815</a:t>
            </a:r>
          </a:p>
          <a:p>
            <a:pPr algn="ctr"/>
            <a:r>
              <a:rPr sz="1300" b="1" i="0">
                <a:solidFill>
                  <a:srgbClr val="111111"/>
                </a:solidFill>
                <a:latin typeface="Times New Roman"/>
              </a:rPr>
              <a:t>Accuracy score (AUROC)</a:t>
            </a:r>
          </a:p>
          <a:p>
            <a:pPr algn="ctr"/>
            <a:r>
              <a:rPr sz="1100" b="0" i="1">
                <a:solidFill>
                  <a:srgbClr val="111111"/>
                </a:solidFill>
                <a:latin typeface="Times New Roman"/>
              </a:rPr>
              <a:t>published tools: 0.68 to 0.85</a:t>
            </a:r>
          </a:p>
        </p:txBody>
      </p:sp>
      <p:sp>
        <p:nvSpPr>
          <p:cNvPr id="11" name="KPI Flare-ups warned"/>
          <p:cNvSpPr/>
          <p:nvPr/>
        </p:nvSpPr>
        <p:spPr>
          <a:xfrm>
            <a:off x="3447288"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3400" b="1" i="0">
                <a:solidFill>
                  <a:srgbClr val="0B2A78"/>
                </a:solidFill>
                <a:latin typeface="Times New Roman"/>
              </a:rPr>
              <a:t>67%</a:t>
            </a:r>
          </a:p>
          <a:p>
            <a:pPr algn="ctr"/>
            <a:r>
              <a:rPr sz="1300" b="1" i="0">
                <a:solidFill>
                  <a:srgbClr val="111111"/>
                </a:solidFill>
                <a:latin typeface="Times New Roman"/>
              </a:rPr>
              <a:t>Flare-ups warned</a:t>
            </a:r>
          </a:p>
          <a:p>
            <a:pPr algn="ctr"/>
            <a:r>
              <a:rPr sz="1100" b="0" i="1">
                <a:solidFill>
                  <a:srgbClr val="111111"/>
                </a:solidFill>
                <a:latin typeface="Times New Roman"/>
              </a:rPr>
              <a:t>1 to 3 days ahead</a:t>
            </a:r>
          </a:p>
        </p:txBody>
      </p:sp>
      <p:sp>
        <p:nvSpPr>
          <p:cNvPr id="12" name="KPI False alerts"/>
          <p:cNvSpPr/>
          <p:nvPr/>
        </p:nvSpPr>
        <p:spPr>
          <a:xfrm>
            <a:off x="6163056"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3400" b="1" i="0">
                <a:solidFill>
                  <a:srgbClr val="0B2A78"/>
                </a:solidFill>
                <a:latin typeface="Times New Roman"/>
              </a:rPr>
              <a:t>0.91</a:t>
            </a:r>
          </a:p>
          <a:p>
            <a:pPr algn="ctr"/>
            <a:r>
              <a:rPr sz="1300" b="1" i="0">
                <a:solidFill>
                  <a:srgbClr val="111111"/>
                </a:solidFill>
                <a:latin typeface="Times New Roman"/>
              </a:rPr>
              <a:t>False alerts</a:t>
            </a:r>
          </a:p>
          <a:p>
            <a:pPr algn="ctr"/>
            <a:r>
              <a:rPr sz="1100" b="0" i="1">
                <a:solidFill>
                  <a:srgbClr val="111111"/>
                </a:solidFill>
                <a:latin typeface="Times New Roman"/>
              </a:rPr>
              <a:t>per patient per month</a:t>
            </a:r>
          </a:p>
        </p:txBody>
      </p:sp>
      <p:sp>
        <p:nvSpPr>
          <p:cNvPr id="13" name="KPI Unseen test patients"/>
          <p:cNvSpPr/>
          <p:nvPr/>
        </p:nvSpPr>
        <p:spPr>
          <a:xfrm>
            <a:off x="8878824"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3400" b="1" i="0">
                <a:solidFill>
                  <a:srgbClr val="0B2A78"/>
                </a:solidFill>
                <a:latin typeface="Times New Roman"/>
              </a:rPr>
              <a:t>126</a:t>
            </a:r>
          </a:p>
          <a:p>
            <a:pPr algn="ctr"/>
            <a:r>
              <a:rPr sz="1300" b="1" i="0">
                <a:solidFill>
                  <a:srgbClr val="111111"/>
                </a:solidFill>
                <a:latin typeface="Times New Roman"/>
              </a:rPr>
              <a:t>Unseen test patients</a:t>
            </a:r>
          </a:p>
          <a:p>
            <a:pPr algn="ctr"/>
            <a:r>
              <a:rPr sz="1100" b="0" i="1">
                <a:solidFill>
                  <a:srgbClr val="111111"/>
                </a:solidFill>
                <a:latin typeface="Times New Roman"/>
              </a:rPr>
              <a:t>never used in training</a:t>
            </a:r>
          </a:p>
        </p:txBody>
      </p:sp>
      <p:graphicFrame>
        <p:nvGraphicFramePr>
          <p:cNvPr id="14" name="Streams chart"/>
          <p:cNvGraphicFramePr>
            <a:graphicFrameLocks noGrp="1"/>
          </p:cNvGraphicFramePr>
          <p:nvPr/>
        </p:nvGraphicFramePr>
        <p:xfrm>
          <a:off x="731520" y="3291840"/>
          <a:ext cx="5120640" cy="248716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Factors chart"/>
          <p:cNvGraphicFramePr>
            <a:graphicFrameLocks noGrp="1"/>
          </p:cNvGraphicFramePr>
          <p:nvPr/>
        </p:nvGraphicFramePr>
        <p:xfrm>
          <a:off x="6035040" y="3291840"/>
          <a:ext cx="5440680" cy="2487168"/>
        </p:xfrm>
        <a:graphic>
          <a:graphicData uri="http://schemas.openxmlformats.org/drawingml/2006/chart">
            <c:chart xmlns:c="http://schemas.openxmlformats.org/drawingml/2006/chart" xmlns:r="http://schemas.openxmlformats.org/officeDocument/2006/relationships" r:id="rId5"/>
          </a:graphicData>
        </a:graphic>
      </p:graphicFrame>
      <p:sp>
        <p:nvSpPr>
          <p:cNvPr id="16"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700" b="1" i="0">
                <a:solidFill>
                  <a:srgbClr val="111111"/>
                </a:solidFill>
                <a:latin typeface="Times New Roman"/>
              </a:rPr>
              <a:t>What this means:</a:t>
            </a:r>
          </a:p>
          <a:p>
            <a:pPr algn="ctr"/>
            <a:r>
              <a:rPr sz="1500" b="0" i="1">
                <a:solidFill>
                  <a:srgbClr val="111111"/>
                </a:solidFill>
                <a:latin typeface="Times New Roman"/>
              </a:rPr>
              <a:t>Body signals carry the early warning; the health record sets each person's starting risk; air and weather explain the seasons.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The doctor's dashboard: who to call today, and why</a:t>
            </a:r>
          </a:p>
        </p:txBody>
      </p:sp>
      <p:sp>
        <p:nvSpPr>
          <p:cNvPr id="10" name="Tag: Overview: all 400 patients"/>
          <p:cNvSpPr/>
          <p:nvPr/>
        </p:nvSpPr>
        <p:spPr>
          <a:xfrm>
            <a:off x="7315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Overview: all 420 patients</a:t>
            </a:r>
          </a:p>
        </p:txBody>
      </p:sp>
      <p:sp>
        <p:nvSpPr>
          <p:cNvPr id="11" name="Tag: One patient in detail"/>
          <p:cNvSpPr/>
          <p:nvPr/>
        </p:nvSpPr>
        <p:spPr>
          <a:xfrm>
            <a:off x="62179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One patient in detail</a:t>
            </a:r>
          </a:p>
        </p:txBody>
      </p:sp>
      <p:pic>
        <p:nvPicPr>
          <p:cNvPr id="12" name="Overview screenshot" descr="overview.png"/>
          <p:cNvPicPr>
            <a:picLocks noChangeAspect="1"/>
          </p:cNvPicPr>
          <p:nvPr/>
        </p:nvPicPr>
        <p:blipFill>
          <a:blip r:embed="rId4"/>
          <a:stretch>
            <a:fillRect/>
          </a:stretch>
        </p:blipFill>
        <p:spPr>
          <a:xfrm>
            <a:off x="731520" y="2566576"/>
            <a:ext cx="5257800" cy="2767263"/>
          </a:xfrm>
          <a:prstGeom prst="rect">
            <a:avLst/>
          </a:prstGeom>
          <a:ln w="9525">
            <a:solidFill>
              <a:srgbClr val="BFBFBF"/>
            </a:solidFill>
          </a:ln>
        </p:spPr>
      </p:pic>
      <p:pic>
        <p:nvPicPr>
          <p:cNvPr id="13" name="Patient screenshot" descr="patient.png"/>
          <p:cNvPicPr>
            <a:picLocks noChangeAspect="1"/>
          </p:cNvPicPr>
          <p:nvPr/>
        </p:nvPicPr>
        <p:blipFill>
          <a:blip r:embed="rId5"/>
          <a:stretch>
            <a:fillRect/>
          </a:stretch>
        </p:blipFill>
        <p:spPr>
          <a:xfrm>
            <a:off x="6217920" y="2821779"/>
            <a:ext cx="5257800" cy="2256856"/>
          </a:xfrm>
          <a:prstGeom prst="rect">
            <a:avLst/>
          </a:prstGeom>
          <a:ln w="9525">
            <a:solidFill>
              <a:srgbClr val="BFBFBF"/>
            </a:solidFill>
          </a:ln>
        </p:spPr>
      </p:pic>
      <p:sp>
        <p:nvSpPr>
          <p:cNvPr id="14" name="Overview notes box"/>
          <p:cNvSpPr/>
          <p:nvPr/>
        </p:nvSpPr>
        <p:spPr>
          <a:xfrm>
            <a:off x="7315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60" y="5559552"/>
            <a:ext cx="5120640" cy="914400"/>
          </a:xfrm>
          <a:prstGeom prst="rect">
            <a:avLst/>
          </a:prstGeom>
          <a:noFill/>
        </p:spPr>
        <p:txBody>
          <a:bodyPr wrap="square" lIns="54864" tIns="27432" rIns="54864" bIns="27432" anchor="t">
            <a:spAutoFit/>
          </a:bodyPr>
          <a:lstStyle/>
          <a:p>
            <a:pPr marL="164592" indent="-164592" algn="l">
              <a:spcAft>
                <a:spcPts val="200"/>
              </a:spcAft>
              <a:buChar char="•"/>
            </a:pPr>
            <a:r>
              <a:rPr sz="1200" b="1" i="0">
                <a:solidFill>
                  <a:srgbClr val="111111"/>
                </a:solidFill>
                <a:latin typeface="Times New Roman"/>
              </a:rPr>
              <a:t>Call these patients today</a:t>
            </a:r>
            <a:r>
              <a:rPr sz="1200" b="0" i="0">
                <a:solidFill>
                  <a:srgbClr val="111111"/>
                </a:solidFill>
                <a:latin typeface="Times New Roman"/>
              </a:rPr>
              <a:t>: ranked by risk, with the main reason and key record facts</a:t>
            </a:r>
          </a:p>
          <a:p>
            <a:pPr marL="164592" indent="-164592" algn="l">
              <a:spcAft>
                <a:spcPts val="200"/>
              </a:spcAft>
              <a:buChar char="•"/>
            </a:pPr>
            <a:r>
              <a:rPr sz="1200" b="0" i="0">
                <a:solidFill>
                  <a:srgbClr val="111111"/>
                </a:solidFill>
                <a:latin typeface="Times New Roman"/>
              </a:rPr>
              <a:t>India map of risk and air; filter by age group; plain-language guide on every page</a:t>
            </a:r>
          </a:p>
        </p:txBody>
      </p:sp>
      <p:sp>
        <p:nvSpPr>
          <p:cNvPr id="16" name="Patient notes box"/>
          <p:cNvSpPr/>
          <p:nvPr/>
        </p:nvSpPr>
        <p:spPr>
          <a:xfrm>
            <a:off x="62179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309360" y="5559552"/>
            <a:ext cx="5120640" cy="914400"/>
          </a:xfrm>
          <a:prstGeom prst="rect">
            <a:avLst/>
          </a:prstGeom>
          <a:noFill/>
        </p:spPr>
        <p:txBody>
          <a:bodyPr wrap="square" lIns="54864" tIns="27432" rIns="54864" bIns="27432" anchor="t">
            <a:spAutoFit/>
          </a:bodyPr>
          <a:lstStyle/>
          <a:p>
            <a:pPr marL="164592" indent="-164592" algn="l">
              <a:spcAft>
                <a:spcPts val="200"/>
              </a:spcAft>
              <a:buChar char="•"/>
            </a:pPr>
            <a:r>
              <a:rPr sz="1200" b="0" i="0">
                <a:solidFill>
                  <a:srgbClr val="111111"/>
                </a:solidFill>
                <a:latin typeface="Times New Roman"/>
              </a:rPr>
              <a:t>Risk dial with the alert line and the change since yesterday</a:t>
            </a:r>
          </a:p>
          <a:p>
            <a:pPr marL="164592" indent="-164592" algn="l">
              <a:spcAft>
                <a:spcPts val="200"/>
              </a:spcAft>
              <a:buChar char="•"/>
            </a:pPr>
            <a:r>
              <a:rPr sz="1200" b="0" i="0">
                <a:solidFill>
                  <a:srgbClr val="111111"/>
                </a:solidFill>
                <a:latin typeface="Times New Roman"/>
              </a:rPr>
              <a:t>Today's readings vs </a:t>
            </a:r>
            <a:r>
              <a:rPr sz="1200" b="1" i="0">
                <a:solidFill>
                  <a:srgbClr val="111111"/>
                </a:solidFill>
                <a:latin typeface="Times New Roman"/>
              </a:rPr>
              <a:t>own normal</a:t>
            </a:r>
            <a:r>
              <a:rPr sz="1200" b="0" i="0">
                <a:solidFill>
                  <a:srgbClr val="111111"/>
                </a:solidFill>
                <a:latin typeface="Times New Roman"/>
              </a:rPr>
              <a:t>: red means worse than usual</a:t>
            </a:r>
          </a:p>
          <a:p>
            <a:pPr marL="164592" indent="-164592" algn="l">
              <a:spcAft>
                <a:spcPts val="200"/>
              </a:spcAft>
              <a:buChar char="•"/>
            </a:pPr>
            <a:r>
              <a:rPr sz="1200" b="1" i="0">
                <a:solidFill>
                  <a:srgbClr val="111111"/>
                </a:solidFill>
                <a:latin typeface="Times New Roman"/>
              </a:rPr>
              <a:t>What would lower the risk</a:t>
            </a:r>
            <a:r>
              <a:rPr sz="1200" b="0" i="0">
                <a:solidFill>
                  <a:srgbClr val="111111"/>
                </a:solidFill>
                <a:latin typeface="Times New Roman"/>
              </a:rPr>
              <a:t>: e.g. air purifier 49% → 43%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Health record in every view, and a lab to test advice before giving it</a:t>
            </a:r>
          </a:p>
        </p:txBody>
      </p:sp>
      <p:sp>
        <p:nvSpPr>
          <p:cNvPr id="10" name="Tag: Health Record (EHR)"/>
          <p:cNvSpPr/>
          <p:nvPr/>
        </p:nvSpPr>
        <p:spPr>
          <a:xfrm>
            <a:off x="731520" y="2011680"/>
            <a:ext cx="512064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Health Record (EHR)</a:t>
            </a:r>
          </a:p>
        </p:txBody>
      </p:sp>
      <p:pic>
        <p:nvPicPr>
          <p:cNvPr id="11" name="EHR screenshot" descr="ehr.png"/>
          <p:cNvPicPr>
            <a:picLocks noChangeAspect="1"/>
          </p:cNvPicPr>
          <p:nvPr/>
        </p:nvPicPr>
        <p:blipFill>
          <a:blip r:embed="rId4"/>
          <a:stretch>
            <a:fillRect/>
          </a:stretch>
        </p:blipFill>
        <p:spPr>
          <a:xfrm>
            <a:off x="731520" y="2594152"/>
            <a:ext cx="5120640" cy="1843430"/>
          </a:xfrm>
          <a:prstGeom prst="rect">
            <a:avLst/>
          </a:prstGeom>
          <a:ln w="9525">
            <a:solidFill>
              <a:srgbClr val="BFBFBF"/>
            </a:solidFill>
          </a:ln>
        </p:spPr>
      </p:pic>
      <p:sp>
        <p:nvSpPr>
          <p:cNvPr id="12" name="EHR notes box"/>
          <p:cNvSpPr/>
          <p:nvPr/>
        </p:nvSpPr>
        <p:spPr>
          <a:xfrm>
            <a:off x="731520" y="4800600"/>
            <a:ext cx="5120640" cy="1664208"/>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4864608"/>
            <a:ext cx="4983480" cy="1572768"/>
          </a:xfrm>
          <a:prstGeom prst="rect">
            <a:avLst/>
          </a:prstGeom>
          <a:noFill/>
        </p:spPr>
        <p:txBody>
          <a:bodyPr wrap="square" lIns="54864" tIns="27432" rIns="54864" bIns="27432" anchor="t">
            <a:spAutoFit/>
          </a:bodyPr>
          <a:lstStyle/>
          <a:p>
            <a:pPr algn="l">
              <a:spcAft>
                <a:spcPts val="400"/>
              </a:spcAft>
              <a:buNone/>
            </a:pPr>
            <a:r>
              <a:rPr sz="1400" b="1" i="0">
                <a:solidFill>
                  <a:srgbClr val="111111"/>
                </a:solidFill>
                <a:latin typeface="Times New Roman"/>
              </a:rPr>
              <a:t>The fixed part of the twin</a:t>
            </a:r>
          </a:p>
          <a:p>
            <a:pPr marL="164592" indent="-164592" algn="l">
              <a:spcAft>
                <a:spcPts val="400"/>
              </a:spcAft>
              <a:buChar char="•"/>
            </a:pPr>
            <a:r>
              <a:rPr sz="1300" b="0" i="0">
                <a:solidFill>
                  <a:srgbClr val="111111"/>
                </a:solidFill>
                <a:latin typeface="Times New Roman"/>
              </a:rPr>
              <a:t>Diagnosis, risk factors, blood tests, other illnesses, medicines</a:t>
            </a:r>
          </a:p>
          <a:p>
            <a:pPr marL="164592" indent="-164592" algn="l">
              <a:spcAft>
                <a:spcPts val="400"/>
              </a:spcAft>
              <a:buChar char="•"/>
            </a:pPr>
            <a:r>
              <a:rPr sz="1300" b="0" i="0">
                <a:solidFill>
                  <a:srgbClr val="111111"/>
                </a:solidFill>
                <a:latin typeface="Times New Roman"/>
              </a:rPr>
              <a:t>Shows how much the record </a:t>
            </a:r>
            <a:r>
              <a:rPr sz="1300" b="1" i="0">
                <a:solidFill>
                  <a:srgbClr val="111111"/>
                </a:solidFill>
                <a:latin typeface="Times New Roman"/>
              </a:rPr>
              <a:t>raises or lowers</a:t>
            </a:r>
            <a:r>
              <a:rPr sz="1300" b="0" i="0">
                <a:solidFill>
                  <a:srgbClr val="111111"/>
                </a:solidFill>
                <a:latin typeface="Times New Roman"/>
              </a:rPr>
              <a:t> today's risk</a:t>
            </a:r>
          </a:p>
          <a:p>
            <a:pPr marL="164592" indent="-164592" algn="l">
              <a:spcAft>
                <a:spcPts val="400"/>
              </a:spcAft>
              <a:buChar char="•"/>
            </a:pPr>
            <a:r>
              <a:rPr sz="1300" b="0" i="0">
                <a:solidFill>
                  <a:srgbClr val="111111"/>
                </a:solidFill>
                <a:latin typeface="Times New Roman"/>
              </a:rPr>
              <a:t>Record facts also appear on the call list, what-if lab and new-person check</a:t>
            </a:r>
          </a:p>
        </p:txBody>
      </p:sp>
      <p:sp>
        <p:nvSpPr>
          <p:cNvPr id="14" name="Tag: What-if Lab"/>
          <p:cNvSpPr/>
          <p:nvPr/>
        </p:nvSpPr>
        <p:spPr>
          <a:xfrm>
            <a:off x="6080760" y="2011680"/>
            <a:ext cx="539496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What-if Lab</a:t>
            </a:r>
          </a:p>
        </p:txBody>
      </p:sp>
      <p:pic>
        <p:nvPicPr>
          <p:cNvPr id="15" name="What-if screenshot" descr="whatif.png"/>
          <p:cNvPicPr>
            <a:picLocks noChangeAspect="1"/>
          </p:cNvPicPr>
          <p:nvPr/>
        </p:nvPicPr>
        <p:blipFill>
          <a:blip r:embed="rId5"/>
          <a:stretch>
            <a:fillRect/>
          </a:stretch>
        </p:blipFill>
        <p:spPr>
          <a:xfrm>
            <a:off x="6520420" y="2487168"/>
            <a:ext cx="4515638" cy="3063239"/>
          </a:xfrm>
          <a:prstGeom prst="rect">
            <a:avLst/>
          </a:prstGeom>
          <a:ln w="9525">
            <a:solidFill>
              <a:srgbClr val="BFBFBF"/>
            </a:solidFill>
          </a:ln>
        </p:spPr>
      </p:pic>
      <p:sp>
        <p:nvSpPr>
          <p:cNvPr id="16" name="TextBox 15"/>
          <p:cNvSpPr txBox="1"/>
          <p:nvPr/>
        </p:nvSpPr>
        <p:spPr>
          <a:xfrm>
            <a:off x="6080760" y="5596128"/>
            <a:ext cx="5394960" cy="868680"/>
          </a:xfrm>
          <a:prstGeom prst="rect">
            <a:avLst/>
          </a:prstGeom>
          <a:noFill/>
        </p:spPr>
        <p:txBody>
          <a:bodyPr wrap="square" lIns="54864" tIns="27432" rIns="54864" bIns="27432" anchor="t">
            <a:spAutoFit/>
          </a:bodyPr>
          <a:lstStyle/>
          <a:p>
            <a:pPr marL="164592" indent="-164592" algn="l">
              <a:spcAft>
                <a:spcPts val="200"/>
              </a:spcAft>
              <a:buChar char="•"/>
            </a:pPr>
            <a:r>
              <a:rPr sz="1200" b="0" i="0">
                <a:solidFill>
                  <a:srgbClr val="111111"/>
                </a:solidFill>
                <a:latin typeface="Times New Roman"/>
              </a:rPr>
              <a:t>One click scenarios: </a:t>
            </a:r>
            <a:r>
              <a:rPr sz="1200" b="1" i="0">
                <a:solidFill>
                  <a:srgbClr val="111111"/>
                </a:solidFill>
                <a:latin typeface="Times New Roman"/>
              </a:rPr>
              <a:t>smog week, cold snap, stopped inhaler, early warning signs, perfect week</a:t>
            </a:r>
          </a:p>
          <a:p>
            <a:pPr marL="164592" indent="-164592" algn="l">
              <a:spcAft>
                <a:spcPts val="200"/>
              </a:spcAft>
              <a:buChar char="•"/>
            </a:pPr>
            <a:r>
              <a:rPr sz="1200" b="0" i="0">
                <a:solidFill>
                  <a:srgbClr val="111111"/>
                </a:solidFill>
                <a:latin typeface="Times New Roman"/>
              </a:rPr>
              <a:t>Sliders for body signals, inhaler, air, weather and the record; risk re-scores instantly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Check a new person in minutes, and see every value the twin used</a:t>
            </a:r>
          </a:p>
        </p:txBody>
      </p:sp>
      <p:sp>
        <p:nvSpPr>
          <p:cNvPr id="10" name="Tag: Result for a new person with warning signs"/>
          <p:cNvSpPr/>
          <p:nvPr/>
        </p:nvSpPr>
        <p:spPr>
          <a:xfrm>
            <a:off x="731520" y="2011680"/>
            <a:ext cx="621792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Result for a new person with warning signs</a:t>
            </a:r>
          </a:p>
        </p:txBody>
      </p:sp>
      <p:pic>
        <p:nvPicPr>
          <p:cNvPr id="11" name="New person screenshot" descr="newperson.png"/>
          <p:cNvPicPr>
            <a:picLocks noChangeAspect="1"/>
          </p:cNvPicPr>
          <p:nvPr/>
        </p:nvPicPr>
        <p:blipFill>
          <a:blip r:embed="rId4"/>
          <a:stretch>
            <a:fillRect/>
          </a:stretch>
        </p:blipFill>
        <p:spPr>
          <a:xfrm>
            <a:off x="731520" y="2521784"/>
            <a:ext cx="6217920" cy="3908406"/>
          </a:xfrm>
          <a:prstGeom prst="rect">
            <a:avLst/>
          </a:prstGeom>
          <a:ln w="9525">
            <a:solidFill>
              <a:srgbClr val="BFBFBF"/>
            </a:solidFill>
          </a:ln>
        </p:spPr>
      </p:pic>
      <p:sp>
        <p:nvSpPr>
          <p:cNvPr id="12" name="Tag: How it works"/>
          <p:cNvSpPr/>
          <p:nvPr/>
        </p:nvSpPr>
        <p:spPr>
          <a:xfrm>
            <a:off x="7178040" y="2011680"/>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How it works</a:t>
            </a:r>
          </a:p>
        </p:txBody>
      </p:sp>
      <p:sp>
        <p:nvSpPr>
          <p:cNvPr id="13" name="Steps box"/>
          <p:cNvSpPr/>
          <p:nvPr/>
        </p:nvSpPr>
        <p:spPr>
          <a:xfrm>
            <a:off x="7178040" y="2487168"/>
            <a:ext cx="4297680" cy="1600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269480" y="2542032"/>
            <a:ext cx="4160520" cy="1508760"/>
          </a:xfrm>
          <a:prstGeom prst="rect">
            <a:avLst/>
          </a:prstGeom>
          <a:noFill/>
        </p:spPr>
        <p:txBody>
          <a:bodyPr wrap="square" lIns="54864" tIns="27432" rIns="54864" bIns="27432" anchor="t">
            <a:spAutoFit/>
          </a:bodyPr>
          <a:lstStyle/>
          <a:p>
            <a:pPr algn="l">
              <a:spcAft>
                <a:spcPts val="400"/>
              </a:spcAft>
              <a:buNone/>
            </a:pPr>
            <a:r>
              <a:rPr sz="1250" b="1" i="0">
                <a:solidFill>
                  <a:srgbClr val="111111"/>
                </a:solidFill>
                <a:latin typeface="Times New Roman"/>
              </a:rPr>
              <a:t>1.</a:t>
            </a:r>
            <a:r>
              <a:rPr sz="1250" b="0" i="0">
                <a:solidFill>
                  <a:srgbClr val="111111"/>
                </a:solidFill>
                <a:latin typeface="Times New Roman"/>
              </a:rPr>
              <a:t> Health record: age, severity, smoking, blood tests</a:t>
            </a:r>
          </a:p>
          <a:p>
            <a:pPr algn="l">
              <a:spcAft>
                <a:spcPts val="400"/>
              </a:spcAft>
              <a:buNone/>
            </a:pPr>
            <a:r>
              <a:rPr sz="1250" b="1" i="0">
                <a:solidFill>
                  <a:srgbClr val="111111"/>
                </a:solidFill>
                <a:latin typeface="Times New Roman"/>
              </a:rPr>
              <a:t>2.</a:t>
            </a:r>
            <a:r>
              <a:rPr sz="1250" b="0" i="0">
                <a:solidFill>
                  <a:srgbClr val="111111"/>
                </a:solidFill>
                <a:latin typeface="Times New Roman"/>
              </a:rPr>
              <a:t> Readings </a:t>
            </a:r>
            <a:r>
              <a:rPr sz="1250" b="1" i="0">
                <a:solidFill>
                  <a:srgbClr val="111111"/>
                </a:solidFill>
                <a:latin typeface="Times New Roman"/>
              </a:rPr>
              <a:t>usual</a:t>
            </a:r>
            <a:r>
              <a:rPr sz="1250" b="0" i="0">
                <a:solidFill>
                  <a:srgbClr val="111111"/>
                </a:solidFill>
                <a:latin typeface="Times New Roman"/>
              </a:rPr>
              <a:t> (a good day) and </a:t>
            </a:r>
            <a:r>
              <a:rPr sz="1250" b="1" i="0">
                <a:solidFill>
                  <a:srgbClr val="111111"/>
                </a:solidFill>
                <a:latin typeface="Times New Roman"/>
              </a:rPr>
              <a:t>now</a:t>
            </a:r>
            <a:r>
              <a:rPr sz="1250" b="0" i="0">
                <a:solidFill>
                  <a:srgbClr val="111111"/>
                </a:solidFill>
                <a:latin typeface="Times New Roman"/>
              </a:rPr>
              <a:t> (last 3 days)</a:t>
            </a:r>
          </a:p>
          <a:p>
            <a:pPr algn="l">
              <a:spcAft>
                <a:spcPts val="400"/>
              </a:spcAft>
              <a:buNone/>
            </a:pPr>
            <a:r>
              <a:rPr sz="1250" b="1" i="0">
                <a:solidFill>
                  <a:srgbClr val="111111"/>
                </a:solidFill>
                <a:latin typeface="Times New Roman"/>
              </a:rPr>
              <a:t>3.</a:t>
            </a:r>
            <a:r>
              <a:rPr sz="1250" b="0" i="0">
                <a:solidFill>
                  <a:srgbClr val="111111"/>
                </a:solidFill>
                <a:latin typeface="Times New Roman"/>
              </a:rPr>
              <a:t> Optional: today's PM2.5 from a CPCB or AQI app</a:t>
            </a:r>
          </a:p>
          <a:p>
            <a:pPr algn="l">
              <a:spcAft>
                <a:spcPts val="400"/>
              </a:spcAft>
              <a:buNone/>
            </a:pPr>
            <a:r>
              <a:rPr sz="1250" b="1" i="0">
                <a:solidFill>
                  <a:srgbClr val="111111"/>
                </a:solidFill>
                <a:latin typeface="Times New Roman"/>
              </a:rPr>
              <a:t>4.</a:t>
            </a:r>
            <a:r>
              <a:rPr sz="1250" b="0" i="0">
                <a:solidFill>
                  <a:srgbClr val="111111"/>
                </a:solidFill>
                <a:latin typeface="Times New Roman"/>
              </a:rPr>
              <a:t> Risk, reasons, safety checks and a table of every value used</a:t>
            </a:r>
          </a:p>
        </p:txBody>
      </p:sp>
      <p:sp>
        <p:nvSpPr>
          <p:cNvPr id="15" name="Tag: We tested it"/>
          <p:cNvSpPr/>
          <p:nvPr/>
        </p:nvSpPr>
        <p:spPr>
          <a:xfrm>
            <a:off x="7178040" y="4279392"/>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We tested it</a:t>
            </a:r>
          </a:p>
        </p:txBody>
      </p:sp>
      <p:graphicFrame>
        <p:nvGraphicFramePr>
          <p:cNvPr id="16" name="Tests table"/>
          <p:cNvGraphicFramePr>
            <a:graphicFrameLocks noGrp="1"/>
          </p:cNvGraphicFramePr>
          <p:nvPr/>
        </p:nvGraphicFramePr>
        <p:xfrm>
          <a:off x="7178040" y="4754880"/>
          <a:ext cx="4297680" cy="1682496"/>
        </p:xfrm>
        <a:graphic>
          <a:graphicData uri="http://schemas.openxmlformats.org/drawingml/2006/table">
            <a:tbl>
              <a:tblPr>
                <a:tableStyleId>{5940675A-B579-460E-94D1-54222C63F5DA}</a:tableStyleId>
              </a:tblPr>
              <a:tblGrid>
                <a:gridCol w="25146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420624">
                <a:tc>
                  <a:txBody>
                    <a:bodyPr/>
                    <a:lstStyle/>
                    <a:p>
                      <a:pPr algn="ctr"/>
                      <a:r>
                        <a:rPr sz="1300" b="1" i="0">
                          <a:solidFill>
                            <a:srgbClr val="111111"/>
                          </a:solidFill>
                          <a:latin typeface="Times New Roman"/>
                        </a:rPr>
                        <a:t>Test case</a:t>
                      </a:r>
                    </a:p>
                  </a:txBody>
                  <a:tcPr marL="54864" marR="54864" marT="22860" marB="22860" anchor="ctr">
                    <a:solidFill>
                      <a:srgbClr val="8EA9DB"/>
                    </a:solidFill>
                  </a:tcPr>
                </a:tc>
                <a:tc>
                  <a:txBody>
                    <a:bodyPr/>
                    <a:lstStyle/>
                    <a:p>
                      <a:pPr algn="ctr"/>
                      <a:r>
                        <a:rPr sz="1300" b="1" i="0">
                          <a:solidFill>
                            <a:srgbClr val="111111"/>
                          </a:solidFill>
                          <a:latin typeface="Times New Roman"/>
                        </a:rPr>
                        <a:t>Result</a:t>
                      </a:r>
                    </a:p>
                  </a:txBody>
                  <a:tcPr marL="54864" marR="54864" marT="22860" marB="22860" anchor="ctr">
                    <a:solidFill>
                      <a:srgbClr val="8EA9DB"/>
                    </a:solidFill>
                  </a:tcPr>
                </a:tc>
                <a:extLst>
                  <a:ext uri="{0D108BD9-81ED-4DB2-BD59-A6C34878D82A}">
                    <a16:rowId xmlns:a16="http://schemas.microsoft.com/office/drawing/2014/main" val="10000"/>
                  </a:ext>
                </a:extLst>
              </a:tr>
              <a:tr h="420624">
                <a:tc>
                  <a:txBody>
                    <a:bodyPr/>
                    <a:lstStyle/>
                    <a:p>
                      <a:pPr algn="l"/>
                      <a:r>
                        <a:rPr sz="1200" b="0" i="0">
                          <a:solidFill>
                            <a:srgbClr val="111111"/>
                          </a:solidFill>
                          <a:latin typeface="Times New Roman"/>
                        </a:rPr>
                        <a:t>Readings now = usual</a:t>
                      </a:r>
                    </a:p>
                  </a:txBody>
                  <a:tcPr marL="54864" marR="54864" marT="22860" marB="22860" anchor="ctr">
                    <a:solidFill>
                      <a:srgbClr val="FFFFFF"/>
                    </a:solidFill>
                  </a:tcPr>
                </a:tc>
                <a:tc>
                  <a:txBody>
                    <a:bodyPr/>
                    <a:lstStyle/>
                    <a:p>
                      <a:pPr algn="l"/>
                      <a:r>
                        <a:rPr sz="1200" b="1" i="0">
                          <a:solidFill>
                            <a:srgbClr val="111111"/>
                          </a:solidFill>
                          <a:latin typeface="Times New Roman"/>
                        </a:rPr>
                        <a:t>Low, about 0.3%</a:t>
                      </a:r>
                      <a:r>
                        <a:rPr sz="1200" b="0" i="0">
                          <a:solidFill>
                            <a:srgbClr val="111111"/>
                          </a:solidFill>
                          <a:latin typeface="Times New Roman"/>
                        </a:rPr>
                        <a:t/>
                      </a:r>
                    </a:p>
                  </a:txBody>
                  <a:tcPr marL="54864" marR="54864" marT="22860" marB="22860" anchor="ctr">
                    <a:solidFill>
                      <a:srgbClr val="FFFFFF"/>
                    </a:solidFill>
                  </a:tcPr>
                </a:tc>
                <a:extLst>
                  <a:ext uri="{0D108BD9-81ED-4DB2-BD59-A6C34878D82A}">
                    <a16:rowId xmlns:a16="http://schemas.microsoft.com/office/drawing/2014/main" val="10001"/>
                  </a:ext>
                </a:extLst>
              </a:tr>
              <a:tr h="420624">
                <a:tc>
                  <a:txBody>
                    <a:bodyPr/>
                    <a:lstStyle/>
                    <a:p>
                      <a:pPr algn="l"/>
                      <a:r>
                        <a:rPr sz="1200" b="0" i="0">
                          <a:solidFill>
                            <a:srgbClr val="111111"/>
                          </a:solidFill>
                          <a:latin typeface="Times New Roman"/>
                        </a:rPr>
                        <a:t>Breathing 16→22, oxygen 95→91%, puffs 1→4</a:t>
                      </a:r>
                    </a:p>
                  </a:txBody>
                  <a:tcPr marL="54864" marR="54864" marT="22860" marB="22860" anchor="ctr">
                    <a:solidFill>
                      <a:srgbClr val="FFFFFF"/>
                    </a:solidFill>
                  </a:tcPr>
                </a:tc>
                <a:tc>
                  <a:txBody>
                    <a:bodyPr/>
                    <a:lstStyle/>
                    <a:p>
                      <a:pPr algn="l"/>
                      <a:r>
                        <a:rPr sz="1200" b="1" i="0">
                          <a:solidFill>
                            <a:srgbClr val="111111"/>
                          </a:solidFill>
                          <a:latin typeface="Times New Roman"/>
                        </a:rPr>
                        <a:t>High, about 99%</a:t>
                      </a:r>
                      <a:r>
                        <a:rPr sz="1200" b="0" i="0">
                          <a:solidFill>
                            <a:srgbClr val="111111"/>
                          </a:solidFill>
                          <a:latin typeface="Times New Roman"/>
                        </a:rPr>
                        <a:t/>
                      </a:r>
                    </a:p>
                  </a:txBody>
                  <a:tcPr marL="54864" marR="54864" marT="22860" marB="22860" anchor="ctr">
                    <a:solidFill>
                      <a:srgbClr val="FFFFFF"/>
                    </a:solidFill>
                  </a:tcPr>
                </a:tc>
                <a:extLst>
                  <a:ext uri="{0D108BD9-81ED-4DB2-BD59-A6C34878D82A}">
                    <a16:rowId xmlns:a16="http://schemas.microsoft.com/office/drawing/2014/main" val="10002"/>
                  </a:ext>
                </a:extLst>
              </a:tr>
              <a:tr h="420624">
                <a:tc>
                  <a:txBody>
                    <a:bodyPr/>
                    <a:lstStyle/>
                    <a:p>
                      <a:pPr algn="l"/>
                      <a:r>
                        <a:rPr sz="1200" b="0" i="0">
                          <a:solidFill>
                            <a:srgbClr val="111111"/>
                          </a:solidFill>
                          <a:latin typeface="Times New Roman"/>
                        </a:rPr>
                        <a:t>Test patient, 23, Mumbai: breathing 14→18, oxygen 99→97</a:t>
                      </a:r>
                    </a:p>
                  </a:txBody>
                  <a:tcPr marL="54864" marR="54864" marT="22860" marB="22860" anchor="ctr">
                    <a:solidFill>
                      <a:srgbClr val="FFFFFF"/>
                    </a:solidFill>
                  </a:tcPr>
                </a:tc>
                <a:tc>
                  <a:txBody>
                    <a:bodyPr/>
                    <a:lstStyle/>
                    <a:p>
                      <a:pPr algn="l"/>
                      <a:r>
                        <a:rPr sz="1200" b="0" i="0">
                          <a:solidFill>
                            <a:srgbClr val="111111"/>
                          </a:solidFill>
                          <a:latin typeface="Times New Roman"/>
                        </a:rPr>
                        <a:t>High, about 28%</a:t>
                      </a:r>
                      <a:r>
                        <a:rPr sz="1200" b="1" i="0">
                          <a:solidFill>
                            <a:srgbClr val="111111"/>
                          </a:solidFill>
                          <a:latin typeface="Times New Roman"/>
                        </a:rPr>
                        <a:t/>
                      </a:r>
                    </a:p>
                  </a:txBody>
                  <a:tcPr marL="54864" marR="54864" marT="22860" marB="2286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From prediction to action: smog warnings and a visit summary</a:t>
            </a:r>
          </a:p>
        </p:txBody>
      </p:sp>
      <p:sp>
        <p:nvSpPr>
          <p:cNvPr id="10" name="Tag: Smog is Coming: next 3 days"/>
          <p:cNvSpPr/>
          <p:nvPr/>
        </p:nvSpPr>
        <p:spPr>
          <a:xfrm>
            <a:off x="731520" y="2011680"/>
            <a:ext cx="6400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Smog is Coming: next 3 days</a:t>
            </a:r>
          </a:p>
        </p:txBody>
      </p:sp>
      <p:pic>
        <p:nvPicPr>
          <p:cNvPr id="11" name="Smog screenshot" descr="smog.png"/>
          <p:cNvPicPr>
            <a:picLocks noChangeAspect="1"/>
          </p:cNvPicPr>
          <p:nvPr/>
        </p:nvPicPr>
        <p:blipFill>
          <a:blip r:embed="rId4"/>
          <a:stretch>
            <a:fillRect/>
          </a:stretch>
        </p:blipFill>
        <p:spPr>
          <a:xfrm>
            <a:off x="1058932" y="2487168"/>
            <a:ext cx="5745975" cy="2423160"/>
          </a:xfrm>
          <a:prstGeom prst="rect">
            <a:avLst/>
          </a:prstGeom>
          <a:ln w="9525">
            <a:solidFill>
              <a:srgbClr val="BFBFBF"/>
            </a:solidFill>
          </a:ln>
        </p:spPr>
      </p:pic>
      <p:sp>
        <p:nvSpPr>
          <p:cNvPr id="12" name="Smog notes box"/>
          <p:cNvSpPr/>
          <p:nvPr/>
        </p:nvSpPr>
        <p:spPr>
          <a:xfrm>
            <a:off x="731520" y="5074920"/>
            <a:ext cx="6400800" cy="13716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5138928"/>
            <a:ext cx="6263640" cy="1280160"/>
          </a:xfrm>
          <a:prstGeom prst="rect">
            <a:avLst/>
          </a:prstGeom>
          <a:noFill/>
        </p:spPr>
        <p:txBody>
          <a:bodyPr wrap="square" lIns="54864" tIns="27432" rIns="54864" bIns="27432" anchor="t">
            <a:spAutoFit/>
          </a:bodyPr>
          <a:lstStyle/>
          <a:p>
            <a:pPr marL="164592" indent="-164592" algn="l">
              <a:spcAft>
                <a:spcPts val="500"/>
              </a:spcAft>
              <a:buChar char="•"/>
            </a:pPr>
            <a:r>
              <a:rPr sz="1300" b="0" i="0">
                <a:solidFill>
                  <a:srgbClr val="111111"/>
                </a:solidFill>
                <a:latin typeface="Times New Roman"/>
              </a:rPr>
              <a:t>Uses India's official </a:t>
            </a:r>
            <a:r>
              <a:rPr sz="1300" b="1" i="0">
                <a:solidFill>
                  <a:srgbClr val="111111"/>
                </a:solidFill>
                <a:latin typeface="Times New Roman"/>
              </a:rPr>
              <a:t>CPCB PM2.5 bands</a:t>
            </a:r>
            <a:r>
              <a:rPr sz="1300" b="0" i="0">
                <a:solidFill>
                  <a:srgbClr val="111111"/>
                </a:solidFill>
                <a:latin typeface="Times New Roman"/>
              </a:rPr>
              <a:t>; advice gets stronger as air gets worse</a:t>
            </a:r>
          </a:p>
          <a:p>
            <a:pPr marL="164592" indent="-164592" algn="l">
              <a:spcAft>
                <a:spcPts val="500"/>
              </a:spcAft>
              <a:buChar char="•"/>
            </a:pPr>
            <a:r>
              <a:rPr sz="1300" b="0" i="0">
                <a:solidFill>
                  <a:srgbClr val="111111"/>
                </a:solidFill>
                <a:latin typeface="Times New Roman"/>
              </a:rPr>
              <a:t>Also warns about </a:t>
            </a:r>
            <a:r>
              <a:rPr sz="1300" b="1" i="0">
                <a:solidFill>
                  <a:srgbClr val="111111"/>
                </a:solidFill>
                <a:latin typeface="Times New Roman"/>
              </a:rPr>
              <a:t>cold nights</a:t>
            </a:r>
            <a:r>
              <a:rPr sz="1300" b="0" i="0">
                <a:solidFill>
                  <a:srgbClr val="111111"/>
                </a:solidFill>
                <a:latin typeface="Times New Roman"/>
              </a:rPr>
              <a:t>; shows the extra flare-up risk from the published effect</a:t>
            </a:r>
          </a:p>
          <a:p>
            <a:pPr marL="164592" indent="-164592" algn="l">
              <a:spcAft>
                <a:spcPts val="500"/>
              </a:spcAft>
              <a:buChar char="•"/>
            </a:pPr>
            <a:r>
              <a:rPr sz="1300" b="0" i="1">
                <a:solidFill>
                  <a:srgbClr val="111111"/>
                </a:solidFill>
                <a:latin typeface="Times New Roman"/>
              </a:rPr>
              <a:t>Demo replays real 2019-20 data; a live version would use an air-quality forecast</a:t>
            </a:r>
          </a:p>
        </p:txBody>
      </p:sp>
      <p:sp>
        <p:nvSpPr>
          <p:cNvPr id="14" name="Tag: One-page Visit Summary"/>
          <p:cNvSpPr/>
          <p:nvPr/>
        </p:nvSpPr>
        <p:spPr>
          <a:xfrm>
            <a:off x="7360920" y="2011680"/>
            <a:ext cx="4114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One-page Visit Summary</a:t>
            </a:r>
          </a:p>
        </p:txBody>
      </p:sp>
      <p:pic>
        <p:nvPicPr>
          <p:cNvPr id="15" name="Visit summary image" descr="visit.png"/>
          <p:cNvPicPr>
            <a:picLocks noChangeAspect="1"/>
          </p:cNvPicPr>
          <p:nvPr/>
        </p:nvPicPr>
        <p:blipFill>
          <a:blip r:embed="rId5"/>
          <a:stretch>
            <a:fillRect/>
          </a:stretch>
        </p:blipFill>
        <p:spPr>
          <a:xfrm>
            <a:off x="7901266" y="2487168"/>
            <a:ext cx="3034106" cy="3977639"/>
          </a:xfrm>
          <a:prstGeom prst="rect">
            <a:avLst/>
          </a:prstGeom>
          <a:ln w="9525">
            <a:solidFill>
              <a:srgbClr val="BFBFBF"/>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Who it helps: doctors, health workers and families</a:t>
            </a:r>
          </a:p>
        </p:txBody>
      </p:sp>
      <p:sp>
        <p:nvSpPr>
          <p:cNvPr id="10" name="Tag: Value by Stakeholder"/>
          <p:cNvSpPr/>
          <p:nvPr/>
        </p:nvSpPr>
        <p:spPr>
          <a:xfrm>
            <a:off x="731520" y="2011680"/>
            <a:ext cx="66751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Value by Stakeholder</a:t>
            </a:r>
          </a:p>
        </p:txBody>
      </p:sp>
      <p:graphicFrame>
        <p:nvGraphicFramePr>
          <p:cNvPr id="11" name="Stakeholder table"/>
          <p:cNvGraphicFramePr>
            <a:graphicFrameLocks noGrp="1"/>
          </p:cNvGraphicFramePr>
          <p:nvPr/>
        </p:nvGraphicFramePr>
        <p:xfrm>
          <a:off x="731520" y="2542032"/>
          <a:ext cx="6675120" cy="274320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tblGrid>
              <a:tr h="548640">
                <a:tc>
                  <a:txBody>
                    <a:bodyPr/>
                    <a:lstStyle/>
                    <a:p>
                      <a:pPr algn="ctr"/>
                      <a:r>
                        <a:rPr sz="1250" b="1" i="0">
                          <a:solidFill>
                            <a:srgbClr val="111111"/>
                          </a:solidFill>
                          <a:latin typeface="Times New Roman"/>
                        </a:rPr>
                        <a:t>Who</a:t>
                      </a:r>
                    </a:p>
                  </a:txBody>
                  <a:tcPr marL="54864" marR="54864" marT="22860" marB="22860" anchor="ctr">
                    <a:solidFill>
                      <a:srgbClr val="8EA9DB"/>
                    </a:solidFill>
                  </a:tcPr>
                </a:tc>
                <a:tc>
                  <a:txBody>
                    <a:bodyPr/>
                    <a:lstStyle/>
                    <a:p>
                      <a:pPr algn="ctr"/>
                      <a:r>
                        <a:rPr sz="1250" b="1" i="0">
                          <a:solidFill>
                            <a:srgbClr val="111111"/>
                          </a:solidFill>
                          <a:latin typeface="Times New Roman"/>
                        </a:rPr>
                        <a:t>Today</a:t>
                      </a:r>
                    </a:p>
                  </a:txBody>
                  <a:tcPr marL="54864" marR="54864" marT="22860" marB="22860" anchor="ctr">
                    <a:solidFill>
                      <a:srgbClr val="8EA9DB"/>
                    </a:solidFill>
                  </a:tcPr>
                </a:tc>
                <a:tc>
                  <a:txBody>
                    <a:bodyPr/>
                    <a:lstStyle/>
                    <a:p>
                      <a:pPr algn="ctr"/>
                      <a:r>
                        <a:rPr sz="1250" b="1" i="0">
                          <a:solidFill>
                            <a:srgbClr val="111111"/>
                          </a:solidFill>
                          <a:latin typeface="Times New Roman"/>
                        </a:rPr>
                        <a:t>With BreatheTwin</a:t>
                      </a:r>
                    </a:p>
                  </a:txBody>
                  <a:tcPr marL="54864" marR="54864" marT="22860" marB="22860" anchor="ctr">
                    <a:solidFill>
                      <a:srgbClr val="8EA9DB"/>
                    </a:solidFill>
                  </a:tcPr>
                </a:tc>
                <a:extLst>
                  <a:ext uri="{0D108BD9-81ED-4DB2-BD59-A6C34878D82A}">
                    <a16:rowId xmlns:a16="http://schemas.microsoft.com/office/drawing/2014/main" val="10000"/>
                  </a:ext>
                </a:extLst>
              </a:tr>
              <a:tr h="548640">
                <a:tc>
                  <a:txBody>
                    <a:bodyPr/>
                    <a:lstStyle/>
                    <a:p>
                      <a:pPr algn="l"/>
                      <a:r>
                        <a:rPr sz="1150" b="1" i="0">
                          <a:solidFill>
                            <a:srgbClr val="111111"/>
                          </a:solidFill>
                          <a:latin typeface="Times New Roman"/>
                        </a:rPr>
                        <a:t>Doctor / clinic</a:t>
                      </a:r>
                    </a:p>
                  </a:txBody>
                  <a:tcPr marL="54864" marR="54864" marT="22860" marB="22860" anchor="ctr">
                    <a:solidFill>
                      <a:srgbClr val="FFFFFF"/>
                    </a:solidFill>
                  </a:tcPr>
                </a:tc>
                <a:tc>
                  <a:txBody>
                    <a:bodyPr/>
                    <a:lstStyle/>
                    <a:p>
                      <a:pPr algn="l"/>
                      <a:r>
                        <a:rPr sz="1150" b="0" i="0">
                          <a:solidFill>
                            <a:srgbClr val="111111"/>
                          </a:solidFill>
                          <a:latin typeface="Times New Roman"/>
                        </a:rPr>
                        <a:t>Sees the patient only when they come in sick</a:t>
                      </a:r>
                    </a:p>
                  </a:txBody>
                  <a:tcPr marL="54864" marR="54864" marT="22860" marB="22860" anchor="ctr">
                    <a:solidFill>
                      <a:srgbClr val="FFFFFF"/>
                    </a:solidFill>
                  </a:tcPr>
                </a:tc>
                <a:tc>
                  <a:txBody>
                    <a:bodyPr/>
                    <a:lstStyle/>
                    <a:p>
                      <a:pPr algn="l"/>
                      <a:r>
                        <a:rPr sz="1150" b="0" i="0">
                          <a:solidFill>
                            <a:srgbClr val="111111"/>
                          </a:solidFill>
                          <a:latin typeface="Times New Roman"/>
                        </a:rPr>
                        <a:t>A ranked daily list of who to call, with reasons</a:t>
                      </a:r>
                    </a:p>
                  </a:txBody>
                  <a:tcPr marL="54864" marR="54864" marT="22860" marB="22860" anchor="ctr">
                    <a:solidFill>
                      <a:srgbClr val="FFFFFF"/>
                    </a:solidFill>
                  </a:tcPr>
                </a:tc>
                <a:extLst>
                  <a:ext uri="{0D108BD9-81ED-4DB2-BD59-A6C34878D82A}">
                    <a16:rowId xmlns:a16="http://schemas.microsoft.com/office/drawing/2014/main" val="10001"/>
                  </a:ext>
                </a:extLst>
              </a:tr>
              <a:tr h="548640">
                <a:tc>
                  <a:txBody>
                    <a:bodyPr/>
                    <a:lstStyle/>
                    <a:p>
                      <a:pPr algn="l"/>
                      <a:r>
                        <a:rPr sz="1150" b="1" i="0">
                          <a:solidFill>
                            <a:srgbClr val="111111"/>
                          </a:solidFill>
                          <a:latin typeface="Times New Roman"/>
                        </a:rPr>
                        <a:t>Community health worker</a:t>
                      </a:r>
                    </a:p>
                  </a:txBody>
                  <a:tcPr marL="54864" marR="54864" marT="22860" marB="22860" anchor="ctr">
                    <a:solidFill>
                      <a:srgbClr val="FFFFFF"/>
                    </a:solidFill>
                  </a:tcPr>
                </a:tc>
                <a:tc>
                  <a:txBody>
                    <a:bodyPr/>
                    <a:lstStyle/>
                    <a:p>
                      <a:pPr algn="l"/>
                      <a:r>
                        <a:rPr sz="1150" b="0" i="0">
                          <a:solidFill>
                            <a:srgbClr val="111111"/>
                          </a:solidFill>
                          <a:latin typeface="Times New Roman"/>
                        </a:rPr>
                        <a:t>Visits by rota, not by need</a:t>
                      </a:r>
                    </a:p>
                  </a:txBody>
                  <a:tcPr marL="54864" marR="54864" marT="22860" marB="22860" anchor="ctr">
                    <a:solidFill>
                      <a:srgbClr val="FFFFFF"/>
                    </a:solidFill>
                  </a:tcPr>
                </a:tc>
                <a:tc>
                  <a:txBody>
                    <a:bodyPr/>
                    <a:lstStyle/>
                    <a:p>
                      <a:pPr algn="l"/>
                      <a:r>
                        <a:rPr sz="1150" b="0" i="0">
                          <a:solidFill>
                            <a:srgbClr val="111111"/>
                          </a:solidFill>
                          <a:latin typeface="Times New Roman"/>
                        </a:rPr>
                        <a:t>Visits the few patients at highest risk first</a:t>
                      </a:r>
                    </a:p>
                  </a:txBody>
                  <a:tcPr marL="54864" marR="54864" marT="22860" marB="22860" anchor="ctr">
                    <a:solidFill>
                      <a:srgbClr val="FFFFFF"/>
                    </a:solidFill>
                  </a:tcPr>
                </a:tc>
                <a:extLst>
                  <a:ext uri="{0D108BD9-81ED-4DB2-BD59-A6C34878D82A}">
                    <a16:rowId xmlns:a16="http://schemas.microsoft.com/office/drawing/2014/main" val="10002"/>
                  </a:ext>
                </a:extLst>
              </a:tr>
              <a:tr h="548640">
                <a:tc>
                  <a:txBody>
                    <a:bodyPr/>
                    <a:lstStyle/>
                    <a:p>
                      <a:pPr algn="l"/>
                      <a:r>
                        <a:rPr sz="1150" b="1" i="0">
                          <a:solidFill>
                            <a:srgbClr val="111111"/>
                          </a:solidFill>
                          <a:latin typeface="Times New Roman"/>
                        </a:rPr>
                        <a:t>Patient and family</a:t>
                      </a:r>
                    </a:p>
                  </a:txBody>
                  <a:tcPr marL="54864" marR="54864" marT="22860" marB="22860" anchor="ctr">
                    <a:solidFill>
                      <a:srgbClr val="FFFFFF"/>
                    </a:solidFill>
                  </a:tcPr>
                </a:tc>
                <a:tc>
                  <a:txBody>
                    <a:bodyPr/>
                    <a:lstStyle/>
                    <a:p>
                      <a:pPr algn="l"/>
                      <a:r>
                        <a:rPr sz="1150" b="0" i="0">
                          <a:solidFill>
                            <a:srgbClr val="111111"/>
                          </a:solidFill>
                          <a:latin typeface="Times New Roman"/>
                        </a:rPr>
                        <a:t>Notice a flare-up when breathing is already bad</a:t>
                      </a:r>
                    </a:p>
                  </a:txBody>
                  <a:tcPr marL="54864" marR="54864" marT="22860" marB="22860" anchor="ctr">
                    <a:solidFill>
                      <a:srgbClr val="FFFFFF"/>
                    </a:solidFill>
                  </a:tcPr>
                </a:tc>
                <a:tc>
                  <a:txBody>
                    <a:bodyPr/>
                    <a:lstStyle/>
                    <a:p>
                      <a:pPr algn="l"/>
                      <a:r>
                        <a:rPr sz="1150" b="0" i="0">
                          <a:solidFill>
                            <a:srgbClr val="111111"/>
                          </a:solidFill>
                          <a:latin typeface="Times New Roman"/>
                        </a:rPr>
                        <a:t>Early warning, smog advice, a summary to take to the doctor</a:t>
                      </a:r>
                    </a:p>
                  </a:txBody>
                  <a:tcPr marL="54864" marR="54864" marT="22860" marB="22860" anchor="ctr">
                    <a:solidFill>
                      <a:srgbClr val="FFFFFF"/>
                    </a:solidFill>
                  </a:tcPr>
                </a:tc>
                <a:extLst>
                  <a:ext uri="{0D108BD9-81ED-4DB2-BD59-A6C34878D82A}">
                    <a16:rowId xmlns:a16="http://schemas.microsoft.com/office/drawing/2014/main" val="10003"/>
                  </a:ext>
                </a:extLst>
              </a:tr>
              <a:tr h="548640">
                <a:tc>
                  <a:txBody>
                    <a:bodyPr/>
                    <a:lstStyle/>
                    <a:p>
                      <a:pPr algn="l"/>
                      <a:r>
                        <a:rPr sz="1150" b="1" i="0">
                          <a:solidFill>
                            <a:srgbClr val="111111"/>
                          </a:solidFill>
                          <a:latin typeface="Times New Roman"/>
                        </a:rPr>
                        <a:t>Health system</a:t>
                      </a:r>
                    </a:p>
                  </a:txBody>
                  <a:tcPr marL="54864" marR="54864" marT="22860" marB="22860" anchor="ctr">
                    <a:solidFill>
                      <a:srgbClr val="FFFFFF"/>
                    </a:solidFill>
                  </a:tcPr>
                </a:tc>
                <a:tc>
                  <a:txBody>
                    <a:bodyPr/>
                    <a:lstStyle/>
                    <a:p>
                      <a:pPr algn="l"/>
                      <a:r>
                        <a:rPr sz="1150" b="0" i="0">
                          <a:solidFill>
                            <a:srgbClr val="111111"/>
                          </a:solidFill>
                          <a:latin typeface="Times New Roman"/>
                        </a:rPr>
                        <a:t>Emergency visits in smog season</a:t>
                      </a:r>
                    </a:p>
                  </a:txBody>
                  <a:tcPr marL="54864" marR="54864" marT="22860" marB="22860" anchor="ctr">
                    <a:solidFill>
                      <a:srgbClr val="FFFFFF"/>
                    </a:solidFill>
                  </a:tcPr>
                </a:tc>
                <a:tc>
                  <a:txBody>
                    <a:bodyPr/>
                    <a:lstStyle/>
                    <a:p>
                      <a:pPr algn="l"/>
                      <a:r>
                        <a:rPr sz="1150" b="0" i="0">
                          <a:solidFill>
                            <a:srgbClr val="111111"/>
                          </a:solidFill>
                          <a:latin typeface="Times New Roman"/>
                        </a:rPr>
                        <a:t>Aim: fewer emergency visits through early action</a:t>
                      </a:r>
                    </a:p>
                  </a:txBody>
                  <a:tcPr marL="54864" marR="54864" marT="22860" marB="22860" anchor="ctr">
                    <a:solidFill>
                      <a:srgbClr val="FFFFFF"/>
                    </a:solidFill>
                  </a:tcPr>
                </a:tc>
                <a:extLst>
                  <a:ext uri="{0D108BD9-81ED-4DB2-BD59-A6C34878D82A}">
                    <a16:rowId xmlns:a16="http://schemas.microsoft.com/office/drawing/2014/main" val="10004"/>
                  </a:ext>
                </a:extLst>
              </a:tr>
            </a:tbl>
          </a:graphicData>
        </a:graphic>
      </p:graphicFrame>
      <p:sp>
        <p:nvSpPr>
          <p:cNvPr id="12" name="Tag: Why it fits India"/>
          <p:cNvSpPr/>
          <p:nvPr/>
        </p:nvSpPr>
        <p:spPr>
          <a:xfrm>
            <a:off x="7635240" y="2011680"/>
            <a:ext cx="38404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Why it fits India</a:t>
            </a:r>
          </a:p>
        </p:txBody>
      </p:sp>
      <p:sp>
        <p:nvSpPr>
          <p:cNvPr id="13" name="India box"/>
          <p:cNvSpPr/>
          <p:nvPr/>
        </p:nvSpPr>
        <p:spPr>
          <a:xfrm>
            <a:off x="7635240" y="2542032"/>
            <a:ext cx="3840480" cy="2743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726679" y="2606040"/>
            <a:ext cx="3703320" cy="2651760"/>
          </a:xfrm>
          <a:prstGeom prst="rect">
            <a:avLst/>
          </a:prstGeom>
          <a:noFill/>
        </p:spPr>
        <p:txBody>
          <a:bodyPr wrap="square" lIns="54864" tIns="27432" rIns="54864" bIns="27432" anchor="t">
            <a:spAutoFit/>
          </a:bodyPr>
          <a:lstStyle/>
          <a:p>
            <a:pPr marL="164592" indent="-164592" algn="l">
              <a:spcAft>
                <a:spcPts val="400"/>
              </a:spcAft>
              <a:buChar char="•"/>
            </a:pPr>
            <a:r>
              <a:rPr sz="1250" b="0" i="0">
                <a:solidFill>
                  <a:srgbClr val="111111"/>
                </a:solidFill>
                <a:latin typeface="Times New Roman"/>
              </a:rPr>
              <a:t>Built for </a:t>
            </a:r>
            <a:r>
              <a:rPr sz="1250" b="1" i="0">
                <a:solidFill>
                  <a:srgbClr val="111111"/>
                </a:solidFill>
                <a:latin typeface="Times New Roman"/>
              </a:rPr>
              <a:t>Indian triggers</a:t>
            </a:r>
            <a:r>
              <a:rPr sz="1250" b="0" i="0">
                <a:solidFill>
                  <a:srgbClr val="111111"/>
                </a:solidFill>
                <a:latin typeface="Times New Roman"/>
              </a:rPr>
              <a:t>: cooking smoke, bidis, winter smog</a:t>
            </a:r>
          </a:p>
          <a:p>
            <a:pPr marL="164592" indent="-164592" algn="l">
              <a:spcAft>
                <a:spcPts val="400"/>
              </a:spcAft>
              <a:buChar char="•"/>
            </a:pPr>
            <a:r>
              <a:rPr sz="1250" b="0" i="0">
                <a:solidFill>
                  <a:srgbClr val="111111"/>
                </a:solidFill>
                <a:latin typeface="Times New Roman"/>
              </a:rPr>
              <a:t>Covers </a:t>
            </a:r>
            <a:r>
              <a:rPr sz="1250" b="1" i="0">
                <a:solidFill>
                  <a:srgbClr val="111111"/>
                </a:solidFill>
                <a:latin typeface="Times New Roman"/>
              </a:rPr>
              <a:t>ages 22 to 92</a:t>
            </a:r>
            <a:r>
              <a:rPr sz="1250" b="0" i="0">
                <a:solidFill>
                  <a:srgbClr val="111111"/>
                </a:solidFill>
                <a:latin typeface="Times New Roman"/>
              </a:rPr>
              <a:t>, since COPD starts earlier in India</a:t>
            </a:r>
          </a:p>
          <a:p>
            <a:pPr marL="164592" indent="-164592" algn="l">
              <a:spcAft>
                <a:spcPts val="400"/>
              </a:spcAft>
              <a:buChar char="•"/>
            </a:pPr>
            <a:r>
              <a:rPr sz="1250" b="1" i="0">
                <a:solidFill>
                  <a:srgbClr val="111111"/>
                </a:solidFill>
                <a:latin typeface="Times New Roman"/>
              </a:rPr>
              <a:t>Plain language</a:t>
            </a:r>
            <a:r>
              <a:rPr sz="1250" b="0" i="0">
                <a:solidFill>
                  <a:srgbClr val="111111"/>
                </a:solidFill>
                <a:latin typeface="Times New Roman"/>
              </a:rPr>
              <a:t> on every page, with a glossary</a:t>
            </a:r>
          </a:p>
          <a:p>
            <a:pPr marL="164592" indent="-164592" algn="l">
              <a:spcAft>
                <a:spcPts val="400"/>
              </a:spcAft>
              <a:buChar char="•"/>
            </a:pPr>
            <a:r>
              <a:rPr sz="1250" b="1" i="0">
                <a:solidFill>
                  <a:srgbClr val="111111"/>
                </a:solidFill>
                <a:latin typeface="Times New Roman"/>
              </a:rPr>
              <a:t>Open source</a:t>
            </a:r>
            <a:r>
              <a:rPr sz="1250" b="0" i="0">
                <a:solidFill>
                  <a:srgbClr val="111111"/>
                </a:solidFill>
                <a:latin typeface="Times New Roman"/>
              </a:rPr>
              <a:t> and free to adapt</a:t>
            </a:r>
          </a:p>
          <a:p>
            <a:pPr marL="164592" indent="-164592" algn="l">
              <a:spcAft>
                <a:spcPts val="400"/>
              </a:spcAft>
              <a:buChar char="•"/>
            </a:pPr>
            <a:r>
              <a:rPr sz="1250" b="0" i="0">
                <a:solidFill>
                  <a:srgbClr val="111111"/>
                </a:solidFill>
                <a:latin typeface="Times New Roman"/>
              </a:rPr>
              <a:t>Planned: low-cost pulse oximeter + phone, Hindi</a:t>
            </a:r>
          </a:p>
        </p:txBody>
      </p:sp>
      <p:sp>
        <p:nvSpPr>
          <p:cNvPr id="15" name="TextBox 14"/>
          <p:cNvSpPr txBox="1"/>
          <p:nvPr/>
        </p:nvSpPr>
        <p:spPr>
          <a:xfrm>
            <a:off x="731520" y="5376672"/>
            <a:ext cx="2743200" cy="320040"/>
          </a:xfrm>
          <a:prstGeom prst="rect">
            <a:avLst/>
          </a:prstGeom>
          <a:noFill/>
        </p:spPr>
        <p:txBody>
          <a:bodyPr wrap="square" lIns="54864" tIns="27432" rIns="54864" bIns="27432" anchor="t">
            <a:spAutoFit/>
          </a:bodyPr>
          <a:lstStyle/>
          <a:p>
            <a:pPr algn="l">
              <a:spcAft>
                <a:spcPts val="300"/>
              </a:spcAft>
              <a:buNone/>
            </a:pPr>
            <a:r>
              <a:rPr sz="1500" b="1" i="0">
                <a:solidFill>
                  <a:srgbClr val="111111"/>
                </a:solidFill>
                <a:latin typeface="Times New Roman"/>
              </a:rPr>
              <a:t>The care loop</a:t>
            </a:r>
          </a:p>
        </p:txBody>
      </p:sp>
      <p:sp>
        <p:nvSpPr>
          <p:cNvPr id="16" name="Step 1: Watch daily"/>
          <p:cNvSpPr/>
          <p:nvPr/>
        </p:nvSpPr>
        <p:spPr>
          <a:xfrm>
            <a:off x="731520" y="5715000"/>
            <a:ext cx="2236622" cy="73152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rIns="164592" rtlCol="0" anchor="ctr"/>
          <a:lstStyle/>
          <a:p>
            <a:pPr algn="ctr"/>
            <a:r>
              <a:rPr sz="1300" b="1" i="0">
                <a:solidFill>
                  <a:srgbClr val="111111"/>
                </a:solidFill>
                <a:latin typeface="Times New Roman"/>
              </a:rPr>
              <a:t>Watch daily</a:t>
            </a:r>
          </a:p>
        </p:txBody>
      </p:sp>
      <p:sp>
        <p:nvSpPr>
          <p:cNvPr id="17" name="Step 2: Warn early"/>
          <p:cNvSpPr/>
          <p:nvPr/>
        </p:nvSpPr>
        <p:spPr>
          <a:xfrm>
            <a:off x="2858414"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Warn early</a:t>
            </a:r>
          </a:p>
        </p:txBody>
      </p:sp>
      <p:sp>
        <p:nvSpPr>
          <p:cNvPr id="18" name="Step 3: Act at home"/>
          <p:cNvSpPr/>
          <p:nvPr/>
        </p:nvSpPr>
        <p:spPr>
          <a:xfrm>
            <a:off x="4985308"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Act at home</a:t>
            </a:r>
          </a:p>
        </p:txBody>
      </p:sp>
      <p:sp>
        <p:nvSpPr>
          <p:cNvPr id="19" name="Step 4: Visit with summary"/>
          <p:cNvSpPr/>
          <p:nvPr/>
        </p:nvSpPr>
        <p:spPr>
          <a:xfrm>
            <a:off x="7112203"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Visit with summary</a:t>
            </a:r>
          </a:p>
        </p:txBody>
      </p:sp>
      <p:sp>
        <p:nvSpPr>
          <p:cNvPr id="20" name="Step 5: Learn and refine"/>
          <p:cNvSpPr/>
          <p:nvPr/>
        </p:nvSpPr>
        <p:spPr>
          <a:xfrm>
            <a:off x="9239097"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lIns="256032" rIns="164592" rtlCol="0" anchor="ctr"/>
          <a:lstStyle/>
          <a:p>
            <a:pPr algn="ctr"/>
            <a:r>
              <a:rPr sz="1300" b="1" i="0">
                <a:solidFill>
                  <a:srgbClr val="111111"/>
                </a:solidFill>
                <a:latin typeface="Times New Roman"/>
              </a:rPr>
              <a:t>Learn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content.jpg"/>
          <p:cNvPicPr>
            <a:picLocks noChangeAspect="1"/>
          </p:cNvPicPr>
          <p:nvPr/>
        </p:nvPicPr>
        <p:blipFill>
          <a:blip r:embed="rId3"/>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i="0">
                <a:solidFill>
                  <a:srgbClr val="111111"/>
                </a:solidFill>
                <a:latin typeface="Times New Roman"/>
              </a:rPr>
              <a:t>Honest limits, and the road from prototype to real patients</a:t>
            </a:r>
          </a:p>
        </p:txBody>
      </p:sp>
      <p:sp>
        <p:nvSpPr>
          <p:cNvPr id="10" name="Tag: Limitations and How We Handle Them"/>
          <p:cNvSpPr/>
          <p:nvPr/>
        </p:nvSpPr>
        <p:spPr>
          <a:xfrm>
            <a:off x="731520" y="2011680"/>
            <a:ext cx="5760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Limitations and How We Handle Them</a:t>
            </a:r>
          </a:p>
        </p:txBody>
      </p:sp>
      <p:graphicFrame>
        <p:nvGraphicFramePr>
          <p:cNvPr id="11" name="Limits table"/>
          <p:cNvGraphicFramePr>
            <a:graphicFrameLocks noGrp="1"/>
          </p:cNvGraphicFramePr>
          <p:nvPr/>
        </p:nvGraphicFramePr>
        <p:xfrm>
          <a:off x="731520" y="2542032"/>
          <a:ext cx="5760720" cy="2852928"/>
        </p:xfrm>
        <a:graphic>
          <a:graphicData uri="http://schemas.openxmlformats.org/drawingml/2006/table">
            <a:tbl>
              <a:tblPr>
                <a:tableStyleId>{5940675A-B579-460E-94D1-54222C63F5DA}</a:tableStyleId>
              </a:tblPr>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75488">
                <a:tc>
                  <a:txBody>
                    <a:bodyPr/>
                    <a:lstStyle/>
                    <a:p>
                      <a:pPr algn="ctr"/>
                      <a:r>
                        <a:rPr sz="1250" b="1" i="0">
                          <a:solidFill>
                            <a:srgbClr val="111111"/>
                          </a:solidFill>
                          <a:latin typeface="Times New Roman"/>
                        </a:rPr>
                        <a:t>Limitation</a:t>
                      </a:r>
                    </a:p>
                  </a:txBody>
                  <a:tcPr marL="54864" marR="54864" marT="22860" marB="22860" anchor="ctr">
                    <a:solidFill>
                      <a:srgbClr val="8EA9DB"/>
                    </a:solidFill>
                  </a:tcPr>
                </a:tc>
                <a:tc>
                  <a:txBody>
                    <a:bodyPr/>
                    <a:lstStyle/>
                    <a:p>
                      <a:pPr algn="ctr"/>
                      <a:r>
                        <a:rPr sz="1250" b="1" i="0">
                          <a:solidFill>
                            <a:srgbClr val="111111"/>
                          </a:solidFill>
                          <a:latin typeface="Times New Roman"/>
                        </a:rPr>
                        <a:t>How we handle it</a:t>
                      </a:r>
                    </a:p>
                  </a:txBody>
                  <a:tcPr marL="54864" marR="54864" marT="22860" marB="22860" anchor="ctr">
                    <a:solidFill>
                      <a:srgbClr val="8EA9DB"/>
                    </a:solidFill>
                  </a:tcPr>
                </a:tc>
                <a:extLst>
                  <a:ext uri="{0D108BD9-81ED-4DB2-BD59-A6C34878D82A}">
                    <a16:rowId xmlns:a16="http://schemas.microsoft.com/office/drawing/2014/main" val="10000"/>
                  </a:ext>
                </a:extLst>
              </a:tr>
              <a:tr h="475488">
                <a:tc>
                  <a:txBody>
                    <a:bodyPr/>
                    <a:lstStyle/>
                    <a:p>
                      <a:pPr algn="l"/>
                      <a:r>
                        <a:rPr sz="1150" b="0" i="0">
                          <a:solidFill>
                            <a:srgbClr val="111111"/>
                          </a:solidFill>
                          <a:latin typeface="Times New Roman"/>
                        </a:rPr>
                        <a:t>Patients, readings and flare-ups are simulated</a:t>
                      </a:r>
                    </a:p>
                  </a:txBody>
                  <a:tcPr marL="54864" marR="54864" marT="22860" marB="22860" anchor="ctr">
                    <a:solidFill>
                      <a:srgbClr val="FFFFFF"/>
                    </a:solidFill>
                  </a:tcPr>
                </a:tc>
                <a:tc>
                  <a:txBody>
                    <a:bodyPr/>
                    <a:lstStyle/>
                    <a:p>
                      <a:pPr algn="l"/>
                      <a:r>
                        <a:rPr sz="1150" b="0" i="0">
                          <a:solidFill>
                            <a:srgbClr val="111111"/>
                          </a:solidFill>
                          <a:latin typeface="Times New Roman"/>
                        </a:rPr>
                        <a:t>Every effect sourced or labelled ASSUMPTION; real air and weather</a:t>
                      </a:r>
                    </a:p>
                  </a:txBody>
                  <a:tcPr marL="54864" marR="54864" marT="22860" marB="22860" anchor="ctr">
                    <a:solidFill>
                      <a:srgbClr val="FFFFFF"/>
                    </a:solidFill>
                  </a:tcPr>
                </a:tc>
                <a:extLst>
                  <a:ext uri="{0D108BD9-81ED-4DB2-BD59-A6C34878D82A}">
                    <a16:rowId xmlns:a16="http://schemas.microsoft.com/office/drawing/2014/main" val="10001"/>
                  </a:ext>
                </a:extLst>
              </a:tr>
              <a:tr h="475488">
                <a:tc>
                  <a:txBody>
                    <a:bodyPr/>
                    <a:lstStyle/>
                    <a:p>
                      <a:pPr algn="l"/>
                      <a:r>
                        <a:rPr sz="1150" b="0" i="0">
                          <a:solidFill>
                            <a:srgbClr val="111111"/>
                          </a:solidFill>
                          <a:latin typeface="Times New Roman"/>
                        </a:rPr>
                        <a:t>No India-specific PM2.5 effect for COPD</a:t>
                      </a:r>
                    </a:p>
                  </a:txBody>
                  <a:tcPr marL="54864" marR="54864" marT="22860" marB="22860" anchor="ctr">
                    <a:solidFill>
                      <a:srgbClr val="FFFFFF"/>
                    </a:solidFill>
                  </a:tcPr>
                </a:tc>
                <a:tc>
                  <a:txBody>
                    <a:bodyPr/>
                    <a:lstStyle/>
                    <a:p>
                      <a:pPr algn="l"/>
                      <a:r>
                        <a:rPr sz="1150" b="0" i="0">
                          <a:solidFill>
                            <a:srgbClr val="111111"/>
                          </a:solidFill>
                          <a:latin typeface="Times New Roman"/>
                        </a:rPr>
                        <a:t>Use the global published figure; flag it clearly</a:t>
                      </a:r>
                    </a:p>
                  </a:txBody>
                  <a:tcPr marL="54864" marR="54864" marT="22860" marB="22860" anchor="ctr">
                    <a:solidFill>
                      <a:srgbClr val="FFFFFF"/>
                    </a:solidFill>
                  </a:tcPr>
                </a:tc>
                <a:extLst>
                  <a:ext uri="{0D108BD9-81ED-4DB2-BD59-A6C34878D82A}">
                    <a16:rowId xmlns:a16="http://schemas.microsoft.com/office/drawing/2014/main" val="10002"/>
                  </a:ext>
                </a:extLst>
              </a:tr>
              <a:tr h="475488">
                <a:tc>
                  <a:txBody>
                    <a:bodyPr/>
                    <a:lstStyle/>
                    <a:p>
                      <a:pPr algn="l"/>
                      <a:r>
                        <a:rPr sz="1150" b="0" i="0">
                          <a:solidFill>
                            <a:srgbClr val="111111"/>
                          </a:solidFill>
                          <a:latin typeface="Times New Roman"/>
                        </a:rPr>
                        <a:t>Synthetic records differ from real ones</a:t>
                      </a:r>
                    </a:p>
                  </a:txBody>
                  <a:tcPr marL="54864" marR="54864" marT="22860" marB="22860" anchor="ctr">
                    <a:solidFill>
                      <a:srgbClr val="FFFFFF"/>
                    </a:solidFill>
                  </a:tcPr>
                </a:tc>
                <a:tc>
                  <a:txBody>
                    <a:bodyPr/>
                    <a:lstStyle/>
                    <a:p>
                      <a:pPr algn="l"/>
                      <a:r>
                        <a:rPr sz="1150" b="0" i="0">
                          <a:solidFill>
                            <a:srgbClr val="111111"/>
                          </a:solidFill>
                          <a:latin typeface="Times New Roman"/>
                        </a:rPr>
                        <a:t>Checked against real MIMIC-IV patients; gaps reported</a:t>
                      </a:r>
                    </a:p>
                  </a:txBody>
                  <a:tcPr marL="54864" marR="54864" marT="22860" marB="22860" anchor="ctr">
                    <a:solidFill>
                      <a:srgbClr val="FFFFFF"/>
                    </a:solidFill>
                  </a:tcPr>
                </a:tc>
                <a:extLst>
                  <a:ext uri="{0D108BD9-81ED-4DB2-BD59-A6C34878D82A}">
                    <a16:rowId xmlns:a16="http://schemas.microsoft.com/office/drawing/2014/main" val="10003"/>
                  </a:ext>
                </a:extLst>
              </a:tr>
              <a:tr h="475488">
                <a:tc>
                  <a:txBody>
                    <a:bodyPr/>
                    <a:lstStyle/>
                    <a:p>
                      <a:pPr algn="l"/>
                      <a:r>
                        <a:rPr sz="1150" b="0" i="0">
                          <a:solidFill>
                            <a:srgbClr val="111111"/>
                          </a:solidFill>
                          <a:latin typeface="Times New Roman"/>
                        </a:rPr>
                        <a:t>Demo replays past air data</a:t>
                      </a:r>
                    </a:p>
                  </a:txBody>
                  <a:tcPr marL="54864" marR="54864" marT="22860" marB="22860" anchor="ctr">
                    <a:solidFill>
                      <a:srgbClr val="FFFFFF"/>
                    </a:solidFill>
                  </a:tcPr>
                </a:tc>
                <a:tc>
                  <a:txBody>
                    <a:bodyPr/>
                    <a:lstStyle/>
                    <a:p>
                      <a:pPr algn="l"/>
                      <a:r>
                        <a:rPr sz="1150" b="0" i="0">
                          <a:solidFill>
                            <a:srgbClr val="111111"/>
                          </a:solidFill>
                          <a:latin typeface="Times New Roman"/>
                        </a:rPr>
                        <a:t>Same rules plug into a live forecast</a:t>
                      </a:r>
                    </a:p>
                  </a:txBody>
                  <a:tcPr marL="54864" marR="54864" marT="22860" marB="22860" anchor="ctr">
                    <a:solidFill>
                      <a:srgbClr val="FFFFFF"/>
                    </a:solidFill>
                  </a:tcPr>
                </a:tc>
                <a:extLst>
                  <a:ext uri="{0D108BD9-81ED-4DB2-BD59-A6C34878D82A}">
                    <a16:rowId xmlns:a16="http://schemas.microsoft.com/office/drawing/2014/main" val="10004"/>
                  </a:ext>
                </a:extLst>
              </a:tr>
              <a:tr h="475488">
                <a:tc>
                  <a:txBody>
                    <a:bodyPr/>
                    <a:lstStyle/>
                    <a:p>
                      <a:pPr algn="l"/>
                      <a:r>
                        <a:rPr sz="1150" b="0" i="0">
                          <a:solidFill>
                            <a:srgbClr val="111111"/>
                          </a:solidFill>
                          <a:latin typeface="Times New Roman"/>
                        </a:rPr>
                        <a:t>Needs a smartwatch or oximeter</a:t>
                      </a:r>
                    </a:p>
                  </a:txBody>
                  <a:tcPr marL="54864" marR="54864" marT="22860" marB="22860" anchor="ctr">
                    <a:solidFill>
                      <a:srgbClr val="FFFFFF"/>
                    </a:solidFill>
                  </a:tcPr>
                </a:tc>
                <a:tc>
                  <a:txBody>
                    <a:bodyPr/>
                    <a:lstStyle/>
                    <a:p>
                      <a:pPr algn="l"/>
                      <a:r>
                        <a:rPr sz="1150" b="0" i="0">
                          <a:solidFill>
                            <a:srgbClr val="111111"/>
                          </a:solidFill>
                          <a:latin typeface="Times New Roman"/>
                        </a:rPr>
                        <a:t>Planned: oximeter + phone symptom check-in</a:t>
                      </a:r>
                    </a:p>
                  </a:txBody>
                  <a:tcPr marL="54864" marR="54864" marT="22860" marB="22860" anchor="ctr">
                    <a:solidFill>
                      <a:srgbClr val="FFFFFF"/>
                    </a:solidFill>
                  </a:tcPr>
                </a:tc>
                <a:extLst>
                  <a:ext uri="{0D108BD9-81ED-4DB2-BD59-A6C34878D82A}">
                    <a16:rowId xmlns:a16="http://schemas.microsoft.com/office/drawing/2014/main" val="10005"/>
                  </a:ext>
                </a:extLst>
              </a:tr>
            </a:tbl>
          </a:graphicData>
        </a:graphic>
      </p:graphicFrame>
      <p:sp>
        <p:nvSpPr>
          <p:cNvPr id="12" name="Tag: Roadmap"/>
          <p:cNvSpPr/>
          <p:nvPr/>
        </p:nvSpPr>
        <p:spPr>
          <a:xfrm>
            <a:off x="6720840" y="2011680"/>
            <a:ext cx="4754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600" b="1" i="0">
                <a:solidFill>
                  <a:srgbClr val="111111"/>
                </a:solidFill>
                <a:latin typeface="Times New Roman"/>
              </a:rPr>
              <a:t>Roadmap</a:t>
            </a:r>
          </a:p>
        </p:txBody>
      </p:sp>
      <p:sp>
        <p:nvSpPr>
          <p:cNvPr id="13" name="Phase 1: Validate"/>
          <p:cNvSpPr/>
          <p:nvPr/>
        </p:nvSpPr>
        <p:spPr>
          <a:xfrm>
            <a:off x="6720840" y="2542032"/>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Phase 1: Validate</a:t>
            </a:r>
          </a:p>
        </p:txBody>
      </p:sp>
      <p:sp>
        <p:nvSpPr>
          <p:cNvPr id="14" name="Phase 1: Validate details"/>
          <p:cNvSpPr/>
          <p:nvPr/>
        </p:nvSpPr>
        <p:spPr>
          <a:xfrm>
            <a:off x="8366760" y="2542032"/>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30768" y="2569463"/>
            <a:ext cx="2999232" cy="868680"/>
          </a:xfrm>
          <a:prstGeom prst="rect">
            <a:avLst/>
          </a:prstGeom>
          <a:noFill/>
        </p:spPr>
        <p:txBody>
          <a:bodyPr wrap="square" lIns="54864" tIns="27432" rIns="54864" bIns="27432" anchor="ctr">
            <a:spAutoFit/>
          </a:bodyPr>
          <a:lstStyle/>
          <a:p>
            <a:pPr algn="l">
              <a:spcAft>
                <a:spcPts val="300"/>
              </a:spcAft>
              <a:buNone/>
            </a:pPr>
            <a:r>
              <a:rPr sz="1200" b="0" i="0">
                <a:solidFill>
                  <a:srgbClr val="111111"/>
                </a:solidFill>
                <a:latin typeface="Times New Roman"/>
              </a:rPr>
              <a:t>Partner hospital · test on real Indian COPD records · tune alert line</a:t>
            </a:r>
          </a:p>
        </p:txBody>
      </p:sp>
      <p:sp>
        <p:nvSpPr>
          <p:cNvPr id="16" name="Down arrow"/>
          <p:cNvSpPr/>
          <p:nvPr/>
        </p:nvSpPr>
        <p:spPr>
          <a:xfrm>
            <a:off x="7360920" y="3465576"/>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Phase 2: Patient app"/>
          <p:cNvSpPr/>
          <p:nvPr/>
        </p:nvSpPr>
        <p:spPr>
          <a:xfrm>
            <a:off x="6720840" y="3611879"/>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Phase 2: Patient app</a:t>
            </a:r>
          </a:p>
        </p:txBody>
      </p:sp>
      <p:sp>
        <p:nvSpPr>
          <p:cNvPr id="18" name="Phase 2: Patient app details"/>
          <p:cNvSpPr/>
          <p:nvPr/>
        </p:nvSpPr>
        <p:spPr>
          <a:xfrm>
            <a:off x="8366760" y="3611879"/>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30768" y="3639311"/>
            <a:ext cx="2999232" cy="868680"/>
          </a:xfrm>
          <a:prstGeom prst="rect">
            <a:avLst/>
          </a:prstGeom>
          <a:noFill/>
        </p:spPr>
        <p:txBody>
          <a:bodyPr wrap="square" lIns="54864" tIns="27432" rIns="54864" bIns="27432" anchor="ctr">
            <a:spAutoFit/>
          </a:bodyPr>
          <a:lstStyle/>
          <a:p>
            <a:pPr algn="l">
              <a:spcAft>
                <a:spcPts val="300"/>
              </a:spcAft>
              <a:buNone/>
            </a:pPr>
            <a:r>
              <a:rPr sz="1200" b="0" i="0">
                <a:solidFill>
                  <a:srgbClr val="111111"/>
                </a:solidFill>
                <a:latin typeface="Times New Roman"/>
              </a:rPr>
              <a:t>"My lungs today" · daily symptom check-in · SMS / WhatsApp alerts · Hindi</a:t>
            </a:r>
          </a:p>
        </p:txBody>
      </p:sp>
      <p:sp>
        <p:nvSpPr>
          <p:cNvPr id="20" name="Down arrow"/>
          <p:cNvSpPr/>
          <p:nvPr/>
        </p:nvSpPr>
        <p:spPr>
          <a:xfrm>
            <a:off x="7360920" y="4535424"/>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Phase 3: Scale"/>
          <p:cNvSpPr/>
          <p:nvPr/>
        </p:nvSpPr>
        <p:spPr>
          <a:xfrm>
            <a:off x="6720840" y="4681727"/>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111111"/>
                </a:solidFill>
                <a:latin typeface="Times New Roman"/>
              </a:rPr>
              <a:t>Phase 3: Scale</a:t>
            </a:r>
          </a:p>
        </p:txBody>
      </p:sp>
      <p:sp>
        <p:nvSpPr>
          <p:cNvPr id="22" name="Phase 3: Scale details"/>
          <p:cNvSpPr/>
          <p:nvPr/>
        </p:nvSpPr>
        <p:spPr>
          <a:xfrm>
            <a:off x="8366760" y="4681727"/>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30768" y="4709159"/>
            <a:ext cx="2999232" cy="868680"/>
          </a:xfrm>
          <a:prstGeom prst="rect">
            <a:avLst/>
          </a:prstGeom>
          <a:noFill/>
        </p:spPr>
        <p:txBody>
          <a:bodyPr wrap="square" lIns="54864" tIns="27432" rIns="54864" bIns="27432" anchor="ctr">
            <a:spAutoFit/>
          </a:bodyPr>
          <a:lstStyle/>
          <a:p>
            <a:pPr algn="l">
              <a:spcAft>
                <a:spcPts val="300"/>
              </a:spcAft>
              <a:buNone/>
            </a:pPr>
            <a:r>
              <a:rPr sz="1200" b="0" i="0">
                <a:solidFill>
                  <a:srgbClr val="111111"/>
                </a:solidFill>
                <a:latin typeface="Times New Roman"/>
              </a:rPr>
              <a:t>Live air-quality forecasts · link to ABDM health records · health-worker rollout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700" b="1" i="0">
                <a:solidFill>
                  <a:srgbClr val="111111"/>
                </a:solidFill>
                <a:latin typeface="Times New Roman"/>
              </a:rPr>
              <a:t>Next step:</a:t>
            </a:r>
          </a:p>
          <a:p>
            <a:pPr algn="ctr"/>
            <a:r>
              <a:rPr sz="1500" b="0" i="1">
                <a:solidFill>
                  <a:srgbClr val="111111"/>
                </a:solidFill>
                <a:latin typeface="Times New Roman"/>
              </a:rPr>
              <a:t>Validate on real Indian COPD patients with a hospital partner before any clinical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rIns="0" b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hank you"/>
          <p:cNvSpPr txBox="1"/>
          <p:nvPr/>
        </p:nvSpPr>
        <p:spPr>
          <a:xfrm>
            <a:off x="2926080" y="2209306"/>
            <a:ext cx="6309360" cy="1097280"/>
          </a:xfrm>
          <a:prstGeom prst="rect">
            <a:avLst/>
          </a:prstGeom>
          <a:noFill/>
        </p:spPr>
        <p:txBody>
          <a:bodyPr wrap="square" lIns="54864" tIns="27432" rIns="54864" bIns="27432" anchor="ctr">
            <a:spAutoFit/>
          </a:bodyPr>
          <a:lstStyle/>
          <a:p>
            <a:pPr algn="ctr">
              <a:spcAft>
                <a:spcPts val="300"/>
              </a:spcAft>
              <a:buNone/>
            </a:pPr>
            <a:r>
              <a:rPr sz="6000" b="0" i="0" dirty="0">
                <a:solidFill>
                  <a:srgbClr val="111111"/>
                </a:solidFill>
                <a:latin typeface="Times New Roman"/>
              </a:rPr>
              <a:t>Thank You!</a:t>
            </a:r>
          </a:p>
        </p:txBody>
      </p:sp>
      <p:sp>
        <p:nvSpPr>
          <p:cNvPr id="9" name="Team"/>
          <p:cNvSpPr txBox="1"/>
          <p:nvPr/>
        </p:nvSpPr>
        <p:spPr>
          <a:xfrm>
            <a:off x="2926080" y="3306585"/>
            <a:ext cx="6309360" cy="647870"/>
          </a:xfrm>
          <a:prstGeom prst="rect">
            <a:avLst/>
          </a:prstGeom>
          <a:noFill/>
        </p:spPr>
        <p:txBody>
          <a:bodyPr wrap="square" lIns="54864" tIns="27432" rIns="54864" bIns="27432" anchor="t">
            <a:spAutoFit/>
          </a:bodyPr>
          <a:lstStyle/>
          <a:p>
            <a:pPr algn="ctr">
              <a:spcAft>
                <a:spcPts val="300"/>
              </a:spcAft>
              <a:buNone/>
            </a:pPr>
            <a:r>
              <a:rPr sz="1800" b="0" i="0" dirty="0">
                <a:solidFill>
                  <a:srgbClr val="111111"/>
                </a:solidFill>
                <a:latin typeface="Times New Roman"/>
              </a:rPr>
              <a:t>Anushka Tomar · Yash Saxena</a:t>
            </a:r>
          </a:p>
          <a:p>
            <a:pPr algn="ctr">
              <a:spcAft>
                <a:spcPts val="300"/>
              </a:spcAft>
              <a:buNone/>
            </a:pPr>
            <a:r>
              <a:rPr sz="1800" b="0" i="1" dirty="0">
                <a:solidFill>
                  <a:srgbClr val="111111"/>
                </a:solidFill>
                <a:latin typeface="Times New Roman"/>
              </a:rPr>
              <a:t>Team MOMENTUM · SDA Bocconi Asia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2563</Words>
  <Application>Microsoft Office PowerPoint</Application>
  <PresentationFormat>Widescreen</PresentationFormat>
  <Paragraphs>341</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Yash Saxena</dc:creator>
  <cp:keywords/>
  <dc:description>generated using python-pptx</dc:description>
  <cp:lastModifiedBy>YASH SAXENA</cp:lastModifiedBy>
  <cp:revision>4</cp:revision>
  <dcterms:created xsi:type="dcterms:W3CDTF">2013-01-27T09:14:16Z</dcterms:created>
  <dcterms:modified xsi:type="dcterms:W3CDTF">2026-10-19T19:55:31Z</dcterms:modified>
  <cp:category/>
</cp:coreProperties>
</file>