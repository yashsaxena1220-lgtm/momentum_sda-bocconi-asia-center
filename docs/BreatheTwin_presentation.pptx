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70" r:id="rId22"/>
    <p:sldId id="259" r:id="rId11"/>
    <p:sldId id="271" r:id="rId23"/>
    <p:sldId id="260" r:id="rId12"/>
    <p:sldId id="272" r:id="rId24"/>
    <p:sldId id="261" r:id="rId13"/>
    <p:sldId id="262" r:id="rId14"/>
    <p:sldId id="273" r:id="rId25"/>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5.xml"/><Relationship Id="rId12" Type="http://schemas.openxmlformats.org/officeDocument/2006/relationships/slide" Target="slides/slide7.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4.xml"/><Relationship Id="rId23" Type="http://schemas.openxmlformats.org/officeDocument/2006/relationships/slide" Target="slides/slide6.xml"/><Relationship Id="rId24" Type="http://schemas.openxmlformats.org/officeDocument/2006/relationships/slide" Target="slides/slide8.xml"/><Relationship Id="rId25" Type="http://schemas.openxmlformats.org/officeDocument/2006/relationships/slide" Target="slides/slide1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i="0">
                <a:solidFill>
                  <a:srgbClr val="111111"/>
                </a:solidFill>
                <a:latin typeface="Times New Roman"/>
              </a:rPr>
              <a:t>Average PM2.5, Mar 2019 to Feb 2020 (µg/m³)</a:t>
            </a:r>
          </a:p>
        </c:rich>
      </c:tx>
      <c:layout/>
      <c:overlay val="0"/>
    </c:title>
    <c:autoTitleDeleted val="0"/>
    <c:plotArea>
      <c:barChart>
        <c:barDir val="bar"/>
        <c:grouping val="clustered"/>
        <c:ser>
          <c:idx val="0"/>
          <c:order val="0"/>
          <c:tx>
            <c:strRef>
              <c:f>Sheet1!$B$1</c:f>
              <c:strCache>
                <c:ptCount val="1"/>
                <c:pt idx="0">
                  <c:v>s</c:v>
                </c:pt>
              </c:strCache>
            </c:strRef>
          </c:tx>
          <c:spPr>
            <a:solidFill>
              <a:srgbClr val="2F5597"/>
            </a:solidFill>
          </c:spPr>
          <c:dPt>
            <c:idx val="0"/>
            <c:spPr>
              <a:solidFill>
                <a:srgbClr val="B23A2E"/>
              </a:solidFill>
            </c:spPr>
          </c:dPt>
          <c:dPt>
            <c:idx val="1"/>
            <c:spPr>
              <a:solidFill>
                <a:srgbClr val="B23A2E"/>
              </a:solidFill>
            </c:spPr>
          </c:dPt>
          <c:dPt>
            <c:idx val="2"/>
            <c:spPr>
              <a:solidFill>
                <a:srgbClr val="B23A2E"/>
              </a:solidFill>
            </c:spPr>
          </c:dPt>
          <c:cat>
            <c:strRef>
              <c:f>Sheet1!$A$2:$A$9</c:f>
              <c:strCache>
                <c:ptCount val="8"/>
                <c:pt idx="0">
                  <c:v>Delhi</c:v>
                </c:pt>
                <c:pt idx="1">
                  <c:v>Lucknow</c:v>
                </c:pt>
                <c:pt idx="2">
                  <c:v>Patna</c:v>
                </c:pt>
                <c:pt idx="3">
                  <c:v>Kolkata</c:v>
                </c:pt>
                <c:pt idx="4">
                  <c:v>Chennai</c:v>
                </c:pt>
                <c:pt idx="5">
                  <c:v>Hyderabad</c:v>
                </c:pt>
                <c:pt idx="6">
                  <c:v>Mumbai</c:v>
                </c:pt>
                <c:pt idx="7">
                  <c:v>Bengaluru</c:v>
                </c:pt>
              </c:strCache>
            </c:strRef>
          </c:cat>
          <c:val>
            <c:numRef>
              <c:f>Sheet1!$B$2:$B$9</c:f>
              <c:numCache>
                <c:formatCode>General</c:formatCode>
                <c:ptCount val="8"/>
                <c:pt idx="0">
                  <c:v>104.0</c:v>
                </c:pt>
                <c:pt idx="1">
                  <c:v>94.0</c:v>
                </c:pt>
                <c:pt idx="2">
                  <c:v>88.0</c:v>
                </c:pt>
                <c:pt idx="3">
                  <c:v>56.0</c:v>
                </c:pt>
                <c:pt idx="4">
                  <c:v>41.0</c:v>
                </c:pt>
                <c:pt idx="5">
                  <c:v>39.0</c:v>
                </c:pt>
                <c:pt idx="6">
                  <c:v>36.0</c:v>
                </c:pt>
                <c:pt idx="7">
                  <c:v>34.0</c:v>
                </c:pt>
              </c:numCache>
            </c:numRef>
          </c:val>
        </c:ser>
        <c:dLbls>
          <c:numFmt formatCode="0" sourceLinked="0"/>
          <c:txPr>
            <a:bodyPr/>
            <a:lstStyle/>
            <a:p>
              <a:pPr>
                <a:defRPr sz="1100" b="1">
                  <a:latin typeface="Times New Roman"/>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axMin"/>
        </c:scaling>
        <c:delete val="0"/>
        <c:axPos val="l"/>
        <c:majorTickMark val="out"/>
        <c:minorTickMark val="none"/>
        <c:tickLblPos val="nextTo"/>
        <c:spPr>
          <a:ln>
            <a:solidFill>
              <a:srgbClr val="808080"/>
            </a:solidFill>
          </a:ln>
        </c:spPr>
        <c:txPr>
          <a:bodyPr/>
          <a:lstStyle/>
          <a:p>
            <a:pPr>
              <a:defRPr sz="1100">
                <a:latin typeface="Times New Roman"/>
              </a:defRPr>
            </a:pPr>
          </a:p>
        </c:txPr>
        <c:crossAx val="-2113994440"/>
        <c:crosses val="autoZero"/>
        <c:auto val="1"/>
        <c:lblAlgn val="ctr"/>
        <c:lblOffset val="100"/>
        <c:noMultiLvlLbl val="0"/>
      </c:catAx>
      <c:valAx>
        <c:axId val="-2113994440"/>
        <c:scaling>
          <c:max val="130.0"/>
          <c:min val="0.0"/>
        </c:scaling>
        <c:delete val="0"/>
        <c:axPos val="b"/>
        <c:majorGridlines>
          <c:spPr>
            <a:ln>
              <a:solidFill>
                <a:srgbClr val="D9D9D9"/>
              </a:solidFill>
            </a:ln>
          </c:spPr>
        </c:majorGridlines>
        <c:majorTickMark val="out"/>
        <c:minorTickMark val="none"/>
        <c:tickLblPos val="nextTo"/>
        <c:spPr>
          <a:ln>
            <a:noFill/>
          </a:ln>
        </c:spPr>
        <c:txPr>
          <a:bodyPr/>
          <a:lstStyle/>
          <a:p>
            <a:pPr>
              <a:defRPr sz="1000">
                <a:latin typeface="Times New Roman"/>
              </a:defRPr>
            </a:pPr>
          </a:p>
        </c:txPr>
        <c:crossAx val="-2068027336"/>
        <c:crosses val="autoZero"/>
      </c:valAx>
    </c:plotArea>
    <c:dispBlanksAs val="gap"/>
  </c:chart>
  <c:txPr>
    <a:bodyPr/>
    <a:lstStyle/>
    <a:p>
      <a:pPr>
        <a:defRPr sz="1100">
          <a:solidFill>
            <a:srgbClr val="111111"/>
          </a:solidFill>
          <a:latin typeface="Times New Roman"/>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i="0">
                <a:solidFill>
                  <a:srgbClr val="111111"/>
                </a:solidFill>
                <a:latin typeface="Times New Roman"/>
              </a:rPr>
              <a:t>Patients by age group: every adult generation</a:t>
            </a:r>
          </a:p>
        </c:rich>
      </c:tx>
      <c:layout/>
      <c:overlay val="0"/>
    </c:title>
    <c:autoTitleDeleted val="0"/>
    <c:plotArea>
      <c:barChart>
        <c:barDir val="col"/>
        <c:grouping val="clustered"/>
        <c:ser>
          <c:idx val="0"/>
          <c:order val="0"/>
          <c:tx>
            <c:strRef>
              <c:f>Sheet1!$B$1</c:f>
              <c:strCache>
                <c:ptCount val="1"/>
                <c:pt idx="0">
                  <c:v>s</c:v>
                </c:pt>
              </c:strCache>
            </c:strRef>
          </c:tx>
          <c:spPr>
            <a:solidFill>
              <a:srgbClr val="2F5597"/>
            </a:solidFill>
          </c:spPr>
          <c:cat>
            <c:strRef>
              <c:f>Sheet1!$A$2:$A$7</c:f>
              <c:strCache>
                <c:ptCount val="6"/>
                <c:pt idx="0">
                  <c:v>30-39</c:v>
                </c:pt>
                <c:pt idx="1">
                  <c:v>40-49</c:v>
                </c:pt>
                <c:pt idx="2">
                  <c:v>50-59</c:v>
                </c:pt>
                <c:pt idx="3">
                  <c:v>60-69</c:v>
                </c:pt>
                <c:pt idx="4">
                  <c:v>70-79</c:v>
                </c:pt>
                <c:pt idx="5">
                  <c:v>80+</c:v>
                </c:pt>
              </c:strCache>
            </c:strRef>
          </c:cat>
          <c:val>
            <c:numRef>
              <c:f>Sheet1!$B$2:$B$7</c:f>
              <c:numCache>
                <c:formatCode>General</c:formatCode>
                <c:ptCount val="6"/>
                <c:pt idx="0">
                  <c:v>40</c:v>
                </c:pt>
                <c:pt idx="1">
                  <c:v>49</c:v>
                </c:pt>
                <c:pt idx="2">
                  <c:v>62</c:v>
                </c:pt>
                <c:pt idx="3">
                  <c:v>67</c:v>
                </c:pt>
                <c:pt idx="4">
                  <c:v>79</c:v>
                </c:pt>
                <c:pt idx="5">
                  <c:v>103</c:v>
                </c:pt>
              </c:numCache>
            </c:numRef>
          </c:val>
        </c:ser>
        <c:dLbls>
          <c:numFmt formatCode="0" sourceLinked="0"/>
          <c:txPr>
            <a:bodyPr/>
            <a:lstStyle/>
            <a:p>
              <a:pPr>
                <a:defRPr sz="1100" b="1">
                  <a:latin typeface="Times New Roman"/>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808080"/>
            </a:solidFill>
          </a:ln>
        </c:spPr>
        <c:txPr>
          <a:bodyPr/>
          <a:lstStyle/>
          <a:p>
            <a:pPr>
              <a:defRPr sz="1100">
                <a:latin typeface="Times New Roman"/>
              </a:defRPr>
            </a:pPr>
          </a:p>
        </c:txPr>
        <c:crossAx val="-2113994440"/>
        <c:crosses val="autoZero"/>
        <c:auto val="1"/>
        <c:lblAlgn val="ctr"/>
        <c:lblOffset val="100"/>
        <c:noMultiLvlLbl val="0"/>
      </c:catAx>
      <c:valAx>
        <c:axId val="-2113994440"/>
        <c:scaling>
          <c:max val="120.0"/>
          <c:min val="0.0"/>
        </c:scaling>
        <c:delete val="0"/>
        <c:axPos val="l"/>
        <c:majorGridlines>
          <c:spPr>
            <a:ln>
              <a:solidFill>
                <a:srgbClr val="D9D9D9"/>
              </a:solidFill>
            </a:ln>
          </c:spPr>
        </c:majorGridlines>
        <c:majorTickMark val="out"/>
        <c:minorTickMark val="none"/>
        <c:tickLblPos val="nextTo"/>
        <c:spPr>
          <a:ln>
            <a:noFill/>
          </a:ln>
        </c:spPr>
        <c:txPr>
          <a:bodyPr/>
          <a:lstStyle/>
          <a:p>
            <a:pPr>
              <a:defRPr sz="1000">
                <a:latin typeface="Times New Roman"/>
              </a:defRPr>
            </a:pPr>
          </a:p>
        </c:txPr>
        <c:crossAx val="-2068027336"/>
        <c:crosses val="autoZero"/>
      </c:valAx>
    </c:plotArea>
    <c:dispBlanksAs val="gap"/>
  </c:chart>
  <c:txPr>
    <a:bodyPr/>
    <a:lstStyle/>
    <a:p>
      <a:pPr>
        <a:defRPr sz="1100">
          <a:solidFill>
            <a:srgbClr val="111111"/>
          </a:solidFill>
          <a:latin typeface="Times New Roman"/>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i="0">
                <a:solidFill>
                  <a:srgbClr val="111111"/>
                </a:solidFill>
                <a:latin typeface="Times New Roman"/>
              </a:rPr>
              <a:t>Prediction quality by data stream (AUROC)</a:t>
            </a:r>
          </a:p>
        </c:rich>
      </c:tx>
      <c:layout/>
      <c:overlay val="0"/>
    </c:title>
    <c:autoTitleDeleted val="0"/>
    <c:plotArea>
      <c:barChart>
        <c:barDir val="bar"/>
        <c:grouping val="clustered"/>
        <c:ser>
          <c:idx val="0"/>
          <c:order val="0"/>
          <c:tx>
            <c:strRef>
              <c:f>Sheet1!$B$1</c:f>
              <c:strCache>
                <c:ptCount val="1"/>
                <c:pt idx="0">
                  <c:v>s</c:v>
                </c:pt>
              </c:strCache>
            </c:strRef>
          </c:tx>
          <c:spPr>
            <a:solidFill>
              <a:srgbClr val="9FB7C2"/>
            </a:solidFill>
          </c:spPr>
          <c:dPt>
            <c:idx val="4"/>
            <c:spPr>
              <a:solidFill>
                <a:srgbClr val="B23A2E"/>
              </a:solidFill>
            </c:spPr>
          </c:dPt>
          <c:cat>
            <c:strRef>
              <c:f>Sheet1!$A$2:$A$6</c:f>
              <c:strCache>
                <c:ptCount val="5"/>
                <c:pt idx="0">
                  <c:v>Record only</c:v>
                </c:pt>
                <c:pt idx="1">
                  <c:v>Air + weather only</c:v>
                </c:pt>
                <c:pt idx="2">
                  <c:v>Wearables only</c:v>
                </c:pt>
                <c:pt idx="3">
                  <c:v>Wearables + record</c:v>
                </c:pt>
                <c:pt idx="4">
                  <c:v>All three (twin)</c:v>
                </c:pt>
              </c:strCache>
            </c:strRef>
          </c:cat>
          <c:val>
            <c:numRef>
              <c:f>Sheet1!$B$2:$B$6</c:f>
              <c:numCache>
                <c:formatCode>General</c:formatCode>
                <c:ptCount val="5"/>
                <c:pt idx="0">
                  <c:v>0.659</c:v>
                </c:pt>
                <c:pt idx="1">
                  <c:v>0.452</c:v>
                </c:pt>
                <c:pt idx="2">
                  <c:v>0.791</c:v>
                </c:pt>
                <c:pt idx="3">
                  <c:v>0.805</c:v>
                </c:pt>
                <c:pt idx="4">
                  <c:v>0.8</c:v>
                </c:pt>
              </c:numCache>
            </c:numRef>
          </c:val>
        </c:ser>
        <c:dLbls>
          <c:numFmt formatCode="0.00" sourceLinked="0"/>
          <c:txPr>
            <a:bodyPr/>
            <a:lstStyle/>
            <a:p>
              <a:pPr>
                <a:defRPr sz="1100" b="1">
                  <a:latin typeface="Times New Roman"/>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axMin"/>
        </c:scaling>
        <c:delete val="0"/>
        <c:axPos val="l"/>
        <c:majorTickMark val="out"/>
        <c:minorTickMark val="none"/>
        <c:tickLblPos val="nextTo"/>
        <c:spPr>
          <a:ln>
            <a:solidFill>
              <a:srgbClr val="808080"/>
            </a:solidFill>
          </a:ln>
        </c:spPr>
        <c:txPr>
          <a:bodyPr/>
          <a:lstStyle/>
          <a:p>
            <a:pPr>
              <a:defRPr sz="1100">
                <a:latin typeface="Times New Roman"/>
              </a:defRPr>
            </a:pPr>
          </a:p>
        </c:txPr>
        <c:crossAx val="-2113994440"/>
        <c:crosses val="autoZero"/>
        <c:auto val="1"/>
        <c:lblAlgn val="ctr"/>
        <c:lblOffset val="100"/>
        <c:noMultiLvlLbl val="0"/>
      </c:catAx>
      <c:valAx>
        <c:axId val="-2113994440"/>
        <c:scaling>
          <c:max val="1.0"/>
          <c:min val="0.0"/>
        </c:scaling>
        <c:delete val="0"/>
        <c:axPos val="b"/>
        <c:majorGridlines>
          <c:spPr>
            <a:ln>
              <a:solidFill>
                <a:srgbClr val="D9D9D9"/>
              </a:solidFill>
            </a:ln>
          </c:spPr>
        </c:majorGridlines>
        <c:majorTickMark val="out"/>
        <c:minorTickMark val="none"/>
        <c:tickLblPos val="nextTo"/>
        <c:spPr>
          <a:ln>
            <a:noFill/>
          </a:ln>
        </c:spPr>
        <c:txPr>
          <a:bodyPr/>
          <a:lstStyle/>
          <a:p>
            <a:pPr>
              <a:defRPr sz="1000">
                <a:latin typeface="Times New Roman"/>
              </a:defRPr>
            </a:pPr>
          </a:p>
        </c:txPr>
        <c:crossAx val="-2068027336"/>
        <c:crosses val="autoZero"/>
      </c:valAx>
    </c:plotArea>
    <c:dispBlanksAs val="gap"/>
  </c:chart>
  <c:txPr>
    <a:bodyPr/>
    <a:lstStyle/>
    <a:p>
      <a:pPr>
        <a:defRPr sz="1100">
          <a:solidFill>
            <a:srgbClr val="111111"/>
          </a:solidFill>
          <a:latin typeface="Times New Roman"/>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i="0">
                <a:solidFill>
                  <a:srgbClr val="111111"/>
                </a:solidFill>
                <a:latin typeface="Times New Roman"/>
              </a:rPr>
              <a:t>Share of the twin's reasoning by factor (%)</a:t>
            </a:r>
          </a:p>
        </c:rich>
      </c:tx>
      <c:layout/>
      <c:overlay val="0"/>
    </c:title>
    <c:autoTitleDeleted val="0"/>
    <c:plotArea>
      <c:barChart>
        <c:barDir val="bar"/>
        <c:grouping val="clustered"/>
        <c:ser>
          <c:idx val="0"/>
          <c:order val="0"/>
          <c:tx>
            <c:strRef>
              <c:f>Sheet1!$B$1</c:f>
              <c:strCache>
                <c:ptCount val="1"/>
                <c:pt idx="0">
                  <c:v>s</c:v>
                </c:pt>
              </c:strCache>
            </c:strRef>
          </c:tx>
          <c:spPr>
            <a:solidFill>
              <a:srgbClr val="2F5597"/>
            </a:solidFill>
          </c:spPr>
          <c:cat>
            <c:strRef>
              <c:f>Sheet1!$A$2:$A$9</c:f>
              <c:strCache>
                <c:ptCount val="8"/>
                <c:pt idx="0">
                  <c:v>Health record</c:v>
                </c:pt>
                <c:pt idx="1">
                  <c:v>Blood oxygen</c:v>
                </c:pt>
                <c:pt idx="2">
                  <c:v>Breathing rate</c:v>
                </c:pt>
                <c:pt idx="3">
                  <c:v>Rescue inhaler use</c:v>
                </c:pt>
                <c:pt idx="4">
                  <c:v>Heart rate</c:v>
                </c:pt>
                <c:pt idx="5">
                  <c:v>Cold snap</c:v>
                </c:pt>
                <c:pt idx="6">
                  <c:v>Activity</c:v>
                </c:pt>
                <c:pt idx="7">
                  <c:v>Missed inhaler doses</c:v>
                </c:pt>
              </c:strCache>
            </c:strRef>
          </c:cat>
          <c:val>
            <c:numRef>
              <c:f>Sheet1!$B$2:$B$9</c:f>
              <c:numCache>
                <c:formatCode>General</c:formatCode>
                <c:ptCount val="8"/>
                <c:pt idx="0">
                  <c:v>32.1</c:v>
                </c:pt>
                <c:pt idx="1">
                  <c:v>14.5</c:v>
                </c:pt>
                <c:pt idx="2">
                  <c:v>12.4</c:v>
                </c:pt>
                <c:pt idx="3">
                  <c:v>10.7</c:v>
                </c:pt>
                <c:pt idx="4">
                  <c:v>9.9</c:v>
                </c:pt>
                <c:pt idx="5">
                  <c:v>6.3</c:v>
                </c:pt>
                <c:pt idx="6">
                  <c:v>5.4</c:v>
                </c:pt>
                <c:pt idx="7">
                  <c:v>2.7</c:v>
                </c:pt>
              </c:numCache>
            </c:numRef>
          </c:val>
        </c:ser>
        <c:dLbls>
          <c:numFmt formatCode="0&quot;%&quot;" sourceLinked="0"/>
          <c:txPr>
            <a:bodyPr/>
            <a:lstStyle/>
            <a:p>
              <a:pPr>
                <a:defRPr sz="1100" b="1">
                  <a:latin typeface="Times New Roman"/>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axMin"/>
        </c:scaling>
        <c:delete val="0"/>
        <c:axPos val="l"/>
        <c:majorTickMark val="out"/>
        <c:minorTickMark val="none"/>
        <c:tickLblPos val="nextTo"/>
        <c:spPr>
          <a:ln>
            <a:solidFill>
              <a:srgbClr val="808080"/>
            </a:solidFill>
          </a:ln>
        </c:spPr>
        <c:txPr>
          <a:bodyPr/>
          <a:lstStyle/>
          <a:p>
            <a:pPr>
              <a:defRPr sz="1100">
                <a:latin typeface="Times New Roman"/>
              </a:defRPr>
            </a:pPr>
          </a:p>
        </c:txPr>
        <c:crossAx val="-2113994440"/>
        <c:crosses val="autoZero"/>
        <c:auto val="1"/>
        <c:lblAlgn val="ctr"/>
        <c:lblOffset val="100"/>
        <c:noMultiLvlLbl val="0"/>
      </c:catAx>
      <c:valAx>
        <c:axId val="-2113994440"/>
        <c:scaling>
          <c:max val="40.0"/>
          <c:min val="0.0"/>
        </c:scaling>
        <c:delete val="0"/>
        <c:axPos val="b"/>
        <c:majorGridlines>
          <c:spPr>
            <a:ln>
              <a:solidFill>
                <a:srgbClr val="D9D9D9"/>
              </a:solidFill>
            </a:ln>
          </c:spPr>
        </c:majorGridlines>
        <c:majorTickMark val="out"/>
        <c:minorTickMark val="none"/>
        <c:tickLblPos val="nextTo"/>
        <c:spPr>
          <a:ln>
            <a:noFill/>
          </a:ln>
        </c:spPr>
        <c:txPr>
          <a:bodyPr/>
          <a:lstStyle/>
          <a:p>
            <a:pPr>
              <a:defRPr sz="1000">
                <a:latin typeface="Times New Roman"/>
              </a:defRPr>
            </a:pPr>
          </a:p>
        </c:txPr>
        <c:crossAx val="-2068027336"/>
        <c:crosses val="autoZero"/>
      </c:valAx>
    </c:plotArea>
    <c:dispBlanksAs val="gap"/>
  </c:chart>
  <c:txPr>
    <a:bodyPr/>
    <a:lstStyle/>
    <a:p>
      <a:pPr>
        <a:defRPr sz="1100">
          <a:solidFill>
            <a:srgbClr val="111111"/>
          </a:solidFill>
          <a:latin typeface="Times New Roman"/>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BreatheTwin is a digital twin of a COPD patient. It learns the patient's own normal, watches their city's air and weather, and warns 1 to 3 days before a likely flare-up.</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the problem: a huge COPD burden, flare-ups are the dangerous moments, the body warns days earlier, and India's winter air makes things worse. The chart uses real CPCB data from our replay year.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columns: what it is, the three data streams it fuses, what the doctor sees, and how it differs from usual care and generic wearables.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left to right. Each reading is compared with the patient's own last four weeks. A LightGBM model learns from body signals, inhaler use, weather and the record; air pollution uses a published dose-response. The twin then produces five outputs.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Air and weather are real. No open dataset of Indian COPD patients with wearables exists, so patients, watch readings and flare-ups are simulated from published studies. We also checked our record code on real MIMIC-IV demo patients.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LightGBM gradient-boosted trees, trained on 280 patients and tested on 120 it never saw. Safety rules stop nonsense answers. Explanations come from per-factor contributions (SHAP values).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AUROC 0.80 sits inside the published real-world range of 0.68 to 0.85. Body signals carry the 3-day warning; the record sets each person's starting risk. Measured on simulated patients.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Overview ranks all 400 patients by risk with the main reason and record facts. The patient page shows the risk dial, today's readings against the patient's own normal, safety checks and what would lower the risk.</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health record has its own section and shows how much it raises or lowers risk. The what-if lab lets a doctor try a smog week, a cold snap, stopped inhaler, or record changes like eosinophils.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Enter the record, usual readings and readings now, and optionally today's PM2.5 from an AQI app. We tested it: same readings give low risk, warning signs give high risk, higher eosinophils raise it.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Smog and cold warnings for the next 3 days use India's CPCB bands and give plain advice. The one-page visit summary is what a family can print and take to the doctor.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twin, different views: a ranked list for doctors, a short call list for health workers, plain advice and a printable summary for families.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upfront about what is simulated and assumed. The roadmap starts with validation on real Indian patients before anything else.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answers which devices the twin plugs into. Left: every signal the twin reads, the sensor that measures it, the devices that carry that sensor, and where it enters the model. Right: three kits, from a full set to a no-watch option. Nothing needs a needle or a blood test. Be clear that in the prototype these readings are simulated or typed in; the device links go through Health Connect, Apple HealthKit and vendor APIs, which is the integration plan. Air and weather are already real.</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top to bottom. One: collect the three streams. Two: clean them into one row per patient per day; a missing sensor stays missing, never zero. Three: the twin compares today with the patient's own normal, the hybrid engine scores risk, and rule checks run in parallel. Four: decide high, medium or low. Five: act, with the call list, reasons, what-if, smog alerts and the visit summary. The outcome feeds back so the baseline updates the next day.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upfront. All of the environment is real: CPCB air quality and Open-Meteo weather for 8 cities over a full year. Everything about the patients used for training is synthetic, because no open dataset links COPD wearables to labelled flare-ups. By volume that makes about 1% of the training values real. That is exactly why we added a stress test on 100 real, de-identified hospital patients from MIMIC-III, never used for training.</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fed the twin 100 real, de-identified ICU patients from the open MIMIC-III demo: 55 women and 45 men, aged 18 to 90. Their real record and real heart rate, breathing rate and oxygen go in exactly like the 'Check a new person' page; air and weather are held fixed so only the person differs. 75 had enough data. No crash, no impossible output, even with a missing oxygen sensor. Risk rises with real worsening signs. Be honest about the limits: an oxygen drop alone barely moves the learned risk, though the rule layer flags it urgent; risk did not predict in-hospital death, which is a different event; and the sex comparison rests on small groups.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xml"/><Relationship Id="rId4" Type="http://schemas.openxmlformats.org/officeDocument/2006/relationships/chart" Target="../charts/char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3.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15.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5.xml"/><Relationship Id="rId4" Type="http://schemas.openxmlformats.org/officeDocument/2006/relationships/chart" Target="../charts/char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1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7.xml"/><Relationship Id="rId4" Type="http://schemas.openxmlformats.org/officeDocument/2006/relationships/chart" Target="../charts/chart3.xml"/><Relationship Id="rId5" Type="http://schemas.openxmlformats.org/officeDocument/2006/relationships/chart" Target="../charts/char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1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8.xml"/><Relationship Id="rId4" Type="http://schemas.openxmlformats.org/officeDocument/2006/relationships/image" Target="../media/image4.png"/><Relationship Id="rId5"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9.xml"/><Relationship Id="rId4" Type="http://schemas.openxmlformats.org/officeDocument/2006/relationships/image" Target="../media/image6.png"/><Relationship Id="rId5"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10.xml"/><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11.xml"/><Relationship Id="rId4" Type="http://schemas.openxmlformats.org/officeDocument/2006/relationships/image" Target="../media/image9.png"/><Relationship Id="rId5"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descr="bg_title.jpg"/>
          <p:cNvPicPr>
            <a:picLocks noChangeAspect="1"/>
          </p:cNvPicPr>
          <p:nvPr/>
        </p:nvPicPr>
        <p:blipFill>
          <a:blip r:embed="rId2"/>
          <a:stretch>
            <a:fillRect/>
          </a:stretch>
        </p:blipFill>
        <p:spPr>
          <a:xfrm>
            <a:off x="0" y="0"/>
            <a:ext cx="12191695" cy="6858000"/>
          </a:xfrm>
          <a:prstGeom prst="rect">
            <a:avLst/>
          </a:prstGeom>
        </p:spPr>
      </p:pic>
      <p:sp>
        <p:nvSpPr>
          <p:cNvPr id="3" name="BreatheTwin logo"/>
          <p:cNvSpPr/>
          <p:nvPr/>
        </p:nvSpPr>
        <p:spPr>
          <a:xfrm>
            <a:off x="411480" y="201168"/>
            <a:ext cx="3794760" cy="603504"/>
          </a:xfrm>
          <a:prstGeom prst="rect">
            <a:avLst/>
          </a:prstGeom>
          <a:solidFill>
            <a:srgbClr val="0B2A78"/>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Logo mark"/>
          <p:cNvSpPr/>
          <p:nvPr/>
        </p:nvSpPr>
        <p:spPr>
          <a:xfrm>
            <a:off x="475488" y="256032"/>
            <a:ext cx="493776" cy="4937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900" b="1">
                <a:solidFill>
                  <a:srgbClr val="B23A2E"/>
                </a:solidFill>
                <a:latin typeface="Arial"/>
              </a:rPr>
              <a:t>BT</a:t>
            </a:r>
          </a:p>
        </p:txBody>
      </p:sp>
      <p:sp>
        <p:nvSpPr>
          <p:cNvPr id="5" name="Logo text"/>
          <p:cNvSpPr txBox="1"/>
          <p:nvPr/>
        </p:nvSpPr>
        <p:spPr>
          <a:xfrm>
            <a:off x="1024128" y="182880"/>
            <a:ext cx="3154680" cy="457200"/>
          </a:xfrm>
          <a:prstGeom prst="rect">
            <a:avLst/>
          </a:prstGeom>
          <a:noFill/>
        </p:spPr>
        <p:txBody>
          <a:bodyPr wrap="none" lIns="0" tIns="0" bIns="0">
            <a:spAutoFit/>
          </a:bodyPr>
          <a:lstStyle/>
          <a:p>
            <a:r>
              <a:rPr sz="2500" b="1">
                <a:solidFill>
                  <a:srgbClr val="FFFFFF"/>
                </a:solidFill>
                <a:latin typeface="Arial"/>
              </a:rPr>
              <a:t>BREATHETWIN</a:t>
            </a:r>
          </a:p>
        </p:txBody>
      </p:sp>
      <p:sp>
        <p:nvSpPr>
          <p:cNvPr id="6" name="Logo sub"/>
          <p:cNvSpPr txBox="1"/>
          <p:nvPr/>
        </p:nvSpPr>
        <p:spPr>
          <a:xfrm>
            <a:off x="1024128" y="585216"/>
            <a:ext cx="3108960" cy="219456"/>
          </a:xfrm>
          <a:prstGeom prst="rect">
            <a:avLst/>
          </a:prstGeom>
          <a:noFill/>
        </p:spPr>
        <p:txBody>
          <a:bodyPr wrap="none" lIns="0" tIns="0" bIns="0" rIns="0">
            <a:spAutoFit/>
          </a:bodyPr>
          <a:lstStyle/>
          <a:p>
            <a:pPr algn="r"/>
            <a:r>
              <a:rPr sz="900" b="1">
                <a:solidFill>
                  <a:srgbClr val="FFFFFF"/>
                </a:solidFill>
                <a:latin typeface="Arial"/>
              </a:rPr>
              <a:t>TEAM MOMENTUM</a:t>
            </a:r>
          </a:p>
        </p:txBody>
      </p:sp>
      <p:sp>
        <p:nvSpPr>
          <p:cNvPr id="7" name="Logo tagline"/>
          <p:cNvSpPr txBox="1"/>
          <p:nvPr/>
        </p:nvSpPr>
        <p:spPr>
          <a:xfrm>
            <a:off x="566928" y="822960"/>
            <a:ext cx="4023360" cy="274320"/>
          </a:xfrm>
          <a:prstGeom prst="rect">
            <a:avLst/>
          </a:prstGeom>
          <a:noFill/>
        </p:spPr>
        <p:txBody>
          <a:bodyPr wrap="none" lIns="0" tIns="0" bIns="0">
            <a:spAutoFit/>
          </a:bodyPr>
          <a:lstStyle/>
          <a:p>
            <a:r>
              <a:rPr sz="1300" b="1" i="1">
                <a:solidFill>
                  <a:srgbClr val="FFFFFF"/>
                </a:solidFill>
                <a:latin typeface="Arial"/>
              </a:rPr>
              <a:t>EARLY WARNING. EASIER BREATHING.</a:t>
            </a:r>
          </a:p>
        </p:txBody>
      </p:sp>
      <p:sp>
        <p:nvSpPr>
          <p:cNvPr id="8" name="Title card"/>
          <p:cNvSpPr/>
          <p:nvPr/>
        </p:nvSpPr>
        <p:spPr>
          <a:xfrm>
            <a:off x="3108960" y="1874519"/>
            <a:ext cx="5989320" cy="2240280"/>
          </a:xfrm>
          <a:prstGeom prst="rect">
            <a:avLst/>
          </a:prstGeom>
          <a:solidFill>
            <a:srgbClr val="3F6FD1"/>
          </a:solidFill>
          <a:ln w="9525">
            <a:solidFill>
              <a:srgbClr val="2F559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000" b="1" i="0">
                <a:solidFill>
                  <a:srgbClr val="FFFFFF"/>
                </a:solidFill>
                <a:latin typeface="Times New Roman"/>
              </a:rPr>
              <a:t>BreatheTwin</a:t>
            </a:r>
          </a:p>
          <a:p>
            <a:pPr algn="ctr"/>
            <a:r>
              <a:rPr sz="2200" b="1" i="1">
                <a:solidFill>
                  <a:srgbClr val="FFFFFF"/>
                </a:solidFill>
                <a:latin typeface="Times New Roman"/>
              </a:rPr>
              <a:t>A COPD digital twin for India</a:t>
            </a:r>
          </a:p>
          <a:p>
            <a:pPr algn="ctr"/>
            <a:r>
              <a:rPr sz="1700" b="0" i="0">
                <a:solidFill>
                  <a:srgbClr val="FFFFFF"/>
                </a:solidFill>
                <a:latin typeface="Times New Roman"/>
              </a:rPr>
              <a:t>Warns 1 to 3 days before a flare-up, explains why, and shows what to do</a:t>
            </a:r>
          </a:p>
          <a:p>
            <a:pPr algn="ctr">
              <a:spcBef>
                <a:spcPts val="800"/>
              </a:spcBef>
            </a:pPr>
            <a:r>
              <a:rPr sz="1400" b="1" i="0">
                <a:solidFill>
                  <a:srgbClr val="FFFFFF"/>
                </a:solidFill>
                <a:latin typeface="Times New Roman"/>
              </a:rPr>
              <a:t>Team MOMENTUM · SDA Bocconi Asia Center, Mumbai</a:t>
            </a:r>
          </a:p>
          <a:p>
            <a:pPr algn="ctr"/>
            <a:r>
              <a:rPr sz="1300" b="0" i="1">
                <a:solidFill>
                  <a:srgbClr val="FFFFFF"/>
                </a:solidFill>
                <a:latin typeface="Times New Roman"/>
              </a:rPr>
              <a:t>Digital Twin Challenge 2026 · Happiest Health</a:t>
            </a:r>
          </a:p>
        </p:txBody>
      </p:sp>
      <p:sp>
        <p:nvSpPr>
          <p:cNvPr id="9" name="Avatar Anushka Tomar"/>
          <p:cNvSpPr/>
          <p:nvPr/>
        </p:nvSpPr>
        <p:spPr>
          <a:xfrm>
            <a:off x="4572000" y="4206240"/>
            <a:ext cx="960120" cy="960120"/>
          </a:xfrm>
          <a:prstGeom prst="ellipse">
            <a:avLst/>
          </a:prstGeom>
          <a:solidFill>
            <a:srgbClr val="0B2A78"/>
          </a:solidFill>
          <a:ln w="38100">
            <a:solidFill>
              <a:srgbClr val="26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400" b="1" i="0">
                <a:solidFill>
                  <a:srgbClr val="FFFFFF"/>
                </a:solidFill>
                <a:latin typeface="Times New Roman"/>
              </a:rPr>
              <a:t>AT</a:t>
            </a:r>
          </a:p>
        </p:txBody>
      </p:sp>
      <p:sp>
        <p:nvSpPr>
          <p:cNvPr id="10" name="Name Anushka Tomar"/>
          <p:cNvSpPr txBox="1"/>
          <p:nvPr/>
        </p:nvSpPr>
        <p:spPr>
          <a:xfrm>
            <a:off x="3886200" y="5212080"/>
            <a:ext cx="2331720" cy="640080"/>
          </a:xfrm>
          <a:prstGeom prst="rect">
            <a:avLst/>
          </a:prstGeom>
          <a:noFill/>
        </p:spPr>
        <p:txBody>
          <a:bodyPr wrap="square" anchor="t" lIns="54864" rIns="54864" tIns="27432" bIns="27432">
            <a:spAutoFit/>
          </a:bodyPr>
          <a:lstStyle/>
          <a:p>
            <a:pPr algn="ctr">
              <a:spcAft>
                <a:spcPts val="0"/>
              </a:spcAft>
              <a:buNone/>
            </a:pPr>
            <a:r>
              <a:rPr sz="1800" b="0" i="0">
                <a:solidFill>
                  <a:srgbClr val="111111"/>
                </a:solidFill>
                <a:latin typeface="Times New Roman"/>
              </a:rPr>
              <a:t>Anushka Tomar</a:t>
            </a:r>
          </a:p>
          <a:p>
            <a:pPr algn="ctr">
              <a:spcAft>
                <a:spcPts val="0"/>
              </a:spcAft>
              <a:buNone/>
            </a:pPr>
            <a:r>
              <a:rPr sz="1800" b="0" i="1">
                <a:solidFill>
                  <a:srgbClr val="111111"/>
                </a:solidFill>
                <a:latin typeface="Times New Roman"/>
              </a:rPr>
              <a:t>Team leader</a:t>
            </a:r>
          </a:p>
        </p:txBody>
      </p:sp>
      <p:sp>
        <p:nvSpPr>
          <p:cNvPr id="11" name="Avatar Yash Saxena"/>
          <p:cNvSpPr/>
          <p:nvPr/>
        </p:nvSpPr>
        <p:spPr>
          <a:xfrm>
            <a:off x="6858000" y="4206240"/>
            <a:ext cx="960120" cy="960120"/>
          </a:xfrm>
          <a:prstGeom prst="ellipse">
            <a:avLst/>
          </a:prstGeom>
          <a:solidFill>
            <a:srgbClr val="0B2A78"/>
          </a:solidFill>
          <a:ln w="38100">
            <a:solidFill>
              <a:srgbClr val="26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400" b="1" i="0">
                <a:solidFill>
                  <a:srgbClr val="FFFFFF"/>
                </a:solidFill>
                <a:latin typeface="Times New Roman"/>
              </a:rPr>
              <a:t>YS</a:t>
            </a:r>
          </a:p>
        </p:txBody>
      </p:sp>
      <p:sp>
        <p:nvSpPr>
          <p:cNvPr id="12" name="Name Yash Saxena"/>
          <p:cNvSpPr txBox="1"/>
          <p:nvPr/>
        </p:nvSpPr>
        <p:spPr>
          <a:xfrm>
            <a:off x="6172200" y="5212080"/>
            <a:ext cx="2331720" cy="640080"/>
          </a:xfrm>
          <a:prstGeom prst="rect">
            <a:avLst/>
          </a:prstGeom>
          <a:noFill/>
        </p:spPr>
        <p:txBody>
          <a:bodyPr wrap="square" anchor="t" lIns="54864" rIns="54864" tIns="27432" bIns="27432">
            <a:spAutoFit/>
          </a:bodyPr>
          <a:lstStyle/>
          <a:p>
            <a:pPr algn="ctr">
              <a:spcAft>
                <a:spcPts val="0"/>
              </a:spcAft>
              <a:buNone/>
            </a:pPr>
            <a:r>
              <a:rPr sz="1800" b="0" i="0">
                <a:solidFill>
                  <a:srgbClr val="111111"/>
                </a:solidFill>
                <a:latin typeface="Times New Roman"/>
              </a:rPr>
              <a:t>Yash Saxena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descr="bg_content.jpg"/>
          <p:cNvPicPr>
            <a:picLocks noChangeAspect="1"/>
          </p:cNvPicPr>
          <p:nvPr/>
        </p:nvPicPr>
        <p:blipFill>
          <a:blip r:embed="rId2"/>
          <a:stretch>
            <a:fillRect/>
          </a:stretch>
        </p:blipFill>
        <p:spPr>
          <a:xfrm>
            <a:off x="0" y="0"/>
            <a:ext cx="12191695" cy="6858000"/>
          </a:xfrm>
          <a:prstGeom prst="rect">
            <a:avLst/>
          </a:prstGeom>
        </p:spPr>
      </p:pic>
      <p:sp>
        <p:nvSpPr>
          <p:cNvPr id="3" name="BreatheTwin logo"/>
          <p:cNvSpPr/>
          <p:nvPr/>
        </p:nvSpPr>
        <p:spPr>
          <a:xfrm>
            <a:off x="411480" y="201168"/>
            <a:ext cx="3794760" cy="603504"/>
          </a:xfrm>
          <a:prstGeom prst="rect">
            <a:avLst/>
          </a:prstGeom>
          <a:solidFill>
            <a:srgbClr val="0B2A78"/>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Logo mark"/>
          <p:cNvSpPr/>
          <p:nvPr/>
        </p:nvSpPr>
        <p:spPr>
          <a:xfrm>
            <a:off x="475488" y="256032"/>
            <a:ext cx="493776" cy="4937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900" b="1">
                <a:solidFill>
                  <a:srgbClr val="B23A2E"/>
                </a:solidFill>
                <a:latin typeface="Arial"/>
              </a:rPr>
              <a:t>BT</a:t>
            </a:r>
          </a:p>
        </p:txBody>
      </p:sp>
      <p:sp>
        <p:nvSpPr>
          <p:cNvPr id="5" name="Logo text"/>
          <p:cNvSpPr txBox="1"/>
          <p:nvPr/>
        </p:nvSpPr>
        <p:spPr>
          <a:xfrm>
            <a:off x="1024128" y="182880"/>
            <a:ext cx="3154680" cy="457200"/>
          </a:xfrm>
          <a:prstGeom prst="rect">
            <a:avLst/>
          </a:prstGeom>
          <a:noFill/>
        </p:spPr>
        <p:txBody>
          <a:bodyPr wrap="none" lIns="0" tIns="0" bIns="0">
            <a:spAutoFit/>
          </a:bodyPr>
          <a:lstStyle/>
          <a:p>
            <a:r>
              <a:rPr sz="2500" b="1">
                <a:solidFill>
                  <a:srgbClr val="FFFFFF"/>
                </a:solidFill>
                <a:latin typeface="Arial"/>
              </a:rPr>
              <a:t>BREATHETWIN</a:t>
            </a:r>
          </a:p>
        </p:txBody>
      </p:sp>
      <p:sp>
        <p:nvSpPr>
          <p:cNvPr id="6" name="Logo sub"/>
          <p:cNvSpPr txBox="1"/>
          <p:nvPr/>
        </p:nvSpPr>
        <p:spPr>
          <a:xfrm>
            <a:off x="1024128" y="585216"/>
            <a:ext cx="3108960" cy="219456"/>
          </a:xfrm>
          <a:prstGeom prst="rect">
            <a:avLst/>
          </a:prstGeom>
          <a:noFill/>
        </p:spPr>
        <p:txBody>
          <a:bodyPr wrap="none" lIns="0" tIns="0" bIns="0" rIns="0">
            <a:spAutoFit/>
          </a:bodyPr>
          <a:lstStyle/>
          <a:p>
            <a:pPr algn="r"/>
            <a:r>
              <a:rPr sz="900" b="1">
                <a:solidFill>
                  <a:srgbClr val="FFFFFF"/>
                </a:solidFill>
                <a:latin typeface="Arial"/>
              </a:rPr>
              <a:t>TEAM MOMENTUM</a:t>
            </a:r>
          </a:p>
        </p:txBody>
      </p:sp>
      <p:sp>
        <p:nvSpPr>
          <p:cNvPr id="7" name="Logo tagline"/>
          <p:cNvSpPr txBox="1"/>
          <p:nvPr/>
        </p:nvSpPr>
        <p:spPr>
          <a:xfrm>
            <a:off x="566928" y="822960"/>
            <a:ext cx="4023360" cy="274320"/>
          </a:xfrm>
          <a:prstGeom prst="rect">
            <a:avLst/>
          </a:prstGeom>
          <a:noFill/>
        </p:spPr>
        <p:txBody>
          <a:bodyPr wrap="none" lIns="0" tIns="0" bIns="0">
            <a:spAutoFit/>
          </a:bodyPr>
          <a:lstStyle/>
          <a:p>
            <a:r>
              <a:rPr sz="1300" b="1" i="1">
                <a:solidFill>
                  <a:srgbClr val="FFFFFF"/>
                </a:solidFill>
                <a:latin typeface="Arial"/>
              </a:rPr>
              <a:t>EARLY WARNING. EASIER BREATHING.</a:t>
            </a:r>
          </a:p>
        </p:txBody>
      </p:sp>
      <p:sp>
        <p:nvSpPr>
          <p:cNvPr id="8" name="Content panel"/>
          <p:cNvSpPr/>
          <p:nvPr/>
        </p:nvSpPr>
        <p:spPr>
          <a:xfrm>
            <a:off x="502920" y="1115568"/>
            <a:ext cx="11201400" cy="5559552"/>
          </a:xfrm>
          <a:prstGeom prst="rect">
            <a:avLst/>
          </a:prstGeom>
          <a:solidFill>
            <a:srgbClr val="FFFFFF"/>
          </a:solidFill>
          <a:ln w="12700">
            <a:solidFill>
              <a:srgbClr val="F4B18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itle box"/>
          <p:cNvSpPr/>
          <p:nvPr/>
        </p:nvSpPr>
        <p:spPr>
          <a:xfrm>
            <a:off x="731520" y="1225296"/>
            <a:ext cx="10744200" cy="658368"/>
          </a:xfrm>
          <a:prstGeom prst="rect">
            <a:avLst/>
          </a:prstGeom>
          <a:solidFill>
            <a:srgbClr val="FFFFFF"/>
          </a:solidFill>
          <a:ln w="12700">
            <a:solidFill>
              <a:srgbClr val="40404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i="0">
                <a:solidFill>
                  <a:srgbClr val="111111"/>
                </a:solidFill>
                <a:latin typeface="Times New Roman"/>
              </a:rPr>
              <a:t>Flare-ups warn days ahead, yet India catches them too late</a:t>
            </a:r>
          </a:p>
        </p:txBody>
      </p:sp>
      <p:sp>
        <p:nvSpPr>
          <p:cNvPr id="10" name="Burden box"/>
          <p:cNvSpPr/>
          <p:nvPr/>
        </p:nvSpPr>
        <p:spPr>
          <a:xfrm>
            <a:off x="731520" y="2011680"/>
            <a:ext cx="3703320" cy="3730752"/>
          </a:xfrm>
          <a:prstGeom prst="roundRect">
            <a:avLst>
              <a:gd name="adj" fmla="val 14000"/>
            </a:avLst>
          </a:prstGeom>
          <a:solidFill>
            <a:srgbClr val="FFFFFF"/>
          </a:solidFill>
          <a:ln w="12700">
            <a:solidFill>
              <a:srgbClr val="40404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Burden text"/>
          <p:cNvSpPr txBox="1"/>
          <p:nvPr/>
        </p:nvSpPr>
        <p:spPr>
          <a:xfrm>
            <a:off x="932688" y="2157984"/>
            <a:ext cx="3364992" cy="3566160"/>
          </a:xfrm>
          <a:prstGeom prst="rect">
            <a:avLst/>
          </a:prstGeom>
          <a:noFill/>
        </p:spPr>
        <p:txBody>
          <a:bodyPr wrap="square" anchor="t" lIns="54864" rIns="54864" tIns="27432" bIns="27432">
            <a:spAutoFit/>
          </a:bodyPr>
          <a:lstStyle/>
          <a:p>
            <a:pPr algn="l">
              <a:spcAft>
                <a:spcPts val="300"/>
              </a:spcAft>
              <a:buNone/>
            </a:pPr>
            <a:r>
              <a:rPr sz="1350" b="1" i="0">
                <a:solidFill>
                  <a:srgbClr val="111111"/>
                </a:solidFill>
                <a:latin typeface="Times New Roman"/>
              </a:rPr>
              <a:t>India's COPD burden is large</a:t>
            </a:r>
          </a:p>
          <a:p>
            <a:pPr algn="l" marL="164592" indent="-164592">
              <a:spcAft>
                <a:spcPts val="300"/>
              </a:spcAft>
              <a:buChar char="•"/>
            </a:pPr>
            <a:r>
              <a:rPr sz="1250" b="1" i="0">
                <a:solidFill>
                  <a:srgbClr val="111111"/>
                </a:solidFill>
                <a:latin typeface="Times New Roman"/>
              </a:rPr>
              <a:t>55 million</a:t>
            </a:r>
            <a:r>
              <a:rPr sz="1250" b="0" i="0">
                <a:solidFill>
                  <a:srgbClr val="111111"/>
                </a:solidFill>
                <a:latin typeface="Times New Roman"/>
              </a:rPr>
              <a:t> people in India lived with COPD in 2016 </a:t>
            </a:r>
            <a:r>
              <a:rPr sz="1250" b="0" i="1">
                <a:solidFill>
                  <a:srgbClr val="111111"/>
                </a:solidFill>
                <a:latin typeface="Times New Roman"/>
              </a:rPr>
              <a:t>(India State-Level Disease Burden Initiative, Lancet Global Health 2018)</a:t>
            </a:r>
          </a:p>
          <a:p>
            <a:pPr algn="l" marL="164592" indent="-164592">
              <a:spcAft>
                <a:spcPts val="300"/>
              </a:spcAft>
              <a:buChar char="•"/>
            </a:pPr>
            <a:r>
              <a:rPr sz="1250" b="0" i="0">
                <a:solidFill>
                  <a:srgbClr val="111111"/>
                </a:solidFill>
                <a:latin typeface="Times New Roman"/>
              </a:rPr>
              <a:t>Chronic respiratory disease caused </a:t>
            </a:r>
            <a:r>
              <a:rPr sz="1250" b="1" i="0">
                <a:solidFill>
                  <a:srgbClr val="111111"/>
                </a:solidFill>
                <a:latin typeface="Times New Roman"/>
              </a:rPr>
              <a:t>10.9%</a:t>
            </a:r>
            <a:r>
              <a:rPr sz="1250" b="0" i="0">
                <a:solidFill>
                  <a:srgbClr val="111111"/>
                </a:solidFill>
                <a:latin typeface="Times New Roman"/>
              </a:rPr>
              <a:t> of all deaths in India in 2016 </a:t>
            </a:r>
            <a:r>
              <a:rPr sz="1250" b="0" i="1">
                <a:solidFill>
                  <a:srgbClr val="111111"/>
                </a:solidFill>
                <a:latin typeface="Times New Roman"/>
              </a:rPr>
              <a:t>(same study)</a:t>
            </a:r>
          </a:p>
          <a:p>
            <a:pPr algn="l">
              <a:spcBef>
                <a:spcPts val="500"/>
              </a:spcBef>
              <a:spcAft>
                <a:spcPts val="300"/>
              </a:spcAft>
              <a:buNone/>
            </a:pPr>
            <a:r>
              <a:rPr sz="1350" b="1" i="0">
                <a:solidFill>
                  <a:srgbClr val="111111"/>
                </a:solidFill>
                <a:latin typeface="Times New Roman"/>
              </a:rPr>
              <a:t>Flare-ups are the dangerous moments</a:t>
            </a:r>
          </a:p>
          <a:p>
            <a:pPr algn="l" marL="164592" indent="-164592">
              <a:spcAft>
                <a:spcPts val="300"/>
              </a:spcAft>
              <a:buChar char="•"/>
            </a:pPr>
            <a:r>
              <a:rPr sz="1250" b="0" i="0">
                <a:solidFill>
                  <a:srgbClr val="111111"/>
                </a:solidFill>
                <a:latin typeface="Times New Roman"/>
              </a:rPr>
              <a:t>Patients have about </a:t>
            </a:r>
            <a:r>
              <a:rPr sz="1250" b="1" i="0">
                <a:solidFill>
                  <a:srgbClr val="111111"/>
                </a:solidFill>
                <a:latin typeface="Times New Roman"/>
              </a:rPr>
              <a:t>1 to 2 flare-ups a year</a:t>
            </a:r>
            <a:r>
              <a:rPr sz="1250" b="0" i="0">
                <a:solidFill>
                  <a:srgbClr val="111111"/>
                </a:solidFill>
                <a:latin typeface="Times New Roman"/>
              </a:rPr>
              <a:t>, more as COPD worsens </a:t>
            </a:r>
            <a:r>
              <a:rPr sz="1250" b="0" i="1">
                <a:solidFill>
                  <a:srgbClr val="111111"/>
                </a:solidFill>
                <a:latin typeface="Times New Roman"/>
              </a:rPr>
              <a:t>(ECLIPSE, NEJM 2010)</a:t>
            </a:r>
          </a:p>
          <a:p>
            <a:pPr algn="l" marL="164592" indent="-164592">
              <a:spcAft>
                <a:spcPts val="300"/>
              </a:spcAft>
              <a:buChar char="•"/>
            </a:pPr>
            <a:r>
              <a:rPr sz="1250" b="0" i="0">
                <a:solidFill>
                  <a:srgbClr val="111111"/>
                </a:solidFill>
                <a:latin typeface="Times New Roman"/>
              </a:rPr>
              <a:t>Warning signs start </a:t>
            </a:r>
            <a:r>
              <a:rPr sz="1250" b="1" i="0">
                <a:solidFill>
                  <a:srgbClr val="111111"/>
                </a:solidFill>
                <a:latin typeface="Times New Roman"/>
              </a:rPr>
              <a:t>5 to 7 days</a:t>
            </a:r>
            <a:r>
              <a:rPr sz="1250" b="0" i="0">
                <a:solidFill>
                  <a:srgbClr val="111111"/>
                </a:solidFill>
                <a:latin typeface="Times New Roman"/>
              </a:rPr>
              <a:t> earlier: breathing rises by </a:t>
            </a:r>
            <a:r>
              <a:rPr sz="1250" b="1" i="0">
                <a:solidFill>
                  <a:srgbClr val="111111"/>
                </a:solidFill>
                <a:latin typeface="Times New Roman"/>
              </a:rPr>
              <a:t>4.4 breaths/min</a:t>
            </a:r>
            <a:r>
              <a:rPr sz="1250" b="0" i="0">
                <a:solidFill>
                  <a:srgbClr val="111111"/>
                </a:solidFill>
                <a:latin typeface="Times New Roman"/>
              </a:rPr>
              <a:t> the day before </a:t>
            </a:r>
            <a:r>
              <a:rPr sz="1250" b="0" i="1">
                <a:solidFill>
                  <a:srgbClr val="111111"/>
                </a:solidFill>
                <a:latin typeface="Times New Roman"/>
              </a:rPr>
              <a:t>(Yañez 2012; Hurst 2010)</a:t>
            </a:r>
          </a:p>
          <a:p>
            <a:pPr algn="l" marL="164592" indent="-164592">
              <a:spcAft>
                <a:spcPts val="300"/>
              </a:spcAft>
              <a:buChar char="•"/>
            </a:pPr>
            <a:r>
              <a:rPr sz="1250" b="0" i="0">
                <a:solidFill>
                  <a:srgbClr val="111111"/>
                </a:solidFill>
                <a:latin typeface="Times New Roman"/>
              </a:rPr>
              <a:t>Today they are noticed only when the patient is already struggling</a:t>
            </a:r>
          </a:p>
        </p:txBody>
      </p:sp>
      <p:sp>
        <p:nvSpPr>
          <p:cNvPr id="12" name="Tag: The Care Gap"/>
          <p:cNvSpPr/>
          <p:nvPr/>
        </p:nvSpPr>
        <p:spPr>
          <a:xfrm>
            <a:off x="4617720" y="2011680"/>
            <a:ext cx="3611880" cy="411480"/>
          </a:xfrm>
          <a:prstGeom prst="rect">
            <a:avLst/>
          </a:prstGeom>
          <a:solidFill>
            <a:srgbClr val="FFE699"/>
          </a:solidFill>
          <a:ln w="12700">
            <a:solidFill>
              <a:srgbClr val="F4B183"/>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600" b="1" i="0">
                <a:solidFill>
                  <a:srgbClr val="111111"/>
                </a:solidFill>
                <a:latin typeface="Times New Roman"/>
              </a:rPr>
              <a:t>The Care Gap</a:t>
            </a:r>
          </a:p>
        </p:txBody>
      </p:sp>
      <p:graphicFrame>
        <p:nvGraphicFramePr>
          <p:cNvPr id="13" name="Care gap table"/>
          <p:cNvGraphicFramePr>
            <a:graphicFrameLocks noGrp="1"/>
          </p:cNvGraphicFramePr>
          <p:nvPr/>
        </p:nvGraphicFramePr>
        <p:xfrm>
          <a:off x="4617720" y="2542032"/>
          <a:ext cx="3611880" cy="1920240"/>
        </p:xfrm>
        <a:graphic>
          <a:graphicData uri="http://schemas.openxmlformats.org/drawingml/2006/table">
            <a:tbl>
              <a:tblPr firstRow="0" bandRow="0">
                <a:tableStyleId>{5940675A-B579-460E-94D1-54222C63F5DA}</a:tableStyleId>
              </a:tblPr>
              <a:tblGrid>
                <a:gridCol w="1691640"/>
                <a:gridCol w="1920240"/>
              </a:tblGrid>
              <a:tr h="384048">
                <a:tc>
                  <a:txBody>
                    <a:bodyPr wrap="square"/>
                    <a:lstStyle/>
                    <a:p>
                      <a:pPr algn="ctr"/>
                      <a:r>
                        <a:rPr sz="1250" b="1" i="0">
                          <a:solidFill>
                            <a:srgbClr val="111111"/>
                          </a:solidFill>
                          <a:latin typeface="Times New Roman"/>
                        </a:rPr>
                        <a:t>Care today</a:t>
                      </a:r>
                    </a:p>
                  </a:txBody>
                  <a:tcPr marL="54864" marR="54864" marT="22860" marB="22860" anchor="ctr">
                    <a:solidFill>
                      <a:srgbClr val="8EA9DB"/>
                    </a:solidFill>
                    <a:lnL w="9525">
                      <a:solidFill>
                        <a:srgbClr val="000000"/>
                      </a:solidFill>
                    </a:lnL>
                    <a:lnR w="9525">
                      <a:solidFill>
                        <a:srgbClr val="000000"/>
                      </a:solidFill>
                    </a:lnR>
                    <a:lnT w="9525">
                      <a:solidFill>
                        <a:srgbClr val="000000"/>
                      </a:solidFill>
                    </a:lnT>
                    <a:lnB w="9525">
                      <a:solidFill>
                        <a:srgbClr val="000000"/>
                      </a:solidFill>
                    </a:lnB>
                  </a:tcPr>
                </a:tc>
                <a:tc>
                  <a:txBody>
                    <a:bodyPr wrap="square"/>
                    <a:lstStyle/>
                    <a:p>
                      <a:pPr algn="ctr"/>
                      <a:r>
                        <a:rPr sz="1250" b="1" i="0">
                          <a:solidFill>
                            <a:srgbClr val="111111"/>
                          </a:solidFill>
                          <a:latin typeface="Times New Roman"/>
                        </a:rPr>
                        <a:t>What patients need</a:t>
                      </a:r>
                    </a:p>
                  </a:txBody>
                  <a:tcPr marL="54864" marR="54864" marT="22860" marB="22860" anchor="ctr">
                    <a:solidFill>
                      <a:srgbClr val="8EA9DB"/>
                    </a:solidFill>
                    <a:lnL w="9525">
                      <a:solidFill>
                        <a:srgbClr val="000000"/>
                      </a:solidFill>
                    </a:lnL>
                    <a:lnR w="9525">
                      <a:solidFill>
                        <a:srgbClr val="000000"/>
                      </a:solidFill>
                    </a:lnR>
                    <a:lnT w="9525">
                      <a:solidFill>
                        <a:srgbClr val="000000"/>
                      </a:solidFill>
                    </a:lnT>
                    <a:lnB w="9525">
                      <a:solidFill>
                        <a:srgbClr val="000000"/>
                      </a:solidFill>
                    </a:lnB>
                  </a:tcPr>
                </a:tc>
              </a:tr>
              <a:tr h="384048">
                <a:tc>
                  <a:txBody>
                    <a:bodyPr wrap="square"/>
                    <a:lstStyle/>
                    <a:p>
                      <a:pPr algn="l"/>
                      <a:r>
                        <a:rPr sz="1150" b="0" i="0">
                          <a:solidFill>
                            <a:srgbClr val="111111"/>
                          </a:solidFill>
                          <a:latin typeface="Times New Roman"/>
                        </a:rPr>
                        <a:t>Check-ups every few months</a:t>
                      </a:r>
                    </a:p>
                  </a:txBody>
                  <a:tcPr marL="54864" marR="54864" marT="22860" marB="22860" anchor="ctr">
                    <a:solidFill>
                      <a:srgbClr val="FFFFFF"/>
                    </a:solidFill>
                    <a:lnL w="9525">
                      <a:solidFill>
                        <a:srgbClr val="000000"/>
                      </a:solidFill>
                    </a:lnL>
                    <a:lnR w="9525">
                      <a:solidFill>
                        <a:srgbClr val="000000"/>
                      </a:solidFill>
                    </a:lnR>
                    <a:lnT w="9525">
                      <a:solidFill>
                        <a:srgbClr val="000000"/>
                      </a:solidFill>
                    </a:lnT>
                    <a:lnB w="9525">
                      <a:solidFill>
                        <a:srgbClr val="000000"/>
                      </a:solidFill>
                    </a:lnB>
                  </a:tcPr>
                </a:tc>
                <a:tc>
                  <a:txBody>
                    <a:bodyPr wrap="square"/>
                    <a:lstStyle/>
                    <a:p>
                      <a:pPr algn="l"/>
                      <a:r>
                        <a:rPr sz="1150" b="0" i="0">
                          <a:solidFill>
                            <a:srgbClr val="111111"/>
                          </a:solidFill>
                          <a:latin typeface="Times New Roman"/>
                        </a:rPr>
                        <a:t>A daily watch against their own normal</a:t>
                      </a:r>
                    </a:p>
                  </a:txBody>
                  <a:tcPr marL="54864" marR="54864" marT="22860" marB="22860" anchor="ctr">
                    <a:solidFill>
                      <a:srgbClr val="FFFFFF"/>
                    </a:solidFill>
                    <a:lnL w="9525">
                      <a:solidFill>
                        <a:srgbClr val="000000"/>
                      </a:solidFill>
                    </a:lnL>
                    <a:lnR w="9525">
                      <a:solidFill>
                        <a:srgbClr val="000000"/>
                      </a:solidFill>
                    </a:lnR>
                    <a:lnT w="9525">
                      <a:solidFill>
                        <a:srgbClr val="000000"/>
                      </a:solidFill>
                    </a:lnT>
                    <a:lnB w="9525">
                      <a:solidFill>
                        <a:srgbClr val="000000"/>
                      </a:solidFill>
                    </a:lnB>
                  </a:tcPr>
                </a:tc>
              </a:tr>
              <a:tr h="384048">
                <a:tc>
                  <a:txBody>
                    <a:bodyPr wrap="square"/>
                    <a:lstStyle/>
                    <a:p>
                      <a:pPr algn="l"/>
                      <a:r>
                        <a:rPr sz="1150" b="0" i="0">
                          <a:solidFill>
                            <a:srgbClr val="111111"/>
                          </a:solidFill>
                          <a:latin typeface="Times New Roman"/>
                        </a:rPr>
                        <a:t>Acts after symptoms appear</a:t>
                      </a:r>
                    </a:p>
                  </a:txBody>
                  <a:tcPr marL="54864" marR="54864" marT="22860" marB="22860" anchor="ctr">
                    <a:solidFill>
                      <a:srgbClr val="FFFFFF"/>
                    </a:solidFill>
                    <a:lnL w="9525">
                      <a:solidFill>
                        <a:srgbClr val="000000"/>
                      </a:solidFill>
                    </a:lnL>
                    <a:lnR w="9525">
                      <a:solidFill>
                        <a:srgbClr val="000000"/>
                      </a:solidFill>
                    </a:lnR>
                    <a:lnT w="9525">
                      <a:solidFill>
                        <a:srgbClr val="000000"/>
                      </a:solidFill>
                    </a:lnT>
                    <a:lnB w="9525">
                      <a:solidFill>
                        <a:srgbClr val="000000"/>
                      </a:solidFill>
                    </a:lnB>
                  </a:tcPr>
                </a:tc>
                <a:tc>
                  <a:txBody>
                    <a:bodyPr wrap="square"/>
                    <a:lstStyle/>
                    <a:p>
                      <a:pPr algn="l"/>
                      <a:r>
                        <a:rPr sz="1150" b="0" i="0">
                          <a:solidFill>
                            <a:srgbClr val="111111"/>
                          </a:solidFill>
                          <a:latin typeface="Times New Roman"/>
                        </a:rPr>
                        <a:t>A warning 1 to 3 days ahead</a:t>
                      </a:r>
                    </a:p>
                  </a:txBody>
                  <a:tcPr marL="54864" marR="54864" marT="22860" marB="22860" anchor="ctr">
                    <a:solidFill>
                      <a:srgbClr val="FFFFFF"/>
                    </a:solidFill>
                    <a:lnL w="9525">
                      <a:solidFill>
                        <a:srgbClr val="000000"/>
                      </a:solidFill>
                    </a:lnL>
                    <a:lnR w="9525">
                      <a:solidFill>
                        <a:srgbClr val="000000"/>
                      </a:solidFill>
                    </a:lnR>
                    <a:lnT w="9525">
                      <a:solidFill>
                        <a:srgbClr val="000000"/>
                      </a:solidFill>
                    </a:lnT>
                    <a:lnB w="9525">
                      <a:solidFill>
                        <a:srgbClr val="000000"/>
                      </a:solidFill>
                    </a:lnB>
                  </a:tcPr>
                </a:tc>
              </a:tr>
              <a:tr h="384048">
                <a:tc>
                  <a:txBody>
                    <a:bodyPr wrap="square"/>
                    <a:lstStyle/>
                    <a:p>
                      <a:pPr algn="l"/>
                      <a:r>
                        <a:rPr sz="1150" b="0" i="0">
                          <a:solidFill>
                            <a:srgbClr val="111111"/>
                          </a:solidFill>
                          <a:latin typeface="Times New Roman"/>
                        </a:rPr>
                        <a:t>Same alarm limits for everyone</a:t>
                      </a:r>
                    </a:p>
                  </a:txBody>
                  <a:tcPr marL="54864" marR="54864" marT="22860" marB="22860" anchor="ctr">
                    <a:solidFill>
                      <a:srgbClr val="FFFFFF"/>
                    </a:solidFill>
                    <a:lnL w="9525">
                      <a:solidFill>
                        <a:srgbClr val="000000"/>
                      </a:solidFill>
                    </a:lnL>
                    <a:lnR w="9525">
                      <a:solidFill>
                        <a:srgbClr val="000000"/>
                      </a:solidFill>
                    </a:lnR>
                    <a:lnT w="9525">
                      <a:solidFill>
                        <a:srgbClr val="000000"/>
                      </a:solidFill>
                    </a:lnT>
                    <a:lnB w="9525">
                      <a:solidFill>
                        <a:srgbClr val="000000"/>
                      </a:solidFill>
                    </a:lnB>
                  </a:tcPr>
                </a:tc>
                <a:tc>
                  <a:txBody>
                    <a:bodyPr wrap="square"/>
                    <a:lstStyle/>
                    <a:p>
                      <a:pPr algn="l"/>
                      <a:r>
                        <a:rPr sz="1150" b="0" i="0">
                          <a:solidFill>
                            <a:srgbClr val="111111"/>
                          </a:solidFill>
                          <a:latin typeface="Times New Roman"/>
                        </a:rPr>
                        <a:t>Limits personal to each patient</a:t>
                      </a:r>
                    </a:p>
                  </a:txBody>
                  <a:tcPr marL="54864" marR="54864" marT="22860" marB="22860" anchor="ctr">
                    <a:solidFill>
                      <a:srgbClr val="FFFFFF"/>
                    </a:solidFill>
                    <a:lnL w="9525">
                      <a:solidFill>
                        <a:srgbClr val="000000"/>
                      </a:solidFill>
                    </a:lnL>
                    <a:lnR w="9525">
                      <a:solidFill>
                        <a:srgbClr val="000000"/>
                      </a:solidFill>
                    </a:lnR>
                    <a:lnT w="9525">
                      <a:solidFill>
                        <a:srgbClr val="000000"/>
                      </a:solidFill>
                    </a:lnT>
                    <a:lnB w="9525">
                      <a:solidFill>
                        <a:srgbClr val="000000"/>
                      </a:solidFill>
                    </a:lnB>
                  </a:tcPr>
                </a:tc>
              </a:tr>
              <a:tr h="384048">
                <a:tc>
                  <a:txBody>
                    <a:bodyPr wrap="square"/>
                    <a:lstStyle/>
                    <a:p>
                      <a:pPr algn="l"/>
                      <a:r>
                        <a:rPr sz="1150" b="0" i="0">
                          <a:solidFill>
                            <a:srgbClr val="111111"/>
                          </a:solidFill>
                          <a:latin typeface="Times New Roman"/>
                        </a:rPr>
                        <a:t>Ignores city air and weather</a:t>
                      </a:r>
                    </a:p>
                  </a:txBody>
                  <a:tcPr marL="54864" marR="54864" marT="22860" marB="22860" anchor="ctr">
                    <a:solidFill>
                      <a:srgbClr val="FFFFFF"/>
                    </a:solidFill>
                    <a:lnL w="9525">
                      <a:solidFill>
                        <a:srgbClr val="000000"/>
                      </a:solidFill>
                    </a:lnL>
                    <a:lnR w="9525">
                      <a:solidFill>
                        <a:srgbClr val="000000"/>
                      </a:solidFill>
                    </a:lnR>
                    <a:lnT w="9525">
                      <a:solidFill>
                        <a:srgbClr val="000000"/>
                      </a:solidFill>
                    </a:lnT>
                    <a:lnB w="9525">
                      <a:solidFill>
                        <a:srgbClr val="000000"/>
                      </a:solidFill>
                    </a:lnB>
                  </a:tcPr>
                </a:tc>
                <a:tc>
                  <a:txBody>
                    <a:bodyPr wrap="square"/>
                    <a:lstStyle/>
                    <a:p>
                      <a:pPr algn="l"/>
                      <a:r>
                        <a:rPr sz="1150" b="0" i="0">
                          <a:solidFill>
                            <a:srgbClr val="111111"/>
                          </a:solidFill>
                          <a:latin typeface="Times New Roman"/>
                        </a:rPr>
                        <a:t>Record, body and air in one view</a:t>
                      </a:r>
                    </a:p>
                  </a:txBody>
                  <a:tcPr marL="54864" marR="54864" marT="22860" marB="22860" anchor="ctr">
                    <a:solidFill>
                      <a:srgbClr val="FFFFFF"/>
                    </a:solidFill>
                    <a:lnL w="9525">
                      <a:solidFill>
                        <a:srgbClr val="000000"/>
                      </a:solidFill>
                    </a:lnL>
                    <a:lnR w="9525">
                      <a:solidFill>
                        <a:srgbClr val="000000"/>
                      </a:solidFill>
                    </a:lnR>
                    <a:lnT w="9525">
                      <a:solidFill>
                        <a:srgbClr val="000000"/>
                      </a:solidFill>
                    </a:lnT>
                    <a:lnB w="9525">
                      <a:solidFill>
                        <a:srgbClr val="000000"/>
                      </a:solidFill>
                    </a:lnB>
                  </a:tcPr>
                </a:tc>
              </a:tr>
            </a:tbl>
          </a:graphicData>
        </a:graphic>
      </p:graphicFrame>
      <p:sp>
        <p:nvSpPr>
          <p:cNvPr id="14" name="Air box"/>
          <p:cNvSpPr/>
          <p:nvPr/>
        </p:nvSpPr>
        <p:spPr>
          <a:xfrm>
            <a:off x="4617720" y="4553712"/>
            <a:ext cx="3611880" cy="1188720"/>
          </a:xfrm>
          <a:prstGeom prst="roundRect">
            <a:avLst>
              <a:gd name="adj" fmla="val 14000"/>
            </a:avLst>
          </a:prstGeom>
          <a:solidFill>
            <a:srgbClr val="FFFFFF"/>
          </a:solidFill>
          <a:ln w="12700">
            <a:solidFill>
              <a:srgbClr val="40404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Air text"/>
          <p:cNvSpPr txBox="1"/>
          <p:nvPr/>
        </p:nvSpPr>
        <p:spPr>
          <a:xfrm>
            <a:off x="4709160" y="4590288"/>
            <a:ext cx="3474720" cy="1143000"/>
          </a:xfrm>
          <a:prstGeom prst="rect">
            <a:avLst/>
          </a:prstGeom>
          <a:noFill/>
        </p:spPr>
        <p:txBody>
          <a:bodyPr wrap="square" anchor="t" lIns="54864" rIns="54864" tIns="27432" bIns="27432">
            <a:spAutoFit/>
          </a:bodyPr>
          <a:lstStyle/>
          <a:p>
            <a:pPr algn="l">
              <a:spcAft>
                <a:spcPts val="100"/>
              </a:spcAft>
              <a:buNone/>
            </a:pPr>
            <a:r>
              <a:rPr sz="1250" b="1" i="0">
                <a:solidFill>
                  <a:srgbClr val="111111"/>
                </a:solidFill>
                <a:latin typeface="Times New Roman"/>
              </a:rPr>
              <a:t>Air makes it worse </a:t>
            </a:r>
            <a:r>
              <a:rPr sz="1250" b="1" i="1">
                <a:solidFill>
                  <a:srgbClr val="111111"/>
                </a:solidFill>
                <a:latin typeface="Times New Roman"/>
              </a:rPr>
              <a:t>(real CPCB data, 2019-20)</a:t>
            </a:r>
          </a:p>
          <a:p>
            <a:pPr algn="l" marL="164592" indent="-164592">
              <a:spcAft>
                <a:spcPts val="100"/>
              </a:spcAft>
              <a:buChar char="•"/>
            </a:pPr>
            <a:r>
              <a:rPr sz="1150" b="0" i="0">
                <a:solidFill>
                  <a:srgbClr val="111111"/>
                </a:solidFill>
                <a:latin typeface="Times New Roman"/>
              </a:rPr>
              <a:t>Delhi PM2.5 averaged </a:t>
            </a:r>
            <a:r>
              <a:rPr sz="1150" b="1" i="0">
                <a:solidFill>
                  <a:srgbClr val="111111"/>
                </a:solidFill>
                <a:latin typeface="Times New Roman"/>
              </a:rPr>
              <a:t>104 µg/m³</a:t>
            </a:r>
            <a:r>
              <a:rPr sz="1150" b="0" i="0">
                <a:solidFill>
                  <a:srgbClr val="111111"/>
                </a:solidFill>
                <a:latin typeface="Times New Roman"/>
              </a:rPr>
              <a:t>, about </a:t>
            </a:r>
            <a:r>
              <a:rPr sz="1150" b="1" i="0">
                <a:solidFill>
                  <a:srgbClr val="111111"/>
                </a:solidFill>
                <a:latin typeface="Times New Roman"/>
              </a:rPr>
              <a:t>7×</a:t>
            </a:r>
            <a:r>
              <a:rPr sz="1150" b="0" i="0">
                <a:solidFill>
                  <a:srgbClr val="111111"/>
                </a:solidFill>
                <a:latin typeface="Times New Roman"/>
              </a:rPr>
              <a:t> the WHO daily safe level of 15</a:t>
            </a:r>
          </a:p>
          <a:p>
            <a:pPr algn="l" marL="164592" indent="-164592">
              <a:spcAft>
                <a:spcPts val="100"/>
              </a:spcAft>
              <a:buChar char="•"/>
            </a:pPr>
            <a:r>
              <a:rPr sz="1150" b="0" i="0">
                <a:solidFill>
                  <a:srgbClr val="111111"/>
                </a:solidFill>
                <a:latin typeface="Times New Roman"/>
              </a:rPr>
              <a:t>Winter air was </a:t>
            </a:r>
            <a:r>
              <a:rPr sz="1150" b="1" i="0">
                <a:solidFill>
                  <a:srgbClr val="111111"/>
                </a:solidFill>
                <a:latin typeface="Times New Roman"/>
              </a:rPr>
              <a:t>3× dirtier</a:t>
            </a:r>
            <a:r>
              <a:rPr sz="1150" b="0" i="0">
                <a:solidFill>
                  <a:srgbClr val="111111"/>
                </a:solidFill>
                <a:latin typeface="Times New Roman"/>
              </a:rPr>
              <a:t> than monsoon air (104 vs 32 µg/m³)</a:t>
            </a:r>
          </a:p>
        </p:txBody>
      </p:sp>
      <p:graphicFrame>
        <p:nvGraphicFramePr>
          <p:cNvPr id="16" name="City PM2.5 chart"/>
          <p:cNvGraphicFramePr>
            <a:graphicFrameLocks noGrp="1"/>
          </p:cNvGraphicFramePr>
          <p:nvPr/>
        </p:nvGraphicFramePr>
        <p:xfrm>
          <a:off x="8412480" y="2011680"/>
          <a:ext cx="3063240" cy="3730752"/>
        </p:xfrm>
        <a:graphic>
          <a:graphicData uri="http://schemas.openxmlformats.org/drawingml/2006/chart">
            <c:chart xmlns:c="http://schemas.openxmlformats.org/drawingml/2006/chart" r:id="rId4"/>
          </a:graphicData>
        </a:graphic>
      </p:graphicFrame>
      <p:sp>
        <p:nvSpPr>
          <p:cNvPr id="17" name="Takeaway banner"/>
          <p:cNvSpPr/>
          <p:nvPr/>
        </p:nvSpPr>
        <p:spPr>
          <a:xfrm>
            <a:off x="731520" y="5870448"/>
            <a:ext cx="10744200" cy="658368"/>
          </a:xfrm>
          <a:prstGeom prst="rect">
            <a:avLst/>
          </a:prstGeom>
          <a:solidFill>
            <a:srgbClr val="FFE699"/>
          </a:solidFill>
          <a:ln w="12700">
            <a:solidFill>
              <a:srgbClr val="F4B183"/>
            </a:solid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1700" b="1" i="0">
                <a:solidFill>
                  <a:srgbClr val="111111"/>
                </a:solidFill>
                <a:latin typeface="Times New Roman"/>
              </a:rPr>
              <a:t>The opportunity:</a:t>
            </a:r>
          </a:p>
          <a:p>
            <a:pPr algn="ctr"/>
            <a:r>
              <a:rPr sz="1500" b="0" i="1">
                <a:solidFill>
                  <a:srgbClr val="111111"/>
                </a:solidFill>
                <a:latin typeface="Times New Roman"/>
              </a:rPr>
              <a:t>Use the days of warning the body already gives: a personal twin that spots a flare-up early, explains why, and tells families what to do.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descr="bg_content.jpg"/>
          <p:cNvPicPr>
            <a:picLocks noChangeAspect="1"/>
          </p:cNvPicPr>
          <p:nvPr/>
        </p:nvPicPr>
        <p:blipFill>
          <a:blip r:embed="rId2"/>
          <a:stretch>
            <a:fillRect/>
          </a:stretch>
        </p:blipFill>
        <p:spPr>
          <a:xfrm>
            <a:off x="0" y="0"/>
            <a:ext cx="12191695" cy="6858000"/>
          </a:xfrm>
          <a:prstGeom prst="rect">
            <a:avLst/>
          </a:prstGeom>
        </p:spPr>
      </p:pic>
      <p:sp>
        <p:nvSpPr>
          <p:cNvPr id="3" name="BreatheTwin logo"/>
          <p:cNvSpPr/>
          <p:nvPr/>
        </p:nvSpPr>
        <p:spPr>
          <a:xfrm>
            <a:off x="411480" y="201168"/>
            <a:ext cx="3794760" cy="603504"/>
          </a:xfrm>
          <a:prstGeom prst="rect">
            <a:avLst/>
          </a:prstGeom>
          <a:solidFill>
            <a:srgbClr val="0B2A78"/>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Logo mark"/>
          <p:cNvSpPr/>
          <p:nvPr/>
        </p:nvSpPr>
        <p:spPr>
          <a:xfrm>
            <a:off x="475488" y="256032"/>
            <a:ext cx="493776" cy="4937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900" b="1">
                <a:solidFill>
                  <a:srgbClr val="B23A2E"/>
                </a:solidFill>
                <a:latin typeface="Arial"/>
              </a:rPr>
              <a:t>BT</a:t>
            </a:r>
          </a:p>
        </p:txBody>
      </p:sp>
      <p:sp>
        <p:nvSpPr>
          <p:cNvPr id="5" name="Logo text"/>
          <p:cNvSpPr txBox="1"/>
          <p:nvPr/>
        </p:nvSpPr>
        <p:spPr>
          <a:xfrm>
            <a:off x="1024128" y="182880"/>
            <a:ext cx="3154680" cy="457200"/>
          </a:xfrm>
          <a:prstGeom prst="rect">
            <a:avLst/>
          </a:prstGeom>
          <a:noFill/>
        </p:spPr>
        <p:txBody>
          <a:bodyPr wrap="none" lIns="0" tIns="0" bIns="0">
            <a:spAutoFit/>
          </a:bodyPr>
          <a:lstStyle/>
          <a:p>
            <a:r>
              <a:rPr sz="2500" b="1">
                <a:solidFill>
                  <a:srgbClr val="FFFFFF"/>
                </a:solidFill>
                <a:latin typeface="Arial"/>
              </a:rPr>
              <a:t>BREATHETWIN</a:t>
            </a:r>
          </a:p>
        </p:txBody>
      </p:sp>
      <p:sp>
        <p:nvSpPr>
          <p:cNvPr id="6" name="Logo sub"/>
          <p:cNvSpPr txBox="1"/>
          <p:nvPr/>
        </p:nvSpPr>
        <p:spPr>
          <a:xfrm>
            <a:off x="1024128" y="585216"/>
            <a:ext cx="3108960" cy="219456"/>
          </a:xfrm>
          <a:prstGeom prst="rect">
            <a:avLst/>
          </a:prstGeom>
          <a:noFill/>
        </p:spPr>
        <p:txBody>
          <a:bodyPr wrap="none" lIns="0" tIns="0" bIns="0" rIns="0">
            <a:spAutoFit/>
          </a:bodyPr>
          <a:lstStyle/>
          <a:p>
            <a:pPr algn="r"/>
            <a:r>
              <a:rPr sz="900" b="1">
                <a:solidFill>
                  <a:srgbClr val="FFFFFF"/>
                </a:solidFill>
                <a:latin typeface="Arial"/>
              </a:rPr>
              <a:t>TEAM MOMENTUM</a:t>
            </a:r>
          </a:p>
        </p:txBody>
      </p:sp>
      <p:sp>
        <p:nvSpPr>
          <p:cNvPr id="7" name="Logo tagline"/>
          <p:cNvSpPr txBox="1"/>
          <p:nvPr/>
        </p:nvSpPr>
        <p:spPr>
          <a:xfrm>
            <a:off x="566928" y="822960"/>
            <a:ext cx="4023360" cy="274320"/>
          </a:xfrm>
          <a:prstGeom prst="rect">
            <a:avLst/>
          </a:prstGeom>
          <a:noFill/>
        </p:spPr>
        <p:txBody>
          <a:bodyPr wrap="none" lIns="0" tIns="0" bIns="0">
            <a:spAutoFit/>
          </a:bodyPr>
          <a:lstStyle/>
          <a:p>
            <a:r>
              <a:rPr sz="1300" b="1" i="1">
                <a:solidFill>
                  <a:srgbClr val="FFFFFF"/>
                </a:solidFill>
                <a:latin typeface="Arial"/>
              </a:rPr>
              <a:t>EARLY WARNING. EASIER BREATHING.</a:t>
            </a:r>
          </a:p>
        </p:txBody>
      </p:sp>
      <p:sp>
        <p:nvSpPr>
          <p:cNvPr id="8" name="Content panel"/>
          <p:cNvSpPr/>
          <p:nvPr/>
        </p:nvSpPr>
        <p:spPr>
          <a:xfrm>
            <a:off x="502920" y="1115568"/>
            <a:ext cx="11201400" cy="5559552"/>
          </a:xfrm>
          <a:prstGeom prst="rect">
            <a:avLst/>
          </a:prstGeom>
          <a:solidFill>
            <a:srgbClr val="FFFFFF"/>
          </a:solidFill>
          <a:ln w="12700">
            <a:solidFill>
              <a:srgbClr val="F4B18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itle box"/>
          <p:cNvSpPr/>
          <p:nvPr/>
        </p:nvSpPr>
        <p:spPr>
          <a:xfrm>
            <a:off x="731520" y="1225296"/>
            <a:ext cx="10744200" cy="658368"/>
          </a:xfrm>
          <a:prstGeom prst="rect">
            <a:avLst/>
          </a:prstGeom>
          <a:solidFill>
            <a:srgbClr val="FFFFFF"/>
          </a:solidFill>
          <a:ln w="12700">
            <a:solidFill>
              <a:srgbClr val="40404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i="0">
                <a:solidFill>
                  <a:srgbClr val="111111"/>
                </a:solidFill>
                <a:latin typeface="Times New Roman"/>
              </a:rPr>
              <a:t>BreatheTwin: a twin that warns 1 to 3 days before a flare-up</a:t>
            </a:r>
          </a:p>
        </p:txBody>
      </p:sp>
      <p:sp>
        <p:nvSpPr>
          <p:cNvPr id="10" name="Tag: Core Proposition"/>
          <p:cNvSpPr/>
          <p:nvPr/>
        </p:nvSpPr>
        <p:spPr>
          <a:xfrm>
            <a:off x="731520" y="2029968"/>
            <a:ext cx="2377440" cy="438912"/>
          </a:xfrm>
          <a:prstGeom prst="rect">
            <a:avLst/>
          </a:prstGeom>
          <a:solidFill>
            <a:srgbClr val="FFE699"/>
          </a:solidFill>
          <a:ln w="12700">
            <a:solidFill>
              <a:srgbClr val="F4B183"/>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600" b="1" i="0">
                <a:solidFill>
                  <a:srgbClr val="111111"/>
                </a:solidFill>
                <a:latin typeface="Times New Roman"/>
              </a:rPr>
              <a:t>Core Proposition</a:t>
            </a:r>
          </a:p>
        </p:txBody>
      </p:sp>
      <p:sp>
        <p:nvSpPr>
          <p:cNvPr id="11" name="Tag: 3 Data Streams"/>
          <p:cNvSpPr/>
          <p:nvPr/>
        </p:nvSpPr>
        <p:spPr>
          <a:xfrm>
            <a:off x="3291840" y="2029968"/>
            <a:ext cx="2880360" cy="438912"/>
          </a:xfrm>
          <a:prstGeom prst="rect">
            <a:avLst/>
          </a:prstGeom>
          <a:solidFill>
            <a:srgbClr val="FFE699"/>
          </a:solidFill>
          <a:ln w="12700">
            <a:solidFill>
              <a:srgbClr val="F4B183"/>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600" b="1" i="0">
                <a:solidFill>
                  <a:srgbClr val="111111"/>
                </a:solidFill>
                <a:latin typeface="Times New Roman"/>
              </a:rPr>
              <a:t>3 Data Streams</a:t>
            </a:r>
          </a:p>
        </p:txBody>
      </p:sp>
      <p:sp>
        <p:nvSpPr>
          <p:cNvPr id="12" name="Tag: Tech &amp; Experience"/>
          <p:cNvSpPr/>
          <p:nvPr/>
        </p:nvSpPr>
        <p:spPr>
          <a:xfrm>
            <a:off x="6355080" y="2029968"/>
            <a:ext cx="2286000" cy="438912"/>
          </a:xfrm>
          <a:prstGeom prst="rect">
            <a:avLst/>
          </a:prstGeom>
          <a:solidFill>
            <a:srgbClr val="FFE699"/>
          </a:solidFill>
          <a:ln w="12700">
            <a:solidFill>
              <a:srgbClr val="F4B183"/>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600" b="1" i="0">
                <a:solidFill>
                  <a:srgbClr val="111111"/>
                </a:solidFill>
                <a:latin typeface="Times New Roman"/>
              </a:rPr>
              <a:t>Tech &amp; Experience</a:t>
            </a:r>
          </a:p>
        </p:txBody>
      </p:sp>
      <p:sp>
        <p:nvSpPr>
          <p:cNvPr id="13" name="Tag: Key Differentiator"/>
          <p:cNvSpPr/>
          <p:nvPr/>
        </p:nvSpPr>
        <p:spPr>
          <a:xfrm>
            <a:off x="8823960" y="2029968"/>
            <a:ext cx="2651760" cy="438912"/>
          </a:xfrm>
          <a:prstGeom prst="rect">
            <a:avLst/>
          </a:prstGeom>
          <a:solidFill>
            <a:srgbClr val="FFE699"/>
          </a:solidFill>
          <a:ln w="12700">
            <a:solidFill>
              <a:srgbClr val="F4B183"/>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600" b="1" i="0">
                <a:solidFill>
                  <a:srgbClr val="111111"/>
                </a:solidFill>
                <a:latin typeface="Times New Roman"/>
              </a:rPr>
              <a:t>Key Differentiator</a:t>
            </a:r>
          </a:p>
        </p:txBody>
      </p:sp>
      <p:sp>
        <p:nvSpPr>
          <p:cNvPr id="14" name="Proposition box"/>
          <p:cNvSpPr/>
          <p:nvPr/>
        </p:nvSpPr>
        <p:spPr>
          <a:xfrm>
            <a:off x="731520" y="2606040"/>
            <a:ext cx="2377440" cy="3886200"/>
          </a:xfrm>
          <a:prstGeom prst="roundRect">
            <a:avLst>
              <a:gd name="adj" fmla="val 3000"/>
            </a:avLst>
          </a:prstGeom>
          <a:solidFill>
            <a:srgbClr val="FFFFFF"/>
          </a:solidFill>
          <a:ln w="12700">
            <a:solidFill>
              <a:srgbClr val="40404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Proposition text"/>
          <p:cNvSpPr txBox="1"/>
          <p:nvPr/>
        </p:nvSpPr>
        <p:spPr>
          <a:xfrm>
            <a:off x="822960" y="2697480"/>
            <a:ext cx="2240280" cy="3749039"/>
          </a:xfrm>
          <a:prstGeom prst="rect">
            <a:avLst/>
          </a:prstGeom>
          <a:noFill/>
        </p:spPr>
        <p:txBody>
          <a:bodyPr wrap="square" anchor="t" lIns="54864" rIns="54864" tIns="27432" bIns="27432">
            <a:spAutoFit/>
          </a:bodyPr>
          <a:lstStyle/>
          <a:p>
            <a:pPr algn="l">
              <a:spcAft>
                <a:spcPts val="500"/>
              </a:spcAft>
              <a:buNone/>
            </a:pPr>
            <a:r>
              <a:rPr sz="1500" b="1" i="0">
                <a:solidFill>
                  <a:srgbClr val="111111"/>
                </a:solidFill>
                <a:latin typeface="Times New Roman"/>
              </a:rPr>
              <a:t>A personal twin for every COPD patient that:</a:t>
            </a:r>
          </a:p>
          <a:p>
            <a:pPr algn="l" marL="164592" indent="-164592">
              <a:spcAft>
                <a:spcPts val="500"/>
              </a:spcAft>
              <a:buChar char="•"/>
            </a:pPr>
            <a:r>
              <a:rPr sz="1400" b="0" i="0">
                <a:solidFill>
                  <a:srgbClr val="111111"/>
                </a:solidFill>
                <a:latin typeface="Times New Roman"/>
              </a:rPr>
              <a:t>Learns each person's </a:t>
            </a:r>
            <a:r>
              <a:rPr sz="1400" b="1" i="0">
                <a:solidFill>
                  <a:srgbClr val="111111"/>
                </a:solidFill>
                <a:latin typeface="Times New Roman"/>
              </a:rPr>
              <a:t>own normal</a:t>
            </a:r>
          </a:p>
          <a:p>
            <a:pPr algn="l" marL="164592" indent="-164592">
              <a:spcAft>
                <a:spcPts val="500"/>
              </a:spcAft>
              <a:buChar char="•"/>
            </a:pPr>
            <a:r>
              <a:rPr sz="1400" b="0" i="0">
                <a:solidFill>
                  <a:srgbClr val="111111"/>
                </a:solidFill>
                <a:latin typeface="Times New Roman"/>
              </a:rPr>
              <a:t>Predicts a </a:t>
            </a:r>
            <a:r>
              <a:rPr sz="1400" b="1" i="0">
                <a:solidFill>
                  <a:srgbClr val="111111"/>
                </a:solidFill>
                <a:latin typeface="Times New Roman"/>
              </a:rPr>
              <a:t>flare-up 1 to 3 days ahead</a:t>
            </a:r>
          </a:p>
          <a:p>
            <a:pPr algn="l" marL="164592" indent="-164592">
              <a:spcAft>
                <a:spcPts val="500"/>
              </a:spcAft>
              <a:buChar char="•"/>
            </a:pPr>
            <a:r>
              <a:rPr sz="1400" b="1" i="0">
                <a:solidFill>
                  <a:srgbClr val="111111"/>
                </a:solidFill>
                <a:latin typeface="Times New Roman"/>
              </a:rPr>
              <a:t>Explains the reasons</a:t>
            </a:r>
            <a:r>
              <a:rPr sz="1400" b="0" i="0">
                <a:solidFill>
                  <a:srgbClr val="111111"/>
                </a:solidFill>
                <a:latin typeface="Times New Roman"/>
              </a:rPr>
              <a:t> in plain words</a:t>
            </a:r>
          </a:p>
          <a:p>
            <a:pPr algn="l" marL="164592" indent="-164592">
              <a:spcAft>
                <a:spcPts val="500"/>
              </a:spcAft>
              <a:buChar char="•"/>
            </a:pPr>
            <a:r>
              <a:rPr sz="1400" b="0" i="0">
                <a:solidFill>
                  <a:srgbClr val="111111"/>
                </a:solidFill>
                <a:latin typeface="Times New Roman"/>
              </a:rPr>
              <a:t>Shows what would </a:t>
            </a:r>
            <a:r>
              <a:rPr sz="1400" b="1" i="0">
                <a:solidFill>
                  <a:srgbClr val="111111"/>
                </a:solidFill>
                <a:latin typeface="Times New Roman"/>
              </a:rPr>
              <a:t>lower the risk</a:t>
            </a:r>
          </a:p>
          <a:p>
            <a:pPr algn="l" marL="164592" indent="-164592">
              <a:spcAft>
                <a:spcPts val="500"/>
              </a:spcAft>
              <a:buChar char="•"/>
            </a:pPr>
            <a:r>
              <a:rPr sz="1400" b="0" i="0">
                <a:solidFill>
                  <a:srgbClr val="111111"/>
                </a:solidFill>
                <a:latin typeface="Times New Roman"/>
              </a:rPr>
              <a:t>Gives families </a:t>
            </a:r>
            <a:r>
              <a:rPr sz="1400" b="1" i="0">
                <a:solidFill>
                  <a:srgbClr val="111111"/>
                </a:solidFill>
                <a:latin typeface="Times New Roman"/>
              </a:rPr>
              <a:t>smog warnings</a:t>
            </a:r>
            <a:r>
              <a:rPr sz="1400" b="0" i="0">
                <a:solidFill>
                  <a:srgbClr val="111111"/>
                </a:solidFill>
                <a:latin typeface="Times New Roman"/>
              </a:rPr>
              <a:t> and a </a:t>
            </a:r>
            <a:r>
              <a:rPr sz="1400" b="1" i="0">
                <a:solidFill>
                  <a:srgbClr val="111111"/>
                </a:solidFill>
                <a:latin typeface="Times New Roman"/>
              </a:rPr>
              <a:t>visit summary</a:t>
            </a:r>
            <a:r>
              <a:rPr sz="1400" b="0" i="0">
                <a:solidFill>
                  <a:srgbClr val="111111"/>
                </a:solidFill>
                <a:latin typeface="Times New Roman"/>
              </a:rPr>
              <a:t> for the doctor</a:t>
            </a:r>
          </a:p>
        </p:txBody>
      </p:sp>
      <p:graphicFrame>
        <p:nvGraphicFramePr>
          <p:cNvPr id="16" name="Streams table"/>
          <p:cNvGraphicFramePr>
            <a:graphicFrameLocks noGrp="1"/>
          </p:cNvGraphicFramePr>
          <p:nvPr/>
        </p:nvGraphicFramePr>
        <p:xfrm>
          <a:off x="3291840" y="2606040"/>
          <a:ext cx="2880360" cy="3291840"/>
        </p:xfrm>
        <a:graphic>
          <a:graphicData uri="http://schemas.openxmlformats.org/drawingml/2006/table">
            <a:tbl>
              <a:tblPr firstRow="0" bandRow="0">
                <a:tableStyleId>{5940675A-B579-460E-94D1-54222C63F5DA}</a:tableStyleId>
              </a:tblPr>
              <a:tblGrid>
                <a:gridCol w="1051560"/>
                <a:gridCol w="1828800"/>
              </a:tblGrid>
              <a:tr h="822960">
                <a:tc>
                  <a:txBody>
                    <a:bodyPr wrap="square"/>
                    <a:lstStyle/>
                    <a:p>
                      <a:pPr algn="ctr"/>
                      <a:r>
                        <a:rPr sz="1250" b="1" i="0">
                          <a:solidFill>
                            <a:srgbClr val="111111"/>
                          </a:solidFill>
                          <a:latin typeface="Times New Roman"/>
                        </a:rPr>
                        <a:t>Stream</a:t>
                      </a:r>
                    </a:p>
                  </a:txBody>
                  <a:tcPr marL="54864" marR="54864" marT="22860" marB="22860" anchor="ctr">
                    <a:solidFill>
                      <a:srgbClr val="8EA9DB"/>
                    </a:solidFill>
                    <a:lnL w="9525">
                      <a:solidFill>
                        <a:srgbClr val="000000"/>
                      </a:solidFill>
                    </a:lnL>
                    <a:lnR w="9525">
                      <a:solidFill>
                        <a:srgbClr val="000000"/>
                      </a:solidFill>
                    </a:lnR>
                    <a:lnT w="9525">
                      <a:solidFill>
                        <a:srgbClr val="000000"/>
                      </a:solidFill>
                    </a:lnT>
                    <a:lnB w="9525">
                      <a:solidFill>
                        <a:srgbClr val="000000"/>
                      </a:solidFill>
                    </a:lnB>
                  </a:tcPr>
                </a:tc>
                <a:tc>
                  <a:txBody>
                    <a:bodyPr wrap="square"/>
                    <a:lstStyle/>
                    <a:p>
                      <a:pPr algn="ctr"/>
                      <a:r>
                        <a:rPr sz="1250" b="1" i="0">
                          <a:solidFill>
                            <a:srgbClr val="111111"/>
                          </a:solidFill>
                          <a:latin typeface="Times New Roman"/>
                        </a:rPr>
                        <a:t>What it adds</a:t>
                      </a:r>
                    </a:p>
                  </a:txBody>
                  <a:tcPr marL="54864" marR="54864" marT="22860" marB="22860" anchor="ctr">
                    <a:solidFill>
                      <a:srgbClr val="8EA9DB"/>
                    </a:solidFill>
                    <a:lnL w="9525">
                      <a:solidFill>
                        <a:srgbClr val="000000"/>
                      </a:solidFill>
                    </a:lnL>
                    <a:lnR w="9525">
                      <a:solidFill>
                        <a:srgbClr val="000000"/>
                      </a:solidFill>
                    </a:lnR>
                    <a:lnT w="9525">
                      <a:solidFill>
                        <a:srgbClr val="000000"/>
                      </a:solidFill>
                    </a:lnT>
                    <a:lnB w="9525">
                      <a:solidFill>
                        <a:srgbClr val="000000"/>
                      </a:solidFill>
                    </a:lnB>
                  </a:tcPr>
                </a:tc>
              </a:tr>
              <a:tr h="822960">
                <a:tc>
                  <a:txBody>
                    <a:bodyPr wrap="square"/>
                    <a:lstStyle/>
                    <a:p>
                      <a:pPr algn="l"/>
                      <a:r>
                        <a:rPr sz="1150" b="1" i="0">
                          <a:solidFill>
                            <a:srgbClr val="111111"/>
                          </a:solidFill>
                          <a:latin typeface="Times New Roman"/>
                        </a:rPr>
                        <a:t>Health record (EHR)</a:t>
                      </a:r>
                    </a:p>
                  </a:txBody>
                  <a:tcPr marL="54864" marR="54864" marT="22860" marB="22860" anchor="ctr">
                    <a:solidFill>
                      <a:srgbClr val="FFFFFF"/>
                    </a:solidFill>
                    <a:lnL w="9525">
                      <a:solidFill>
                        <a:srgbClr val="000000"/>
                      </a:solidFill>
                    </a:lnL>
                    <a:lnR w="9525">
                      <a:solidFill>
                        <a:srgbClr val="000000"/>
                      </a:solidFill>
                    </a:lnR>
                    <a:lnT w="9525">
                      <a:solidFill>
                        <a:srgbClr val="000000"/>
                      </a:solidFill>
                    </a:lnT>
                    <a:lnB w="9525">
                      <a:solidFill>
                        <a:srgbClr val="000000"/>
                      </a:solidFill>
                    </a:lnB>
                  </a:tcPr>
                </a:tc>
                <a:tc>
                  <a:txBody>
                    <a:bodyPr wrap="square"/>
                    <a:lstStyle/>
                    <a:p>
                      <a:pPr algn="l"/>
                      <a:r>
                        <a:rPr sz="1150" b="0" i="0">
                          <a:solidFill>
                            <a:srgbClr val="111111"/>
                          </a:solidFill>
                          <a:latin typeface="Times New Roman"/>
                        </a:rPr>
                        <a:t>Severity, past flare-ups, smoking, blood tests, other illnesses: the </a:t>
                      </a:r>
                      <a:r>
                        <a:rPr sz="1150" b="0" i="1">
                          <a:solidFill>
                            <a:srgbClr val="111111"/>
                          </a:solidFill>
                          <a:latin typeface="Times New Roman"/>
                        </a:rPr>
                        <a:t>starting risk</a:t>
                      </a:r>
                    </a:p>
                  </a:txBody>
                  <a:tcPr marL="54864" marR="54864" marT="22860" marB="22860" anchor="ctr">
                    <a:solidFill>
                      <a:srgbClr val="FFFFFF"/>
                    </a:solidFill>
                    <a:lnL w="9525">
                      <a:solidFill>
                        <a:srgbClr val="000000"/>
                      </a:solidFill>
                    </a:lnL>
                    <a:lnR w="9525">
                      <a:solidFill>
                        <a:srgbClr val="000000"/>
                      </a:solidFill>
                    </a:lnR>
                    <a:lnT w="9525">
                      <a:solidFill>
                        <a:srgbClr val="000000"/>
                      </a:solidFill>
                    </a:lnT>
                    <a:lnB w="9525">
                      <a:solidFill>
                        <a:srgbClr val="000000"/>
                      </a:solidFill>
                    </a:lnB>
                  </a:tcPr>
                </a:tc>
              </a:tr>
              <a:tr h="822960">
                <a:tc>
                  <a:txBody>
                    <a:bodyPr wrap="square"/>
                    <a:lstStyle/>
                    <a:p>
                      <a:pPr algn="l"/>
                      <a:r>
                        <a:rPr sz="1150" b="1" i="0">
                          <a:solidFill>
                            <a:srgbClr val="111111"/>
                          </a:solidFill>
                          <a:latin typeface="Times New Roman"/>
                        </a:rPr>
                        <a:t>Wearable + smart inhaler</a:t>
                      </a:r>
                    </a:p>
                  </a:txBody>
                  <a:tcPr marL="54864" marR="54864" marT="22860" marB="22860" anchor="ctr">
                    <a:solidFill>
                      <a:srgbClr val="FFFFFF"/>
                    </a:solidFill>
                    <a:lnL w="9525">
                      <a:solidFill>
                        <a:srgbClr val="000000"/>
                      </a:solidFill>
                    </a:lnL>
                    <a:lnR w="9525">
                      <a:solidFill>
                        <a:srgbClr val="000000"/>
                      </a:solidFill>
                    </a:lnR>
                    <a:lnT w="9525">
                      <a:solidFill>
                        <a:srgbClr val="000000"/>
                      </a:solidFill>
                    </a:lnT>
                    <a:lnB w="9525">
                      <a:solidFill>
                        <a:srgbClr val="000000"/>
                      </a:solidFill>
                    </a:lnB>
                  </a:tcPr>
                </a:tc>
                <a:tc>
                  <a:txBody>
                    <a:bodyPr wrap="square"/>
                    <a:lstStyle/>
                    <a:p>
                      <a:pPr algn="l"/>
                      <a:r>
                        <a:rPr sz="1150" b="0" i="0">
                          <a:solidFill>
                            <a:srgbClr val="111111"/>
                          </a:solidFill>
                          <a:latin typeface="Times New Roman"/>
                        </a:rPr>
                        <a:t>Daily heart rate, breathing, oxygen, steps, sleep, inhaler use: the </a:t>
                      </a:r>
                      <a:r>
                        <a:rPr sz="1150" b="0" i="1">
                          <a:solidFill>
                            <a:srgbClr val="111111"/>
                          </a:solidFill>
                          <a:latin typeface="Times New Roman"/>
                        </a:rPr>
                        <a:t>early warning</a:t>
                      </a:r>
                    </a:p>
                  </a:txBody>
                  <a:tcPr marL="54864" marR="54864" marT="22860" marB="22860" anchor="ctr">
                    <a:solidFill>
                      <a:srgbClr val="FFFFFF"/>
                    </a:solidFill>
                    <a:lnL w="9525">
                      <a:solidFill>
                        <a:srgbClr val="000000"/>
                      </a:solidFill>
                    </a:lnL>
                    <a:lnR w="9525">
                      <a:solidFill>
                        <a:srgbClr val="000000"/>
                      </a:solidFill>
                    </a:lnR>
                    <a:lnT w="9525">
                      <a:solidFill>
                        <a:srgbClr val="000000"/>
                      </a:solidFill>
                    </a:lnT>
                    <a:lnB w="9525">
                      <a:solidFill>
                        <a:srgbClr val="000000"/>
                      </a:solidFill>
                    </a:lnB>
                  </a:tcPr>
                </a:tc>
              </a:tr>
              <a:tr h="822960">
                <a:tc>
                  <a:txBody>
                    <a:bodyPr wrap="square"/>
                    <a:lstStyle/>
                    <a:p>
                      <a:pPr algn="l"/>
                      <a:r>
                        <a:rPr sz="1150" b="1" i="0">
                          <a:solidFill>
                            <a:srgbClr val="111111"/>
                          </a:solidFill>
                          <a:latin typeface="Times New Roman"/>
                        </a:rPr>
                        <a:t>City air + weather</a:t>
                      </a:r>
                    </a:p>
                  </a:txBody>
                  <a:tcPr marL="54864" marR="54864" marT="22860" marB="22860" anchor="ctr">
                    <a:solidFill>
                      <a:srgbClr val="FFFFFF"/>
                    </a:solidFill>
                    <a:lnL w="9525">
                      <a:solidFill>
                        <a:srgbClr val="000000"/>
                      </a:solidFill>
                    </a:lnL>
                    <a:lnR w="9525">
                      <a:solidFill>
                        <a:srgbClr val="000000"/>
                      </a:solidFill>
                    </a:lnR>
                    <a:lnT w="9525">
                      <a:solidFill>
                        <a:srgbClr val="000000"/>
                      </a:solidFill>
                    </a:lnT>
                    <a:lnB w="9525">
                      <a:solidFill>
                        <a:srgbClr val="000000"/>
                      </a:solidFill>
                    </a:lnB>
                  </a:tcPr>
                </a:tc>
                <a:tc>
                  <a:txBody>
                    <a:bodyPr wrap="square"/>
                    <a:lstStyle/>
                    <a:p>
                      <a:pPr algn="l"/>
                      <a:r>
                        <a:rPr sz="1150" b="0" i="0">
                          <a:solidFill>
                            <a:srgbClr val="111111"/>
                          </a:solidFill>
                          <a:latin typeface="Times New Roman"/>
                        </a:rPr>
                        <a:t>PM2.5, cold snaps, humidity: the </a:t>
                      </a:r>
                      <a:r>
                        <a:rPr sz="1150" b="0" i="1">
                          <a:solidFill>
                            <a:srgbClr val="111111"/>
                          </a:solidFill>
                          <a:latin typeface="Times New Roman"/>
                        </a:rPr>
                        <a:t>seasonal trigger</a:t>
                      </a:r>
                      <a:r>
                        <a:rPr sz="1150" b="0" i="0">
                          <a:solidFill>
                            <a:srgbClr val="111111"/>
                          </a:solidFill>
                          <a:latin typeface="Times New Roman"/>
                        </a:rPr>
                        <a:t> and the advice</a:t>
                      </a:r>
                    </a:p>
                  </a:txBody>
                  <a:tcPr marL="54864" marR="54864" marT="22860" marB="22860" anchor="ctr">
                    <a:solidFill>
                      <a:srgbClr val="FFFFFF"/>
                    </a:solidFill>
                    <a:lnL w="9525">
                      <a:solidFill>
                        <a:srgbClr val="000000"/>
                      </a:solidFill>
                    </a:lnL>
                    <a:lnR w="9525">
                      <a:solidFill>
                        <a:srgbClr val="000000"/>
                      </a:solidFill>
                    </a:lnR>
                    <a:lnT w="9525">
                      <a:solidFill>
                        <a:srgbClr val="000000"/>
                      </a:solidFill>
                    </a:lnT>
                    <a:lnB w="9525">
                      <a:solidFill>
                        <a:srgbClr val="000000"/>
                      </a:solidFill>
                    </a:lnB>
                  </a:tcPr>
                </a:tc>
              </a:tr>
            </a:tbl>
          </a:graphicData>
        </a:graphic>
      </p:graphicFrame>
      <p:sp>
        <p:nvSpPr>
          <p:cNvPr id="17" name="Tech box"/>
          <p:cNvSpPr/>
          <p:nvPr/>
        </p:nvSpPr>
        <p:spPr>
          <a:xfrm>
            <a:off x="6355080" y="2606040"/>
            <a:ext cx="2286000" cy="3886200"/>
          </a:xfrm>
          <a:prstGeom prst="roundRect">
            <a:avLst>
              <a:gd name="adj" fmla="val 3000"/>
            </a:avLst>
          </a:prstGeom>
          <a:solidFill>
            <a:srgbClr val="FFFFFF"/>
          </a:solidFill>
          <a:ln w="12700">
            <a:solidFill>
              <a:srgbClr val="40404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Dashboard screenshot" descr="calllist.png"/>
          <p:cNvPicPr>
            <a:picLocks noChangeAspect="1"/>
          </p:cNvPicPr>
          <p:nvPr/>
        </p:nvPicPr>
        <p:blipFill>
          <a:blip r:embed="rId4"/>
          <a:stretch>
            <a:fillRect/>
          </a:stretch>
        </p:blipFill>
        <p:spPr>
          <a:xfrm>
            <a:off x="6428232" y="2840398"/>
            <a:ext cx="2139696" cy="2923706"/>
          </a:xfrm>
          <a:prstGeom prst="rect">
            <a:avLst/>
          </a:prstGeom>
          <a:ln w="9525">
            <a:solidFill>
              <a:srgbClr val="BFBFBF"/>
            </a:solidFill>
          </a:ln>
        </p:spPr>
      </p:pic>
      <p:sp>
        <p:nvSpPr>
          <p:cNvPr id="19" name="TextBox 18"/>
          <p:cNvSpPr txBox="1"/>
          <p:nvPr/>
        </p:nvSpPr>
        <p:spPr>
          <a:xfrm>
            <a:off x="6400800" y="5943600"/>
            <a:ext cx="2194560" cy="502920"/>
          </a:xfrm>
          <a:prstGeom prst="rect">
            <a:avLst/>
          </a:prstGeom>
          <a:noFill/>
        </p:spPr>
        <p:txBody>
          <a:bodyPr wrap="square" anchor="t" lIns="54864" rIns="54864" tIns="27432" bIns="27432">
            <a:spAutoFit/>
          </a:bodyPr>
          <a:lstStyle/>
          <a:p>
            <a:pPr algn="ctr">
              <a:spcAft>
                <a:spcPts val="300"/>
              </a:spcAft>
              <a:buNone/>
            </a:pPr>
            <a:r>
              <a:rPr sz="1100" b="0" i="1">
                <a:solidFill>
                  <a:srgbClr val="111111"/>
                </a:solidFill>
                <a:latin typeface="Times New Roman"/>
              </a:rPr>
              <a:t>Doctor's view: the risk, who to call today, and why</a:t>
            </a:r>
          </a:p>
        </p:txBody>
      </p:sp>
      <p:graphicFrame>
        <p:nvGraphicFramePr>
          <p:cNvPr id="20" name="Differentiator table"/>
          <p:cNvGraphicFramePr>
            <a:graphicFrameLocks noGrp="1"/>
          </p:cNvGraphicFramePr>
          <p:nvPr/>
        </p:nvGraphicFramePr>
        <p:xfrm>
          <a:off x="8823960" y="2834640"/>
          <a:ext cx="2651760" cy="3017520"/>
        </p:xfrm>
        <a:graphic>
          <a:graphicData uri="http://schemas.openxmlformats.org/drawingml/2006/table">
            <a:tbl>
              <a:tblPr firstRow="0" bandRow="0">
                <a:tableStyleId>{5940675A-B579-460E-94D1-54222C63F5DA}</a:tableStyleId>
              </a:tblPr>
              <a:tblGrid>
                <a:gridCol w="804672"/>
                <a:gridCol w="868680"/>
                <a:gridCol w="978408"/>
              </a:tblGrid>
              <a:tr h="603504">
                <a:tc>
                  <a:txBody>
                    <a:bodyPr wrap="square"/>
                    <a:lstStyle/>
                    <a:p>
                      <a:pPr algn="ctr"/>
                      <a:r>
                        <a:rPr sz="1200" b="1" i="0">
                          <a:solidFill>
                            <a:srgbClr val="111111"/>
                          </a:solidFill>
                          <a:latin typeface="Times New Roman"/>
                        </a:rPr>
                        <a:t>Usual care</a:t>
                      </a:r>
                    </a:p>
                  </a:txBody>
                  <a:tcPr marL="54864" marR="54864" marT="22860" marB="22860" anchor="ctr">
                    <a:solidFill>
                      <a:srgbClr val="8EA9DB"/>
                    </a:solidFill>
                    <a:lnL w="9525">
                      <a:solidFill>
                        <a:srgbClr val="000000"/>
                      </a:solidFill>
                    </a:lnL>
                    <a:lnR w="9525">
                      <a:solidFill>
                        <a:srgbClr val="000000"/>
                      </a:solidFill>
                    </a:lnR>
                    <a:lnT w="9525">
                      <a:solidFill>
                        <a:srgbClr val="000000"/>
                      </a:solidFill>
                    </a:lnT>
                    <a:lnB w="9525">
                      <a:solidFill>
                        <a:srgbClr val="000000"/>
                      </a:solidFill>
                    </a:lnB>
                  </a:tcPr>
                </a:tc>
                <a:tc>
                  <a:txBody>
                    <a:bodyPr wrap="square"/>
                    <a:lstStyle/>
                    <a:p>
                      <a:pPr algn="ctr"/>
                      <a:r>
                        <a:rPr sz="1200" b="1" i="0">
                          <a:solidFill>
                            <a:srgbClr val="111111"/>
                          </a:solidFill>
                          <a:latin typeface="Times New Roman"/>
                        </a:rPr>
                        <a:t>Wearables</a:t>
                      </a:r>
                    </a:p>
                  </a:txBody>
                  <a:tcPr marL="54864" marR="54864" marT="22860" marB="22860" anchor="ctr">
                    <a:solidFill>
                      <a:srgbClr val="8EA9DB"/>
                    </a:solidFill>
                    <a:lnL w="9525">
                      <a:solidFill>
                        <a:srgbClr val="000000"/>
                      </a:solidFill>
                    </a:lnL>
                    <a:lnR w="9525">
                      <a:solidFill>
                        <a:srgbClr val="000000"/>
                      </a:solidFill>
                    </a:lnR>
                    <a:lnT w="9525">
                      <a:solidFill>
                        <a:srgbClr val="000000"/>
                      </a:solidFill>
                    </a:lnT>
                    <a:lnB w="9525">
                      <a:solidFill>
                        <a:srgbClr val="000000"/>
                      </a:solidFill>
                    </a:lnB>
                  </a:tcPr>
                </a:tc>
                <a:tc>
                  <a:txBody>
                    <a:bodyPr wrap="square"/>
                    <a:lstStyle/>
                    <a:p>
                      <a:pPr algn="ctr"/>
                      <a:r>
                        <a:rPr sz="1200" b="1" i="0">
                          <a:solidFill>
                            <a:srgbClr val="111111"/>
                          </a:solidFill>
                          <a:latin typeface="Times New Roman"/>
                        </a:rPr>
                        <a:t>BreatheTwin</a:t>
                      </a:r>
                    </a:p>
                  </a:txBody>
                  <a:tcPr marL="54864" marR="54864" marT="22860" marB="22860" anchor="ctr">
                    <a:solidFill>
                      <a:srgbClr val="8EA9DB"/>
                    </a:solidFill>
                    <a:lnL w="9525">
                      <a:solidFill>
                        <a:srgbClr val="000000"/>
                      </a:solidFill>
                    </a:lnL>
                    <a:lnR w="9525">
                      <a:solidFill>
                        <a:srgbClr val="000000"/>
                      </a:solidFill>
                    </a:lnR>
                    <a:lnT w="9525">
                      <a:solidFill>
                        <a:srgbClr val="000000"/>
                      </a:solidFill>
                    </a:lnT>
                    <a:lnB w="9525">
                      <a:solidFill>
                        <a:srgbClr val="000000"/>
                      </a:solidFill>
                    </a:lnB>
                  </a:tcPr>
                </a:tc>
              </a:tr>
              <a:tr h="603504">
                <a:tc>
                  <a:txBody>
                    <a:bodyPr wrap="square"/>
                    <a:lstStyle/>
                    <a:p>
                      <a:pPr algn="l"/>
                      <a:r>
                        <a:rPr sz="1100" b="0" i="0">
                          <a:solidFill>
                            <a:srgbClr val="111111"/>
                          </a:solidFill>
                          <a:latin typeface="Times New Roman"/>
                        </a:rPr>
                        <a:t>Reactive</a:t>
                      </a:r>
                    </a:p>
                  </a:txBody>
                  <a:tcPr marL="54864" marR="54864" marT="22860" marB="22860" anchor="ctr">
                    <a:solidFill>
                      <a:srgbClr val="FFFFFF"/>
                    </a:solidFill>
                    <a:lnL w="9525">
                      <a:solidFill>
                        <a:srgbClr val="000000"/>
                      </a:solidFill>
                    </a:lnL>
                    <a:lnR w="9525">
                      <a:solidFill>
                        <a:srgbClr val="000000"/>
                      </a:solidFill>
                    </a:lnR>
                    <a:lnT w="9525">
                      <a:solidFill>
                        <a:srgbClr val="000000"/>
                      </a:solidFill>
                    </a:lnT>
                    <a:lnB w="9525">
                      <a:solidFill>
                        <a:srgbClr val="000000"/>
                      </a:solidFill>
                    </a:lnB>
                  </a:tcPr>
                </a:tc>
                <a:tc>
                  <a:txBody>
                    <a:bodyPr wrap="square"/>
                    <a:lstStyle/>
                    <a:p>
                      <a:pPr algn="l"/>
                      <a:r>
                        <a:rPr sz="1100" b="0" i="0">
                          <a:solidFill>
                            <a:srgbClr val="111111"/>
                          </a:solidFill>
                          <a:latin typeface="Times New Roman"/>
                        </a:rPr>
                        <a:t>Raw numbers</a:t>
                      </a:r>
                    </a:p>
                  </a:txBody>
                  <a:tcPr marL="54864" marR="54864" marT="22860" marB="22860" anchor="ctr">
                    <a:solidFill>
                      <a:srgbClr val="FFFFFF"/>
                    </a:solidFill>
                    <a:lnL w="9525">
                      <a:solidFill>
                        <a:srgbClr val="000000"/>
                      </a:solidFill>
                    </a:lnL>
                    <a:lnR w="9525">
                      <a:solidFill>
                        <a:srgbClr val="000000"/>
                      </a:solidFill>
                    </a:lnR>
                    <a:lnT w="9525">
                      <a:solidFill>
                        <a:srgbClr val="000000"/>
                      </a:solidFill>
                    </a:lnT>
                    <a:lnB w="9525">
                      <a:solidFill>
                        <a:srgbClr val="000000"/>
                      </a:solidFill>
                    </a:lnB>
                  </a:tcPr>
                </a:tc>
                <a:tc>
                  <a:txBody>
                    <a:bodyPr wrap="square"/>
                    <a:lstStyle/>
                    <a:p>
                      <a:pPr algn="l"/>
                      <a:r>
                        <a:rPr sz="1100" b="1" i="0">
                          <a:solidFill>
                            <a:srgbClr val="111111"/>
                          </a:solidFill>
                          <a:latin typeface="Times New Roman"/>
                        </a:rPr>
                        <a:t>Predictive</a:t>
                      </a:r>
                    </a:p>
                  </a:txBody>
                  <a:tcPr marL="54864" marR="54864" marT="22860" marB="22860" anchor="ctr">
                    <a:solidFill>
                      <a:srgbClr val="FFFFFF"/>
                    </a:solidFill>
                    <a:lnL w="9525">
                      <a:solidFill>
                        <a:srgbClr val="000000"/>
                      </a:solidFill>
                    </a:lnL>
                    <a:lnR w="9525">
                      <a:solidFill>
                        <a:srgbClr val="000000"/>
                      </a:solidFill>
                    </a:lnR>
                    <a:lnT w="9525">
                      <a:solidFill>
                        <a:srgbClr val="000000"/>
                      </a:solidFill>
                    </a:lnT>
                    <a:lnB w="9525">
                      <a:solidFill>
                        <a:srgbClr val="000000"/>
                      </a:solidFill>
                    </a:lnB>
                  </a:tcPr>
                </a:tc>
              </a:tr>
              <a:tr h="603504">
                <a:tc>
                  <a:txBody>
                    <a:bodyPr wrap="square"/>
                    <a:lstStyle/>
                    <a:p>
                      <a:pPr algn="l"/>
                      <a:r>
                        <a:rPr sz="1100" b="0" i="0">
                          <a:solidFill>
                            <a:srgbClr val="111111"/>
                          </a:solidFill>
                          <a:latin typeface="Times New Roman"/>
                        </a:rPr>
                        <a:t>Textbook limits</a:t>
                      </a:r>
                    </a:p>
                  </a:txBody>
                  <a:tcPr marL="54864" marR="54864" marT="22860" marB="22860" anchor="ctr">
                    <a:solidFill>
                      <a:srgbClr val="FFFFFF"/>
                    </a:solidFill>
                    <a:lnL w="9525">
                      <a:solidFill>
                        <a:srgbClr val="000000"/>
                      </a:solidFill>
                    </a:lnL>
                    <a:lnR w="9525">
                      <a:solidFill>
                        <a:srgbClr val="000000"/>
                      </a:solidFill>
                    </a:lnR>
                    <a:lnT w="9525">
                      <a:solidFill>
                        <a:srgbClr val="000000"/>
                      </a:solidFill>
                    </a:lnT>
                    <a:lnB w="9525">
                      <a:solidFill>
                        <a:srgbClr val="000000"/>
                      </a:solidFill>
                    </a:lnB>
                  </a:tcPr>
                </a:tc>
                <a:tc>
                  <a:txBody>
                    <a:bodyPr wrap="square"/>
                    <a:lstStyle/>
                    <a:p>
                      <a:pPr algn="l"/>
                      <a:r>
                        <a:rPr sz="1100" b="0" i="0">
                          <a:solidFill>
                            <a:srgbClr val="111111"/>
                          </a:solidFill>
                          <a:latin typeface="Times New Roman"/>
                        </a:rPr>
                        <a:t>Textbook limits</a:t>
                      </a:r>
                    </a:p>
                  </a:txBody>
                  <a:tcPr marL="54864" marR="54864" marT="22860" marB="22860" anchor="ctr">
                    <a:solidFill>
                      <a:srgbClr val="FFFFFF"/>
                    </a:solidFill>
                    <a:lnL w="9525">
                      <a:solidFill>
                        <a:srgbClr val="000000"/>
                      </a:solidFill>
                    </a:lnL>
                    <a:lnR w="9525">
                      <a:solidFill>
                        <a:srgbClr val="000000"/>
                      </a:solidFill>
                    </a:lnR>
                    <a:lnT w="9525">
                      <a:solidFill>
                        <a:srgbClr val="000000"/>
                      </a:solidFill>
                    </a:lnT>
                    <a:lnB w="9525">
                      <a:solidFill>
                        <a:srgbClr val="000000"/>
                      </a:solidFill>
                    </a:lnB>
                  </a:tcPr>
                </a:tc>
                <a:tc>
                  <a:txBody>
                    <a:bodyPr wrap="square"/>
                    <a:lstStyle/>
                    <a:p>
                      <a:pPr algn="l"/>
                      <a:r>
                        <a:rPr sz="1100" b="1" i="0">
                          <a:solidFill>
                            <a:srgbClr val="111111"/>
                          </a:solidFill>
                          <a:latin typeface="Times New Roman"/>
                        </a:rPr>
                        <a:t>Own normal</a:t>
                      </a:r>
                    </a:p>
                  </a:txBody>
                  <a:tcPr marL="54864" marR="54864" marT="22860" marB="22860" anchor="ctr">
                    <a:solidFill>
                      <a:srgbClr val="FFFFFF"/>
                    </a:solidFill>
                    <a:lnL w="9525">
                      <a:solidFill>
                        <a:srgbClr val="000000"/>
                      </a:solidFill>
                    </a:lnL>
                    <a:lnR w="9525">
                      <a:solidFill>
                        <a:srgbClr val="000000"/>
                      </a:solidFill>
                    </a:lnR>
                    <a:lnT w="9525">
                      <a:solidFill>
                        <a:srgbClr val="000000"/>
                      </a:solidFill>
                    </a:lnT>
                    <a:lnB w="9525">
                      <a:solidFill>
                        <a:srgbClr val="000000"/>
                      </a:solidFill>
                    </a:lnB>
                  </a:tcPr>
                </a:tc>
              </a:tr>
              <a:tr h="603504">
                <a:tc>
                  <a:txBody>
                    <a:bodyPr wrap="square"/>
                    <a:lstStyle/>
                    <a:p>
                      <a:pPr algn="l"/>
                      <a:r>
                        <a:rPr sz="1100" b="0" i="0">
                          <a:solidFill>
                            <a:srgbClr val="111111"/>
                          </a:solidFill>
                          <a:latin typeface="Times New Roman"/>
                        </a:rPr>
                        <a:t>No air data</a:t>
                      </a:r>
                    </a:p>
                  </a:txBody>
                  <a:tcPr marL="54864" marR="54864" marT="22860" marB="22860" anchor="ctr">
                    <a:solidFill>
                      <a:srgbClr val="FFFFFF"/>
                    </a:solidFill>
                    <a:lnL w="9525">
                      <a:solidFill>
                        <a:srgbClr val="000000"/>
                      </a:solidFill>
                    </a:lnL>
                    <a:lnR w="9525">
                      <a:solidFill>
                        <a:srgbClr val="000000"/>
                      </a:solidFill>
                    </a:lnR>
                    <a:lnT w="9525">
                      <a:solidFill>
                        <a:srgbClr val="000000"/>
                      </a:solidFill>
                    </a:lnT>
                    <a:lnB w="9525">
                      <a:solidFill>
                        <a:srgbClr val="000000"/>
                      </a:solidFill>
                    </a:lnB>
                  </a:tcPr>
                </a:tc>
                <a:tc>
                  <a:txBody>
                    <a:bodyPr wrap="square"/>
                    <a:lstStyle/>
                    <a:p>
                      <a:pPr algn="l"/>
                      <a:r>
                        <a:rPr sz="1100" b="0" i="0">
                          <a:solidFill>
                            <a:srgbClr val="111111"/>
                          </a:solidFill>
                          <a:latin typeface="Times New Roman"/>
                        </a:rPr>
                        <a:t>No record</a:t>
                      </a:r>
                    </a:p>
                  </a:txBody>
                  <a:tcPr marL="54864" marR="54864" marT="22860" marB="22860" anchor="ctr">
                    <a:solidFill>
                      <a:srgbClr val="FFFFFF"/>
                    </a:solidFill>
                    <a:lnL w="9525">
                      <a:solidFill>
                        <a:srgbClr val="000000"/>
                      </a:solidFill>
                    </a:lnL>
                    <a:lnR w="9525">
                      <a:solidFill>
                        <a:srgbClr val="000000"/>
                      </a:solidFill>
                    </a:lnR>
                    <a:lnT w="9525">
                      <a:solidFill>
                        <a:srgbClr val="000000"/>
                      </a:solidFill>
                    </a:lnT>
                    <a:lnB w="9525">
                      <a:solidFill>
                        <a:srgbClr val="000000"/>
                      </a:solidFill>
                    </a:lnB>
                  </a:tcPr>
                </a:tc>
                <a:tc>
                  <a:txBody>
                    <a:bodyPr wrap="square"/>
                    <a:lstStyle/>
                    <a:p>
                      <a:pPr algn="l"/>
                      <a:r>
                        <a:rPr sz="1100" b="1" i="0">
                          <a:solidFill>
                            <a:srgbClr val="111111"/>
                          </a:solidFill>
                          <a:latin typeface="Times New Roman"/>
                        </a:rPr>
                        <a:t>Record + body + air</a:t>
                      </a:r>
                    </a:p>
                  </a:txBody>
                  <a:tcPr marL="54864" marR="54864" marT="22860" marB="22860" anchor="ctr">
                    <a:solidFill>
                      <a:srgbClr val="FFFFFF"/>
                    </a:solidFill>
                    <a:lnL w="9525">
                      <a:solidFill>
                        <a:srgbClr val="000000"/>
                      </a:solidFill>
                    </a:lnL>
                    <a:lnR w="9525">
                      <a:solidFill>
                        <a:srgbClr val="000000"/>
                      </a:solidFill>
                    </a:lnR>
                    <a:lnT w="9525">
                      <a:solidFill>
                        <a:srgbClr val="000000"/>
                      </a:solidFill>
                    </a:lnT>
                    <a:lnB w="9525">
                      <a:solidFill>
                        <a:srgbClr val="000000"/>
                      </a:solidFill>
                    </a:lnB>
                  </a:tcPr>
                </a:tc>
              </a:tr>
              <a:tr h="603504">
                <a:tc>
                  <a:txBody>
                    <a:bodyPr wrap="square"/>
                    <a:lstStyle/>
                    <a:p>
                      <a:pPr algn="l"/>
                      <a:r>
                        <a:rPr sz="1100" b="0" i="0">
                          <a:solidFill>
                            <a:srgbClr val="111111"/>
                          </a:solidFill>
                          <a:latin typeface="Times New Roman"/>
                        </a:rPr>
                        <a:t>Doctor only</a:t>
                      </a:r>
                    </a:p>
                  </a:txBody>
                  <a:tcPr marL="54864" marR="54864" marT="22860" marB="22860" anchor="ctr">
                    <a:solidFill>
                      <a:srgbClr val="FFFFFF"/>
                    </a:solidFill>
                    <a:lnL w="9525">
                      <a:solidFill>
                        <a:srgbClr val="000000"/>
                      </a:solidFill>
                    </a:lnL>
                    <a:lnR w="9525">
                      <a:solidFill>
                        <a:srgbClr val="000000"/>
                      </a:solidFill>
                    </a:lnR>
                    <a:lnT w="9525">
                      <a:solidFill>
                        <a:srgbClr val="000000"/>
                      </a:solidFill>
                    </a:lnT>
                    <a:lnB w="9525">
                      <a:solidFill>
                        <a:srgbClr val="000000"/>
                      </a:solidFill>
                    </a:lnB>
                  </a:tcPr>
                </a:tc>
                <a:tc>
                  <a:txBody>
                    <a:bodyPr wrap="square"/>
                    <a:lstStyle/>
                    <a:p>
                      <a:pPr algn="l"/>
                      <a:r>
                        <a:rPr sz="1100" b="0" i="0">
                          <a:solidFill>
                            <a:srgbClr val="111111"/>
                          </a:solidFill>
                          <a:latin typeface="Times New Roman"/>
                        </a:rPr>
                        <a:t>User only</a:t>
                      </a:r>
                    </a:p>
                  </a:txBody>
                  <a:tcPr marL="54864" marR="54864" marT="22860" marB="22860" anchor="ctr">
                    <a:solidFill>
                      <a:srgbClr val="FFFFFF"/>
                    </a:solidFill>
                    <a:lnL w="9525">
                      <a:solidFill>
                        <a:srgbClr val="000000"/>
                      </a:solidFill>
                    </a:lnL>
                    <a:lnR w="9525">
                      <a:solidFill>
                        <a:srgbClr val="000000"/>
                      </a:solidFill>
                    </a:lnR>
                    <a:lnT w="9525">
                      <a:solidFill>
                        <a:srgbClr val="000000"/>
                      </a:solidFill>
                    </a:lnT>
                    <a:lnB w="9525">
                      <a:solidFill>
                        <a:srgbClr val="000000"/>
                      </a:solidFill>
                    </a:lnB>
                  </a:tcPr>
                </a:tc>
                <a:tc>
                  <a:txBody>
                    <a:bodyPr wrap="square"/>
                    <a:lstStyle/>
                    <a:p>
                      <a:pPr algn="l"/>
                      <a:r>
                        <a:rPr sz="1100" b="1" i="0">
                          <a:solidFill>
                            <a:srgbClr val="111111"/>
                          </a:solidFill>
                          <a:latin typeface="Times New Roman"/>
                        </a:rPr>
                        <a:t>Doctor + family</a:t>
                      </a:r>
                    </a:p>
                  </a:txBody>
                  <a:tcPr marL="54864" marR="54864" marT="22860" marB="22860" anchor="ctr">
                    <a:solidFill>
                      <a:srgbClr val="FFFFFF"/>
                    </a:solidFill>
                    <a:lnL w="9525">
                      <a:solidFill>
                        <a:srgbClr val="000000"/>
                      </a:solidFill>
                    </a:lnL>
                    <a:lnR w="9525">
                      <a:solidFill>
                        <a:srgbClr val="000000"/>
                      </a:solidFill>
                    </a:lnR>
                    <a:lnT w="9525">
                      <a:solidFill>
                        <a:srgbClr val="000000"/>
                      </a:solidFill>
                    </a:lnT>
                    <a:lnB w="9525">
                      <a:solidFill>
                        <a:srgbClr val="000000"/>
                      </a:solidFill>
                    </a:lnB>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descr="bg_content.jpg"/>
          <p:cNvPicPr>
            <a:picLocks noChangeAspect="1"/>
          </p:cNvPicPr>
          <p:nvPr/>
        </p:nvPicPr>
        <p:blipFill>
          <a:blip r:embed="rId2"/>
          <a:stretch>
            <a:fillRect/>
          </a:stretch>
        </p:blipFill>
        <p:spPr>
          <a:xfrm>
            <a:off x="0" y="0"/>
            <a:ext cx="12191695" cy="6858000"/>
          </a:xfrm>
          <a:prstGeom prst="rect">
            <a:avLst/>
          </a:prstGeom>
        </p:spPr>
      </p:pic>
      <p:sp>
        <p:nvSpPr>
          <p:cNvPr id="3" name="BreatheTwin logo"/>
          <p:cNvSpPr/>
          <p:nvPr/>
        </p:nvSpPr>
        <p:spPr>
          <a:xfrm>
            <a:off x="411480" y="201168"/>
            <a:ext cx="3794760" cy="603504"/>
          </a:xfrm>
          <a:prstGeom prst="rect">
            <a:avLst/>
          </a:prstGeom>
          <a:solidFill>
            <a:srgbClr val="0B2A78"/>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Logo mark"/>
          <p:cNvSpPr/>
          <p:nvPr/>
        </p:nvSpPr>
        <p:spPr>
          <a:xfrm>
            <a:off x="475488" y="256032"/>
            <a:ext cx="493776" cy="4937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900" b="1">
                <a:solidFill>
                  <a:srgbClr val="B23A2E"/>
                </a:solidFill>
                <a:latin typeface="Arial"/>
              </a:rPr>
              <a:t>BT</a:t>
            </a:r>
          </a:p>
        </p:txBody>
      </p:sp>
      <p:sp>
        <p:nvSpPr>
          <p:cNvPr id="5" name="Logo text"/>
          <p:cNvSpPr txBox="1"/>
          <p:nvPr/>
        </p:nvSpPr>
        <p:spPr>
          <a:xfrm>
            <a:off x="1024128" y="182880"/>
            <a:ext cx="3154680" cy="457200"/>
          </a:xfrm>
          <a:prstGeom prst="rect">
            <a:avLst/>
          </a:prstGeom>
          <a:noFill/>
        </p:spPr>
        <p:txBody>
          <a:bodyPr wrap="none" lIns="0" tIns="0" bIns="0">
            <a:spAutoFit/>
          </a:bodyPr>
          <a:lstStyle/>
          <a:p>
            <a:r>
              <a:rPr sz="2500" b="1">
                <a:solidFill>
                  <a:srgbClr val="FFFFFF"/>
                </a:solidFill>
                <a:latin typeface="Arial"/>
              </a:rPr>
              <a:t>BREATHETWIN</a:t>
            </a:r>
          </a:p>
        </p:txBody>
      </p:sp>
      <p:sp>
        <p:nvSpPr>
          <p:cNvPr id="6" name="Logo sub"/>
          <p:cNvSpPr txBox="1"/>
          <p:nvPr/>
        </p:nvSpPr>
        <p:spPr>
          <a:xfrm>
            <a:off x="1024128" y="585216"/>
            <a:ext cx="3108960" cy="219456"/>
          </a:xfrm>
          <a:prstGeom prst="rect">
            <a:avLst/>
          </a:prstGeom>
          <a:noFill/>
        </p:spPr>
        <p:txBody>
          <a:bodyPr wrap="none" lIns="0" tIns="0" bIns="0" rIns="0">
            <a:spAutoFit/>
          </a:bodyPr>
          <a:lstStyle/>
          <a:p>
            <a:pPr algn="r"/>
            <a:r>
              <a:rPr sz="900" b="1">
                <a:solidFill>
                  <a:srgbClr val="FFFFFF"/>
                </a:solidFill>
                <a:latin typeface="Arial"/>
              </a:rPr>
              <a:t>TEAM MOMENTUM</a:t>
            </a:r>
          </a:p>
        </p:txBody>
      </p:sp>
      <p:sp>
        <p:nvSpPr>
          <p:cNvPr id="7" name="Logo tagline"/>
          <p:cNvSpPr txBox="1"/>
          <p:nvPr/>
        </p:nvSpPr>
        <p:spPr>
          <a:xfrm>
            <a:off x="566928" y="822960"/>
            <a:ext cx="4023360" cy="274320"/>
          </a:xfrm>
          <a:prstGeom prst="rect">
            <a:avLst/>
          </a:prstGeom>
          <a:noFill/>
        </p:spPr>
        <p:txBody>
          <a:bodyPr wrap="none" lIns="0" tIns="0" bIns="0">
            <a:spAutoFit/>
          </a:bodyPr>
          <a:lstStyle/>
          <a:p>
            <a:r>
              <a:rPr sz="1300" b="1" i="1">
                <a:solidFill>
                  <a:srgbClr val="FFFFFF"/>
                </a:solidFill>
                <a:latin typeface="Arial"/>
              </a:rPr>
              <a:t>EARLY WARNING. EASIER BREATHING.</a:t>
            </a:r>
          </a:p>
        </p:txBody>
      </p:sp>
      <p:sp>
        <p:nvSpPr>
          <p:cNvPr id="8" name="Content panel"/>
          <p:cNvSpPr/>
          <p:nvPr/>
        </p:nvSpPr>
        <p:spPr>
          <a:xfrm>
            <a:off x="502920" y="1115568"/>
            <a:ext cx="11201400" cy="5559552"/>
          </a:xfrm>
          <a:prstGeom prst="rect">
            <a:avLst/>
          </a:prstGeom>
          <a:solidFill>
            <a:srgbClr val="FFFFFF"/>
          </a:solidFill>
          <a:ln w="12700">
            <a:solidFill>
              <a:srgbClr val="F4B18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itle box"/>
          <p:cNvSpPr/>
          <p:nvPr/>
        </p:nvSpPr>
        <p:spPr>
          <a:xfrm>
            <a:off x="731520" y="1225296"/>
            <a:ext cx="10744200" cy="658368"/>
          </a:xfrm>
          <a:prstGeom prst="rect">
            <a:avLst/>
          </a:prstGeom>
          <a:solidFill>
            <a:srgbClr val="FFFFFF"/>
          </a:solidFill>
          <a:ln w="12700">
            <a:solidFill>
              <a:srgbClr val="40404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i="0">
                <a:solidFill>
                  <a:srgbClr val="111111"/>
                </a:solidFill>
                <a:latin typeface="Times New Roman"/>
              </a:rPr>
              <a:t>Works with the wearables and IoT devices patients can already buy</a:t>
            </a:r>
          </a:p>
        </p:txBody>
      </p:sp>
      <p:sp>
        <p:nvSpPr>
          <p:cNvPr id="10" name="Tag: Which sensor tracks which signal"/>
          <p:cNvSpPr/>
          <p:nvPr/>
        </p:nvSpPr>
        <p:spPr>
          <a:xfrm>
            <a:off x="731520" y="2011680"/>
            <a:ext cx="6903720" cy="411480"/>
          </a:xfrm>
          <a:prstGeom prst="rect">
            <a:avLst/>
          </a:prstGeom>
          <a:solidFill>
            <a:srgbClr val="FFE699"/>
          </a:solidFill>
          <a:ln w="12700">
            <a:solidFill>
              <a:srgbClr val="F4B183"/>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600" b="1" i="0">
                <a:solidFill>
                  <a:srgbClr val="111111"/>
                </a:solidFill>
                <a:latin typeface="Times New Roman"/>
              </a:rPr>
              <a:t>Which sensor tracks which signal</a:t>
            </a:r>
          </a:p>
        </p:txBody>
      </p:sp>
      <p:graphicFrame>
        <p:nvGraphicFramePr>
          <p:cNvPr id="11" name="Sensor table"/>
          <p:cNvGraphicFramePr>
            <a:graphicFrameLocks noGrp="1"/>
          </p:cNvGraphicFramePr>
          <p:nvPr/>
        </p:nvGraphicFramePr>
        <p:xfrm>
          <a:off x="731520" y="2542032"/>
          <a:ext cx="6903720" cy="3209544"/>
        </p:xfrm>
        <a:graphic>
          <a:graphicData uri="http://schemas.openxmlformats.org/drawingml/2006/table">
            <a:tbl>
              <a:tblPr>
                <a:tableStyleId>{5C22544A-7EE6-4342-B048-85BDC9FD1C3A}</a:tableStyleId>
              </a:tblPr>
              <a:tblGrid>
                <a:gridCol w="1463040"/>
                <a:gridCol w="1783080"/>
                <a:gridCol w="2011680"/>
                <a:gridCol w="1645920"/>
              </a:tblGrid>
              <a:tr h="356616">
                <a:tc>
                  <a:txBody>
                    <a:bodyPr wrap="square"/>
                    <a:lstStyle/>
                    <a:p>
                      <a:pPr algn="ctr"/>
                      <a:r>
                        <a:rPr sz="1100" b="1">
                          <a:solidFill>
                            <a:srgbClr val="111111"/>
                          </a:solidFill>
                          <a:latin typeface="Times New Roman"/>
                        </a:rPr>
                        <a:t>Signal</a:t>
                      </a:r>
                    </a:p>
                  </a:txBody>
                  <a:tcPr marL="54864" marR="54864" marT="22860" marB="22860" anchor="ctr">
                    <a:lnL w="9525">
                      <a:solidFill>
                        <a:srgbClr val="000000"/>
                      </a:solidFill>
                    </a:lnL>
                    <a:lnR w="9525">
                      <a:solidFill>
                        <a:srgbClr val="000000"/>
                      </a:solidFill>
                    </a:lnR>
                    <a:lnT w="9525">
                      <a:solidFill>
                        <a:srgbClr val="000000"/>
                      </a:solidFill>
                    </a:lnT>
                    <a:lnB w="9525">
                      <a:solidFill>
                        <a:srgbClr val="000000"/>
                      </a:solidFill>
                    </a:lnB>
                    <a:solidFill>
                      <a:srgbClr val="8EA9DB"/>
                    </a:solidFill>
                  </a:tcPr>
                </a:tc>
                <a:tc>
                  <a:txBody>
                    <a:bodyPr wrap="square"/>
                    <a:lstStyle/>
                    <a:p>
                      <a:pPr algn="ctr"/>
                      <a:r>
                        <a:rPr sz="1100" b="1">
                          <a:solidFill>
                            <a:srgbClr val="111111"/>
                          </a:solidFill>
                          <a:latin typeface="Times New Roman"/>
                        </a:rPr>
                        <a:t>Sensor</a:t>
                      </a:r>
                    </a:p>
                  </a:txBody>
                  <a:tcPr marL="54864" marR="54864" marT="22860" marB="22860" anchor="ctr">
                    <a:lnL w="9525">
                      <a:solidFill>
                        <a:srgbClr val="000000"/>
                      </a:solidFill>
                    </a:lnL>
                    <a:lnR w="9525">
                      <a:solidFill>
                        <a:srgbClr val="000000"/>
                      </a:solidFill>
                    </a:lnR>
                    <a:lnT w="9525">
                      <a:solidFill>
                        <a:srgbClr val="000000"/>
                      </a:solidFill>
                    </a:lnT>
                    <a:lnB w="9525">
                      <a:solidFill>
                        <a:srgbClr val="000000"/>
                      </a:solidFill>
                    </a:lnB>
                    <a:solidFill>
                      <a:srgbClr val="8EA9DB"/>
                    </a:solidFill>
                  </a:tcPr>
                </a:tc>
                <a:tc>
                  <a:txBody>
                    <a:bodyPr wrap="square"/>
                    <a:lstStyle/>
                    <a:p>
                      <a:pPr algn="ctr"/>
                      <a:r>
                        <a:rPr sz="1100" b="1">
                          <a:solidFill>
                            <a:srgbClr val="111111"/>
                          </a:solidFill>
                          <a:latin typeface="Times New Roman"/>
                        </a:rPr>
                        <a:t>Devices</a:t>
                      </a:r>
                    </a:p>
                  </a:txBody>
                  <a:tcPr marL="54864" marR="54864" marT="22860" marB="22860" anchor="ctr">
                    <a:lnL w="9525">
                      <a:solidFill>
                        <a:srgbClr val="000000"/>
                      </a:solidFill>
                    </a:lnL>
                    <a:lnR w="9525">
                      <a:solidFill>
                        <a:srgbClr val="000000"/>
                      </a:solidFill>
                    </a:lnR>
                    <a:lnT w="9525">
                      <a:solidFill>
                        <a:srgbClr val="000000"/>
                      </a:solidFill>
                    </a:lnT>
                    <a:lnB w="9525">
                      <a:solidFill>
                        <a:srgbClr val="000000"/>
                      </a:solidFill>
                    </a:lnB>
                    <a:solidFill>
                      <a:srgbClr val="8EA9DB"/>
                    </a:solidFill>
                  </a:tcPr>
                </a:tc>
                <a:tc>
                  <a:txBody>
                    <a:bodyPr wrap="square"/>
                    <a:lstStyle/>
                    <a:p>
                      <a:pPr algn="ctr"/>
                      <a:r>
                        <a:rPr sz="1100" b="1">
                          <a:solidFill>
                            <a:srgbClr val="111111"/>
                          </a:solidFill>
                          <a:latin typeface="Times New Roman"/>
                        </a:rPr>
                        <a:t>Twin uses it as</a:t>
                      </a:r>
                    </a:p>
                  </a:txBody>
                  <a:tcPr marL="54864" marR="54864" marT="22860" marB="22860" anchor="ctr">
                    <a:lnL w="9525">
                      <a:solidFill>
                        <a:srgbClr val="000000"/>
                      </a:solidFill>
                    </a:lnL>
                    <a:lnR w="9525">
                      <a:solidFill>
                        <a:srgbClr val="000000"/>
                      </a:solidFill>
                    </a:lnR>
                    <a:lnT w="9525">
                      <a:solidFill>
                        <a:srgbClr val="000000"/>
                      </a:solidFill>
                    </a:lnT>
                    <a:lnB w="9525">
                      <a:solidFill>
                        <a:srgbClr val="000000"/>
                      </a:solidFill>
                    </a:lnB>
                    <a:solidFill>
                      <a:srgbClr val="8EA9DB"/>
                    </a:solidFill>
                  </a:tcPr>
                </a:tc>
              </a:tr>
              <a:tr h="356616">
                <a:tc>
                  <a:txBody>
                    <a:bodyPr wrap="square"/>
                    <a:lstStyle/>
                    <a:p>
                      <a:pPr algn="l"/>
                      <a:r>
                        <a:rPr sz="1000" b="0">
                          <a:solidFill>
                            <a:srgbClr val="111111"/>
                          </a:solidFill>
                          <a:latin typeface="Times New Roman"/>
                        </a:rPr>
                        <a:t>Resting heart rate</a:t>
                      </a:r>
                    </a:p>
                  </a:txBody>
                  <a:tcPr marL="54864" marR="54864" marT="22860" marB="22860"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wrap="square"/>
                    <a:lstStyle/>
                    <a:p>
                      <a:pPr algn="l"/>
                      <a:r>
                        <a:rPr sz="1000" b="0">
                          <a:solidFill>
                            <a:srgbClr val="111111"/>
                          </a:solidFill>
                          <a:latin typeface="Times New Roman"/>
                        </a:rPr>
                        <a:t>Optical PPG (green light)</a:t>
                      </a:r>
                    </a:p>
                  </a:txBody>
                  <a:tcPr marL="54864" marR="54864" marT="22860" marB="22860"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wrap="square"/>
                    <a:lstStyle/>
                    <a:p>
                      <a:pPr algn="l"/>
                      <a:r>
                        <a:rPr sz="1000" b="0">
                          <a:solidFill>
                            <a:srgbClr val="111111"/>
                          </a:solidFill>
                          <a:latin typeface="Times New Roman"/>
                        </a:rPr>
                        <a:t>Any smartwatch, band, oximeter</a:t>
                      </a:r>
                    </a:p>
                  </a:txBody>
                  <a:tcPr marL="54864" marR="54864" marT="22860" marB="22860"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wrap="square"/>
                    <a:lstStyle/>
                    <a:p>
                      <a:pPr algn="l"/>
                      <a:r>
                        <a:rPr sz="1000" b="0">
                          <a:solidFill>
                            <a:srgbClr val="111111"/>
                          </a:solidFill>
                          <a:latin typeface="Times New Roman"/>
                        </a:rPr>
                        <a:t>Change vs own normal</a:t>
                      </a:r>
                    </a:p>
                  </a:txBody>
                  <a:tcPr marL="54864" marR="54864" marT="22860" marB="22860"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r>
              <a:tr h="356616">
                <a:tc>
                  <a:txBody>
                    <a:bodyPr wrap="square"/>
                    <a:lstStyle/>
                    <a:p>
                      <a:pPr algn="l"/>
                      <a:r>
                        <a:rPr sz="1000" b="0">
                          <a:solidFill>
                            <a:srgbClr val="111111"/>
                          </a:solidFill>
                          <a:latin typeface="Times New Roman"/>
                        </a:rPr>
                        <a:t>Breathing rate</a:t>
                      </a:r>
                    </a:p>
                  </a:txBody>
                  <a:tcPr marL="54864" marR="54864" marT="22860" marB="22860"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wrap="square"/>
                    <a:lstStyle/>
                    <a:p>
                      <a:pPr algn="l"/>
                      <a:r>
                        <a:rPr sz="1000" b="0">
                          <a:solidFill>
                            <a:srgbClr val="111111"/>
                          </a:solidFill>
                          <a:latin typeface="Times New Roman"/>
                        </a:rPr>
                        <a:t>PPG + motion, during sleep</a:t>
                      </a:r>
                    </a:p>
                  </a:txBody>
                  <a:tcPr marL="54864" marR="54864" marT="22860" marB="22860"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wrap="square"/>
                    <a:lstStyle/>
                    <a:p>
                      <a:pPr algn="l"/>
                      <a:r>
                        <a:rPr sz="1000" b="0">
                          <a:solidFill>
                            <a:srgbClr val="111111"/>
                          </a:solidFill>
                          <a:latin typeface="Times New Roman"/>
                        </a:rPr>
                        <a:t>Fitbit, Apple, Galaxy, Garmin watch</a:t>
                      </a:r>
                    </a:p>
                  </a:txBody>
                  <a:tcPr marL="54864" marR="54864" marT="22860" marB="22860"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wrap="square"/>
                    <a:lstStyle/>
                    <a:p>
                      <a:pPr algn="l"/>
                      <a:r>
                        <a:rPr sz="1000" b="0">
                          <a:solidFill>
                            <a:srgbClr val="111111"/>
                          </a:solidFill>
                          <a:latin typeface="Times New Roman"/>
                        </a:rPr>
                        <a:t>Change vs own normal</a:t>
                      </a:r>
                    </a:p>
                  </a:txBody>
                  <a:tcPr marL="54864" marR="54864" marT="22860" marB="22860"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r>
              <a:tr h="356616">
                <a:tc>
                  <a:txBody>
                    <a:bodyPr wrap="square"/>
                    <a:lstStyle/>
                    <a:p>
                      <a:pPr algn="l"/>
                      <a:r>
                        <a:rPr sz="1000" b="0">
                          <a:solidFill>
                            <a:srgbClr val="111111"/>
                          </a:solidFill>
                          <a:latin typeface="Times New Roman"/>
                        </a:rPr>
                        <a:t>Blood oxygen (SpO2)</a:t>
                      </a:r>
                    </a:p>
                  </a:txBody>
                  <a:tcPr marL="54864" marR="54864" marT="22860" marB="22860"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wrap="square"/>
                    <a:lstStyle/>
                    <a:p>
                      <a:pPr algn="l"/>
                      <a:r>
                        <a:rPr sz="1000" b="0">
                          <a:solidFill>
                            <a:srgbClr val="111111"/>
                          </a:solidFill>
                          <a:latin typeface="Times New Roman"/>
                        </a:rPr>
                        <a:t>Red + infrared light</a:t>
                      </a:r>
                    </a:p>
                  </a:txBody>
                  <a:tcPr marL="54864" marR="54864" marT="22860" marB="22860"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wrap="square"/>
                    <a:lstStyle/>
                    <a:p>
                      <a:pPr algn="l"/>
                      <a:r>
                        <a:rPr sz="1000" b="0">
                          <a:solidFill>
                            <a:srgbClr val="111111"/>
                          </a:solidFill>
                          <a:latin typeface="Times New Roman"/>
                        </a:rPr>
                        <a:t>Fingertip / ring oximeter, watch</a:t>
                      </a:r>
                    </a:p>
                  </a:txBody>
                  <a:tcPr marL="54864" marR="54864" marT="22860" marB="22860"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wrap="square"/>
                    <a:lstStyle/>
                    <a:p>
                      <a:pPr algn="l"/>
                      <a:r>
                        <a:rPr sz="1000" b="0">
                          <a:solidFill>
                            <a:srgbClr val="111111"/>
                          </a:solidFill>
                          <a:latin typeface="Times New Roman"/>
                        </a:rPr>
                        <a:t>Change; urgent below 90%</a:t>
                      </a:r>
                    </a:p>
                  </a:txBody>
                  <a:tcPr marL="54864" marR="54864" marT="22860" marB="22860"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r>
              <a:tr h="356616">
                <a:tc>
                  <a:txBody>
                    <a:bodyPr wrap="square"/>
                    <a:lstStyle/>
                    <a:p>
                      <a:pPr algn="l"/>
                      <a:r>
                        <a:rPr sz="1000" b="0">
                          <a:solidFill>
                            <a:srgbClr val="111111"/>
                          </a:solidFill>
                          <a:latin typeface="Times New Roman"/>
                        </a:rPr>
                        <a:t>Steps / activity</a:t>
                      </a:r>
                    </a:p>
                  </a:txBody>
                  <a:tcPr marL="54864" marR="54864" marT="22860" marB="22860"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wrap="square"/>
                    <a:lstStyle/>
                    <a:p>
                      <a:pPr algn="l"/>
                      <a:r>
                        <a:rPr sz="1000" b="0">
                          <a:solidFill>
                            <a:srgbClr val="111111"/>
                          </a:solidFill>
                          <a:latin typeface="Times New Roman"/>
                        </a:rPr>
                        <a:t>Accelerometer</a:t>
                      </a:r>
                    </a:p>
                  </a:txBody>
                  <a:tcPr marL="54864" marR="54864" marT="22860" marB="22860"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wrap="square"/>
                    <a:lstStyle/>
                    <a:p>
                      <a:pPr algn="l"/>
                      <a:r>
                        <a:rPr sz="1000" b="0">
                          <a:solidFill>
                            <a:srgbClr val="111111"/>
                          </a:solidFill>
                          <a:latin typeface="Times New Roman"/>
                        </a:rPr>
                        <a:t>Watch, band or phone</a:t>
                      </a:r>
                    </a:p>
                  </a:txBody>
                  <a:tcPr marL="54864" marR="54864" marT="22860" marB="22860"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wrap="square"/>
                    <a:lstStyle/>
                    <a:p>
                      <a:pPr algn="l"/>
                      <a:r>
                        <a:rPr sz="1000" b="0">
                          <a:solidFill>
                            <a:srgbClr val="111111"/>
                          </a:solidFill>
                          <a:latin typeface="Times New Roman"/>
                        </a:rPr>
                        <a:t>Change vs own normal</a:t>
                      </a:r>
                    </a:p>
                  </a:txBody>
                  <a:tcPr marL="54864" marR="54864" marT="22860" marB="22860"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r>
              <a:tr h="356616">
                <a:tc>
                  <a:txBody>
                    <a:bodyPr wrap="square"/>
                    <a:lstStyle/>
                    <a:p>
                      <a:pPr algn="l"/>
                      <a:r>
                        <a:rPr sz="1000" b="0">
                          <a:solidFill>
                            <a:srgbClr val="111111"/>
                          </a:solidFill>
                          <a:latin typeface="Times New Roman"/>
                        </a:rPr>
                        <a:t>Sleep hours</a:t>
                      </a:r>
                    </a:p>
                  </a:txBody>
                  <a:tcPr marL="54864" marR="54864" marT="22860" marB="22860"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wrap="square"/>
                    <a:lstStyle/>
                    <a:p>
                      <a:pPr algn="l"/>
                      <a:r>
                        <a:rPr sz="1000" b="0">
                          <a:solidFill>
                            <a:srgbClr val="111111"/>
                          </a:solidFill>
                          <a:latin typeface="Times New Roman"/>
                        </a:rPr>
                        <a:t>Accelerometer + heart rate</a:t>
                      </a:r>
                    </a:p>
                  </a:txBody>
                  <a:tcPr marL="54864" marR="54864" marT="22860" marB="22860"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wrap="square"/>
                    <a:lstStyle/>
                    <a:p>
                      <a:pPr algn="l"/>
                      <a:r>
                        <a:rPr sz="1000" b="0">
                          <a:solidFill>
                            <a:srgbClr val="111111"/>
                          </a:solidFill>
                          <a:latin typeface="Times New Roman"/>
                        </a:rPr>
                        <a:t>Watch or band</a:t>
                      </a:r>
                    </a:p>
                  </a:txBody>
                  <a:tcPr marL="54864" marR="54864" marT="22860" marB="22860"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wrap="square"/>
                    <a:lstStyle/>
                    <a:p>
                      <a:pPr algn="l"/>
                      <a:r>
                        <a:rPr sz="1000" b="0">
                          <a:solidFill>
                            <a:srgbClr val="111111"/>
                          </a:solidFill>
                          <a:latin typeface="Times New Roman"/>
                        </a:rPr>
                        <a:t>Change vs own normal</a:t>
                      </a:r>
                    </a:p>
                  </a:txBody>
                  <a:tcPr marL="54864" marR="54864" marT="22860" marB="22860"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r>
              <a:tr h="356616">
                <a:tc>
                  <a:txBody>
                    <a:bodyPr wrap="square"/>
                    <a:lstStyle/>
                    <a:p>
                      <a:pPr algn="l"/>
                      <a:r>
                        <a:rPr sz="1000" b="0">
                          <a:solidFill>
                            <a:srgbClr val="111111"/>
                          </a:solidFill>
                          <a:latin typeface="Times New Roman"/>
                        </a:rPr>
                        <a:t>Rescue puffs, doses</a:t>
                      </a:r>
                    </a:p>
                  </a:txBody>
                  <a:tcPr marL="54864" marR="54864" marT="22860" marB="22860"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wrap="square"/>
                    <a:lstStyle/>
                    <a:p>
                      <a:pPr algn="l"/>
                      <a:r>
                        <a:rPr sz="1000" b="0">
                          <a:solidFill>
                            <a:srgbClr val="111111"/>
                          </a:solidFill>
                          <a:latin typeface="Times New Roman"/>
                        </a:rPr>
                        <a:t>Clip-on actuation sensor</a:t>
                      </a:r>
                    </a:p>
                  </a:txBody>
                  <a:tcPr marL="54864" marR="54864" marT="22860" marB="22860"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wrap="square"/>
                    <a:lstStyle/>
                    <a:p>
                      <a:pPr algn="l"/>
                      <a:r>
                        <a:rPr sz="1000" b="0">
                          <a:solidFill>
                            <a:srgbClr val="111111"/>
                          </a:solidFill>
                          <a:latin typeface="Times New Roman"/>
                        </a:rPr>
                        <a:t>ADHERO (Lupin), Propeller, Hailie</a:t>
                      </a:r>
                    </a:p>
                  </a:txBody>
                  <a:tcPr marL="54864" marR="54864" marT="22860" marB="22860"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wrap="square"/>
                    <a:lstStyle/>
                    <a:p>
                      <a:pPr algn="l"/>
                      <a:r>
                        <a:rPr sz="1000" b="0">
                          <a:solidFill>
                            <a:srgbClr val="111111"/>
                          </a:solidFill>
                          <a:latin typeface="Times New Roman"/>
                        </a:rPr>
                        <a:t>Puffs vs normal; adherence</a:t>
                      </a:r>
                    </a:p>
                  </a:txBody>
                  <a:tcPr marL="54864" marR="54864" marT="22860" marB="22860"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r>
              <a:tr h="356616">
                <a:tc>
                  <a:txBody>
                    <a:bodyPr wrap="square"/>
                    <a:lstStyle/>
                    <a:p>
                      <a:pPr algn="l"/>
                      <a:r>
                        <a:rPr sz="1000" b="0">
                          <a:solidFill>
                            <a:srgbClr val="111111"/>
                          </a:solidFill>
                          <a:latin typeface="Times New Roman"/>
                        </a:rPr>
                        <a:t>Blood pressure</a:t>
                      </a:r>
                    </a:p>
                  </a:txBody>
                  <a:tcPr marL="54864" marR="54864" marT="22860" marB="22860"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wrap="square"/>
                    <a:lstStyle/>
                    <a:p>
                      <a:pPr algn="l"/>
                      <a:r>
                        <a:rPr sz="1000" b="0">
                          <a:solidFill>
                            <a:srgbClr val="111111"/>
                          </a:solidFill>
                          <a:latin typeface="Times New Roman"/>
                        </a:rPr>
                        <a:t>Cuff pressure (oscillometric)</a:t>
                      </a:r>
                    </a:p>
                  </a:txBody>
                  <a:tcPr marL="54864" marR="54864" marT="22860" marB="22860"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wrap="square"/>
                    <a:lstStyle/>
                    <a:p>
                      <a:pPr algn="l"/>
                      <a:r>
                        <a:rPr sz="1000" b="0">
                          <a:solidFill>
                            <a:srgbClr val="111111"/>
                          </a:solidFill>
                          <a:latin typeface="Times New Roman"/>
                        </a:rPr>
                        <a:t>Omron Bluetooth monitor</a:t>
                      </a:r>
                    </a:p>
                  </a:txBody>
                  <a:tcPr marL="54864" marR="54864" marT="22860" marB="22860"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wrap="square"/>
                    <a:lstStyle/>
                    <a:p>
                      <a:pPr algn="l"/>
                      <a:r>
                        <a:rPr sz="1000" b="0">
                          <a:solidFill>
                            <a:srgbClr val="111111"/>
                          </a:solidFill>
                          <a:latin typeface="Times New Roman"/>
                        </a:rPr>
                        <a:t>Shown to the doctor</a:t>
                      </a:r>
                    </a:p>
                  </a:txBody>
                  <a:tcPr marL="54864" marR="54864" marT="22860" marB="22860"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r>
              <a:tr h="356616">
                <a:tc>
                  <a:txBody>
                    <a:bodyPr wrap="square"/>
                    <a:lstStyle/>
                    <a:p>
                      <a:pPr algn="l"/>
                      <a:r>
                        <a:rPr sz="1000" b="0">
                          <a:solidFill>
                            <a:srgbClr val="111111"/>
                          </a:solidFill>
                          <a:latin typeface="Times New Roman"/>
                        </a:rPr>
                        <a:t>PM2.5, temperature</a:t>
                      </a:r>
                    </a:p>
                  </a:txBody>
                  <a:tcPr marL="54864" marR="54864" marT="22860" marB="22860"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wrap="square"/>
                    <a:lstStyle/>
                    <a:p>
                      <a:pPr algn="l"/>
                      <a:r>
                        <a:rPr sz="1000" b="0">
                          <a:solidFill>
                            <a:srgbClr val="111111"/>
                          </a:solidFill>
                          <a:latin typeface="Times New Roman"/>
                        </a:rPr>
                        <a:t>CPCB stations, weather API</a:t>
                      </a:r>
                    </a:p>
                  </a:txBody>
                  <a:tcPr marL="54864" marR="54864" marT="22860" marB="22860"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wrap="square"/>
                    <a:lstStyle/>
                    <a:p>
                      <a:pPr algn="l"/>
                      <a:r>
                        <a:rPr sz="1000" b="0">
                          <a:solidFill>
                            <a:srgbClr val="111111"/>
                          </a:solidFill>
                          <a:latin typeface="Times New Roman"/>
                        </a:rPr>
                        <a:t>City networks (no device)</a:t>
                      </a:r>
                    </a:p>
                  </a:txBody>
                  <a:tcPr marL="54864" marR="54864" marT="22860" marB="22860"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wrap="square"/>
                    <a:lstStyle/>
                    <a:p>
                      <a:pPr algn="l"/>
                      <a:r>
                        <a:rPr sz="1000" b="0">
                          <a:solidFill>
                            <a:srgbClr val="111111"/>
                          </a:solidFill>
                          <a:latin typeface="Times New Roman"/>
                        </a:rPr>
                        <a:t>Dose-response, cold snaps</a:t>
                      </a:r>
                    </a:p>
                  </a:txBody>
                  <a:tcPr marL="54864" marR="54864" marT="22860" marB="22860"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r>
            </a:tbl>
          </a:graphicData>
        </a:graphic>
      </p:graphicFrame>
      <p:sp>
        <p:nvSpPr>
          <p:cNvPr id="10" name="Tag: Three ways to equip a patient"/>
          <p:cNvSpPr/>
          <p:nvPr/>
        </p:nvSpPr>
        <p:spPr>
          <a:xfrm>
            <a:off x="7863840" y="2011680"/>
            <a:ext cx="3611880" cy="411480"/>
          </a:xfrm>
          <a:prstGeom prst="rect">
            <a:avLst/>
          </a:prstGeom>
          <a:solidFill>
            <a:srgbClr val="FFE699"/>
          </a:solidFill>
          <a:ln w="12700">
            <a:solidFill>
              <a:srgbClr val="F4B183"/>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600" b="1" i="0">
                <a:solidFill>
                  <a:srgbClr val="111111"/>
                </a:solidFill>
                <a:latin typeface="Times New Roman"/>
              </a:rPr>
              <a:t>Three ways to equip a patient</a:t>
            </a:r>
          </a:p>
        </p:txBody>
      </p:sp>
      <p:sp>
        <p:nvSpPr>
          <p:cNvPr id="12" name="Kit Minimum kit"/>
          <p:cNvSpPr/>
          <p:nvPr/>
        </p:nvSpPr>
        <p:spPr>
          <a:xfrm>
            <a:off x="7863840" y="2542032"/>
            <a:ext cx="3611880" cy="987552"/>
          </a:xfrm>
          <a:prstGeom prst="rect">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Kit text Minimum kit"/>
          <p:cNvSpPr txBox="1"/>
          <p:nvPr/>
        </p:nvSpPr>
        <p:spPr>
          <a:xfrm>
            <a:off x="7936992" y="2596896"/>
            <a:ext cx="3474720" cy="914400"/>
          </a:xfrm>
          <a:prstGeom prst="rect">
            <a:avLst/>
          </a:prstGeom>
          <a:noFill/>
        </p:spPr>
        <p:txBody>
          <a:bodyPr wrap="square" lIns="45720" rIns="45720">
            <a:spAutoFit/>
          </a:bodyPr>
          <a:lstStyle/>
          <a:p>
            <a:pPr>
              <a:spcAft>
                <a:spcPts val="500"/>
              </a:spcAft>
            </a:pPr>
            <a:r>
              <a:rPr b="1" sz="1250">
                <a:solidFill>
                  <a:srgbClr val="111111"/>
                </a:solidFill>
                <a:latin typeface="Times New Roman"/>
              </a:rPr>
              <a:t>Minimum kit: </a:t>
            </a:r>
            <a:r>
              <a:rPr sz="1250">
                <a:solidFill>
                  <a:srgbClr val="111111"/>
                </a:solidFill>
                <a:latin typeface="Times New Roman"/>
              </a:rPr>
              <a:t>Any watch that syncs to Health Connect or Apple Health + fingertip oximeter. Gives heart rate, breathing, SpO2, steps, sleep.</a:t>
            </a:r>
          </a:p>
        </p:txBody>
      </p:sp>
      <p:sp>
        <p:nvSpPr>
          <p:cNvPr id="14" name="Kit Full kit"/>
          <p:cNvSpPr/>
          <p:nvPr/>
        </p:nvSpPr>
        <p:spPr>
          <a:xfrm>
            <a:off x="7863840" y="3639311"/>
            <a:ext cx="3611880" cy="987552"/>
          </a:xfrm>
          <a:prstGeom prst="rect">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Kit text Full kit"/>
          <p:cNvSpPr txBox="1"/>
          <p:nvPr/>
        </p:nvSpPr>
        <p:spPr>
          <a:xfrm>
            <a:off x="7936992" y="3694175"/>
            <a:ext cx="3474720" cy="914400"/>
          </a:xfrm>
          <a:prstGeom prst="rect">
            <a:avLst/>
          </a:prstGeom>
          <a:noFill/>
        </p:spPr>
        <p:txBody>
          <a:bodyPr wrap="square" lIns="45720" rIns="45720">
            <a:spAutoFit/>
          </a:bodyPr>
          <a:lstStyle/>
          <a:p>
            <a:pPr>
              <a:spcAft>
                <a:spcPts val="500"/>
              </a:spcAft>
            </a:pPr>
            <a:r>
              <a:rPr b="1" sz="1250">
                <a:solidFill>
                  <a:srgbClr val="111111"/>
                </a:solidFill>
                <a:latin typeface="Times New Roman"/>
              </a:rPr>
              <a:t>Full kit: </a:t>
            </a:r>
            <a:r>
              <a:rPr sz="1250">
                <a:solidFill>
                  <a:srgbClr val="111111"/>
                </a:solidFill>
                <a:latin typeface="Times New Roman"/>
              </a:rPr>
              <a:t>+ smart inhaler clip (ADHERO, launched in India by Lupin) + Omron BP cuff. Adds automatic inhaler tracking.</a:t>
            </a:r>
          </a:p>
        </p:txBody>
      </p:sp>
      <p:sp>
        <p:nvSpPr>
          <p:cNvPr id="16" name="Kit No-watch kit"/>
          <p:cNvSpPr/>
          <p:nvPr/>
        </p:nvSpPr>
        <p:spPr>
          <a:xfrm>
            <a:off x="7863840" y="4736592"/>
            <a:ext cx="3611880" cy="987552"/>
          </a:xfrm>
          <a:prstGeom prst="rect">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Kit text No-watch kit"/>
          <p:cNvSpPr txBox="1"/>
          <p:nvPr/>
        </p:nvSpPr>
        <p:spPr>
          <a:xfrm>
            <a:off x="7936992" y="4791455"/>
            <a:ext cx="3474720" cy="914400"/>
          </a:xfrm>
          <a:prstGeom prst="rect">
            <a:avLst/>
          </a:prstGeom>
          <a:noFill/>
        </p:spPr>
        <p:txBody>
          <a:bodyPr wrap="square" lIns="45720" rIns="45720">
            <a:spAutoFit/>
          </a:bodyPr>
          <a:lstStyle/>
          <a:p>
            <a:pPr>
              <a:spcAft>
                <a:spcPts val="500"/>
              </a:spcAft>
            </a:pPr>
            <a:r>
              <a:rPr b="1" sz="1250">
                <a:solidFill>
                  <a:srgbClr val="111111"/>
                </a:solidFill>
                <a:latin typeface="Times New Roman"/>
              </a:rPr>
              <a:t>No-watch kit: </a:t>
            </a:r>
            <a:r>
              <a:rPr sz="1250">
                <a:solidFill>
                  <a:srgbClr val="111111"/>
                </a:solidFill>
                <a:latin typeface="Times New Roman"/>
              </a:rPr>
              <a:t>Phone + oximeter; the family types SpO2 and a 30-second breathing count. Near-zero cost.</a:t>
            </a:r>
          </a:p>
        </p:txBody>
      </p:sp>
      <p:sp>
        <p:nvSpPr>
          <p:cNvPr id="24" name="Takeaway banner"/>
          <p:cNvSpPr/>
          <p:nvPr/>
        </p:nvSpPr>
        <p:spPr>
          <a:xfrm>
            <a:off x="731520" y="5870448"/>
            <a:ext cx="10744200" cy="658368"/>
          </a:xfrm>
          <a:prstGeom prst="rect">
            <a:avLst/>
          </a:prstGeom>
          <a:solidFill>
            <a:srgbClr val="FFE699"/>
          </a:solidFill>
          <a:ln w="12700">
            <a:solidFill>
              <a:srgbClr val="F4B183"/>
            </a:solid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1700" b="1" i="0">
                <a:solidFill>
                  <a:srgbClr val="111111"/>
                </a:solidFill>
                <a:latin typeface="Times New Roman"/>
              </a:rPr>
              <a:t>No needle, no blood test, nothing under the skin:</a:t>
            </a:r>
          </a:p>
          <a:p>
            <a:pPr algn="ctr"/>
            <a:r>
              <a:rPr sz="1500" b="0" i="1">
                <a:solidFill>
                  <a:srgbClr val="111111"/>
                </a:solidFill>
                <a:latin typeface="Times New Roman"/>
              </a:rPr>
              <a:t>a watch and a clip-on oximeter carry the daily signal; data flows phone → Health Connect / HealthKit → BreatheTwin.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descr="bg_content.jpg"/>
          <p:cNvPicPr>
            <a:picLocks noChangeAspect="1"/>
          </p:cNvPicPr>
          <p:nvPr/>
        </p:nvPicPr>
        <p:blipFill>
          <a:blip r:embed="rId2"/>
          <a:stretch>
            <a:fillRect/>
          </a:stretch>
        </p:blipFill>
        <p:spPr>
          <a:xfrm>
            <a:off x="0" y="0"/>
            <a:ext cx="12191695" cy="6858000"/>
          </a:xfrm>
          <a:prstGeom prst="rect">
            <a:avLst/>
          </a:prstGeom>
        </p:spPr>
      </p:pic>
      <p:sp>
        <p:nvSpPr>
          <p:cNvPr id="3" name="BreatheTwin logo"/>
          <p:cNvSpPr/>
          <p:nvPr/>
        </p:nvSpPr>
        <p:spPr>
          <a:xfrm>
            <a:off x="411480" y="201168"/>
            <a:ext cx="3794760" cy="603504"/>
          </a:xfrm>
          <a:prstGeom prst="rect">
            <a:avLst/>
          </a:prstGeom>
          <a:solidFill>
            <a:srgbClr val="0B2A78"/>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Logo mark"/>
          <p:cNvSpPr/>
          <p:nvPr/>
        </p:nvSpPr>
        <p:spPr>
          <a:xfrm>
            <a:off x="475488" y="256032"/>
            <a:ext cx="493776" cy="4937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900" b="1">
                <a:solidFill>
                  <a:srgbClr val="B23A2E"/>
                </a:solidFill>
                <a:latin typeface="Arial"/>
              </a:rPr>
              <a:t>BT</a:t>
            </a:r>
          </a:p>
        </p:txBody>
      </p:sp>
      <p:sp>
        <p:nvSpPr>
          <p:cNvPr id="5" name="Logo text"/>
          <p:cNvSpPr txBox="1"/>
          <p:nvPr/>
        </p:nvSpPr>
        <p:spPr>
          <a:xfrm>
            <a:off x="1024128" y="182880"/>
            <a:ext cx="3154680" cy="457200"/>
          </a:xfrm>
          <a:prstGeom prst="rect">
            <a:avLst/>
          </a:prstGeom>
          <a:noFill/>
        </p:spPr>
        <p:txBody>
          <a:bodyPr wrap="none" lIns="0" tIns="0" bIns="0">
            <a:spAutoFit/>
          </a:bodyPr>
          <a:lstStyle/>
          <a:p>
            <a:r>
              <a:rPr sz="2500" b="1">
                <a:solidFill>
                  <a:srgbClr val="FFFFFF"/>
                </a:solidFill>
                <a:latin typeface="Arial"/>
              </a:rPr>
              <a:t>BREATHETWIN</a:t>
            </a:r>
          </a:p>
        </p:txBody>
      </p:sp>
      <p:sp>
        <p:nvSpPr>
          <p:cNvPr id="6" name="Logo sub"/>
          <p:cNvSpPr txBox="1"/>
          <p:nvPr/>
        </p:nvSpPr>
        <p:spPr>
          <a:xfrm>
            <a:off x="1024128" y="585216"/>
            <a:ext cx="3108960" cy="219456"/>
          </a:xfrm>
          <a:prstGeom prst="rect">
            <a:avLst/>
          </a:prstGeom>
          <a:noFill/>
        </p:spPr>
        <p:txBody>
          <a:bodyPr wrap="none" lIns="0" tIns="0" bIns="0" rIns="0">
            <a:spAutoFit/>
          </a:bodyPr>
          <a:lstStyle/>
          <a:p>
            <a:pPr algn="r"/>
            <a:r>
              <a:rPr sz="900" b="1">
                <a:solidFill>
                  <a:srgbClr val="FFFFFF"/>
                </a:solidFill>
                <a:latin typeface="Arial"/>
              </a:rPr>
              <a:t>TEAM MOMENTUM</a:t>
            </a:r>
          </a:p>
        </p:txBody>
      </p:sp>
      <p:sp>
        <p:nvSpPr>
          <p:cNvPr id="7" name="Logo tagline"/>
          <p:cNvSpPr txBox="1"/>
          <p:nvPr/>
        </p:nvSpPr>
        <p:spPr>
          <a:xfrm>
            <a:off x="566928" y="822960"/>
            <a:ext cx="4023360" cy="274320"/>
          </a:xfrm>
          <a:prstGeom prst="rect">
            <a:avLst/>
          </a:prstGeom>
          <a:noFill/>
        </p:spPr>
        <p:txBody>
          <a:bodyPr wrap="none" lIns="0" tIns="0" bIns="0">
            <a:spAutoFit/>
          </a:bodyPr>
          <a:lstStyle/>
          <a:p>
            <a:r>
              <a:rPr sz="1300" b="1" i="1">
                <a:solidFill>
                  <a:srgbClr val="FFFFFF"/>
                </a:solidFill>
                <a:latin typeface="Arial"/>
              </a:rPr>
              <a:t>EARLY WARNING. EASIER BREATHING.</a:t>
            </a:r>
          </a:p>
        </p:txBody>
      </p:sp>
      <p:sp>
        <p:nvSpPr>
          <p:cNvPr id="8" name="Content panel"/>
          <p:cNvSpPr/>
          <p:nvPr/>
        </p:nvSpPr>
        <p:spPr>
          <a:xfrm>
            <a:off x="502920" y="1115568"/>
            <a:ext cx="11201400" cy="5559552"/>
          </a:xfrm>
          <a:prstGeom prst="rect">
            <a:avLst/>
          </a:prstGeom>
          <a:solidFill>
            <a:srgbClr val="FFFFFF"/>
          </a:solidFill>
          <a:ln w="12700">
            <a:solidFill>
              <a:srgbClr val="F4B18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itle box"/>
          <p:cNvSpPr/>
          <p:nvPr/>
        </p:nvSpPr>
        <p:spPr>
          <a:xfrm>
            <a:off x="731520" y="1225296"/>
            <a:ext cx="10744200" cy="658368"/>
          </a:xfrm>
          <a:prstGeom prst="rect">
            <a:avLst/>
          </a:prstGeom>
          <a:solidFill>
            <a:srgbClr val="FFFFFF"/>
          </a:solidFill>
          <a:ln w="12700">
            <a:solidFill>
              <a:srgbClr val="40404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i="0">
                <a:solidFill>
                  <a:srgbClr val="111111"/>
                </a:solidFill>
                <a:latin typeface="Times New Roman"/>
              </a:rPr>
              <a:t>How the twin works: three data streams, one personal model</a:t>
            </a:r>
          </a:p>
        </p:txBody>
      </p:sp>
      <p:sp>
        <p:nvSpPr>
          <p:cNvPr id="10" name="Tag: Data In"/>
          <p:cNvSpPr/>
          <p:nvPr/>
        </p:nvSpPr>
        <p:spPr>
          <a:xfrm>
            <a:off x="731520" y="2011680"/>
            <a:ext cx="2514600" cy="384048"/>
          </a:xfrm>
          <a:prstGeom prst="rect">
            <a:avLst/>
          </a:prstGeom>
          <a:solidFill>
            <a:srgbClr val="FFE699"/>
          </a:solidFill>
          <a:ln w="12700">
            <a:solidFill>
              <a:srgbClr val="F4B183"/>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600" b="1" i="0">
                <a:solidFill>
                  <a:srgbClr val="111111"/>
                </a:solidFill>
                <a:latin typeface="Times New Roman"/>
              </a:rPr>
              <a:t>Data In</a:t>
            </a:r>
          </a:p>
        </p:txBody>
      </p:sp>
      <p:sp>
        <p:nvSpPr>
          <p:cNvPr id="11" name="Tag: The Twin"/>
          <p:cNvSpPr/>
          <p:nvPr/>
        </p:nvSpPr>
        <p:spPr>
          <a:xfrm>
            <a:off x="3611880" y="2011680"/>
            <a:ext cx="4343400" cy="384048"/>
          </a:xfrm>
          <a:prstGeom prst="rect">
            <a:avLst/>
          </a:prstGeom>
          <a:solidFill>
            <a:srgbClr val="FFE699"/>
          </a:solidFill>
          <a:ln w="12700">
            <a:solidFill>
              <a:srgbClr val="F4B183"/>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600" b="1" i="0">
                <a:solidFill>
                  <a:srgbClr val="111111"/>
                </a:solidFill>
                <a:latin typeface="Times New Roman"/>
              </a:rPr>
              <a:t>The Twin</a:t>
            </a:r>
          </a:p>
        </p:txBody>
      </p:sp>
      <p:sp>
        <p:nvSpPr>
          <p:cNvPr id="12" name="Tag: What Comes Out"/>
          <p:cNvSpPr/>
          <p:nvPr/>
        </p:nvSpPr>
        <p:spPr>
          <a:xfrm>
            <a:off x="8321040" y="2011680"/>
            <a:ext cx="3154680" cy="384048"/>
          </a:xfrm>
          <a:prstGeom prst="rect">
            <a:avLst/>
          </a:prstGeom>
          <a:solidFill>
            <a:srgbClr val="FFE699"/>
          </a:solidFill>
          <a:ln w="12700">
            <a:solidFill>
              <a:srgbClr val="F4B183"/>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600" b="1" i="0">
                <a:solidFill>
                  <a:srgbClr val="111111"/>
                </a:solidFill>
                <a:latin typeface="Times New Roman"/>
              </a:rPr>
              <a:t>What Comes Out</a:t>
            </a:r>
          </a:p>
        </p:txBody>
      </p:sp>
      <p:sp>
        <p:nvSpPr>
          <p:cNvPr id="13" name="Stream Health record (EHR)"/>
          <p:cNvSpPr/>
          <p:nvPr/>
        </p:nvSpPr>
        <p:spPr>
          <a:xfrm>
            <a:off x="731520" y="2542032"/>
            <a:ext cx="2514600" cy="777240"/>
          </a:xfrm>
          <a:prstGeom prst="rect">
            <a:avLst/>
          </a:prstGeom>
          <a:solidFill>
            <a:srgbClr val="8EA9DB"/>
          </a:solidFill>
          <a:ln w="952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i="0">
                <a:solidFill>
                  <a:srgbClr val="111111"/>
                </a:solidFill>
                <a:latin typeface="Times New Roman"/>
              </a:rPr>
              <a:t>Health record (EHR)</a:t>
            </a:r>
          </a:p>
          <a:p>
            <a:pPr algn="ctr"/>
            <a:r>
              <a:rPr sz="1100" b="0" i="1">
                <a:solidFill>
                  <a:srgbClr val="111111"/>
                </a:solidFill>
                <a:latin typeface="Times New Roman"/>
              </a:rPr>
              <a:t>400 synthetic patients: Synthea + India overlay</a:t>
            </a:r>
          </a:p>
        </p:txBody>
      </p:sp>
      <p:sp>
        <p:nvSpPr>
          <p:cNvPr id="14" name="Stream Wearable + smart inhaler"/>
          <p:cNvSpPr/>
          <p:nvPr/>
        </p:nvSpPr>
        <p:spPr>
          <a:xfrm>
            <a:off x="731520" y="3438144"/>
            <a:ext cx="2514600" cy="777240"/>
          </a:xfrm>
          <a:prstGeom prst="rect">
            <a:avLst/>
          </a:prstGeom>
          <a:solidFill>
            <a:srgbClr val="8EA9DB"/>
          </a:solidFill>
          <a:ln w="952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i="0">
                <a:solidFill>
                  <a:srgbClr val="111111"/>
                </a:solidFill>
                <a:latin typeface="Times New Roman"/>
              </a:rPr>
              <a:t>Wearable + smart inhaler</a:t>
            </a:r>
          </a:p>
          <a:p>
            <a:pPr algn="ctr"/>
            <a:r>
              <a:rPr sz="1100" b="0" i="1">
                <a:solidFill>
                  <a:srgbClr val="111111"/>
                </a:solidFill>
                <a:latin typeface="Times New Roman"/>
              </a:rPr>
              <a:t>heart rate, breathing, SpO2, steps, sleep, puffs, doses</a:t>
            </a:r>
          </a:p>
        </p:txBody>
      </p:sp>
      <p:sp>
        <p:nvSpPr>
          <p:cNvPr id="15" name="Stream City air + weather"/>
          <p:cNvSpPr/>
          <p:nvPr/>
        </p:nvSpPr>
        <p:spPr>
          <a:xfrm>
            <a:off x="731520" y="4334256"/>
            <a:ext cx="2514600" cy="777240"/>
          </a:xfrm>
          <a:prstGeom prst="rect">
            <a:avLst/>
          </a:prstGeom>
          <a:solidFill>
            <a:srgbClr val="8EA9DB"/>
          </a:solidFill>
          <a:ln w="952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i="0">
                <a:solidFill>
                  <a:srgbClr val="111111"/>
                </a:solidFill>
                <a:latin typeface="Times New Roman"/>
              </a:rPr>
              <a:t>City air + weather</a:t>
            </a:r>
          </a:p>
          <a:p>
            <a:pPr algn="ctr"/>
            <a:r>
              <a:rPr sz="1100" b="0" i="1">
                <a:solidFill>
                  <a:srgbClr val="111111"/>
                </a:solidFill>
                <a:latin typeface="Times New Roman"/>
              </a:rPr>
              <a:t>real CPCB PM2.5 and Open-Meteo, 8 cities</a:t>
            </a:r>
          </a:p>
        </p:txBody>
      </p:sp>
      <p:sp>
        <p:nvSpPr>
          <p:cNvPr id="16" name="Arrow"/>
          <p:cNvSpPr/>
          <p:nvPr/>
        </p:nvSpPr>
        <p:spPr>
          <a:xfrm>
            <a:off x="3291840" y="3611880"/>
            <a:ext cx="320040" cy="411480"/>
          </a:xfrm>
          <a:prstGeom prst="rightArrow">
            <a:avLst/>
          </a:prstGeom>
          <a:solidFill>
            <a:srgbClr val="2F55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1. Personal baseline"/>
          <p:cNvSpPr/>
          <p:nvPr/>
        </p:nvSpPr>
        <p:spPr>
          <a:xfrm>
            <a:off x="3630168" y="2542032"/>
            <a:ext cx="2011680" cy="2560320"/>
          </a:xfrm>
          <a:prstGeom prst="roundRect">
            <a:avLst>
              <a:gd name="adj" fmla="val 10000"/>
            </a:avLst>
          </a:prstGeom>
          <a:solidFill>
            <a:srgbClr val="FFFFFF"/>
          </a:solidFill>
          <a:ln w="12700">
            <a:solidFill>
              <a:srgbClr val="40404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3703320" y="2633472"/>
            <a:ext cx="1874519" cy="2377440"/>
          </a:xfrm>
          <a:prstGeom prst="rect">
            <a:avLst/>
          </a:prstGeom>
          <a:noFill/>
        </p:spPr>
        <p:txBody>
          <a:bodyPr wrap="square" anchor="ctr" lIns="54864" rIns="54864" tIns="27432" bIns="27432">
            <a:spAutoFit/>
          </a:bodyPr>
          <a:lstStyle/>
          <a:p>
            <a:pPr algn="ctr">
              <a:spcAft>
                <a:spcPts val="300"/>
              </a:spcAft>
              <a:buNone/>
            </a:pPr>
            <a:r>
              <a:rPr sz="1350" b="1" i="0">
                <a:solidFill>
                  <a:srgbClr val="111111"/>
                </a:solidFill>
                <a:latin typeface="Times New Roman"/>
              </a:rPr>
              <a:t>1. Personal baseline</a:t>
            </a:r>
          </a:p>
          <a:p>
            <a:pPr algn="ctr">
              <a:spcAft>
                <a:spcPts val="300"/>
              </a:spcAft>
              <a:buNone/>
            </a:pPr>
            <a:r>
              <a:rPr sz="1250" b="0" i="0">
                <a:solidFill>
                  <a:srgbClr val="111111"/>
                </a:solidFill>
                <a:latin typeface="Times New Roman"/>
              </a:rPr>
              <a:t>Every reading compared with the patient's </a:t>
            </a:r>
            <a:r>
              <a:rPr sz="1250" b="1" i="0">
                <a:solidFill>
                  <a:srgbClr val="111111"/>
                </a:solidFill>
                <a:latin typeface="Times New Roman"/>
              </a:rPr>
              <a:t>own last 4 weeks</a:t>
            </a:r>
            <a:r>
              <a:rPr sz="1250" b="0" i="0">
                <a:solidFill>
                  <a:srgbClr val="111111"/>
                </a:solidFill>
                <a:latin typeface="Times New Roman"/>
              </a:rPr>
              <a:t>, not a textbook range</a:t>
            </a:r>
          </a:p>
        </p:txBody>
      </p:sp>
      <p:sp>
        <p:nvSpPr>
          <p:cNvPr id="19" name="2. Hybrid risk engine"/>
          <p:cNvSpPr/>
          <p:nvPr/>
        </p:nvSpPr>
        <p:spPr>
          <a:xfrm>
            <a:off x="5916168" y="2542032"/>
            <a:ext cx="2011680" cy="2560320"/>
          </a:xfrm>
          <a:prstGeom prst="roundRect">
            <a:avLst>
              <a:gd name="adj" fmla="val 10000"/>
            </a:avLst>
          </a:prstGeom>
          <a:solidFill>
            <a:srgbClr val="FFFFFF"/>
          </a:solidFill>
          <a:ln w="12700">
            <a:solidFill>
              <a:srgbClr val="40404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5989320" y="2633472"/>
            <a:ext cx="1874519" cy="2377440"/>
          </a:xfrm>
          <a:prstGeom prst="rect">
            <a:avLst/>
          </a:prstGeom>
          <a:noFill/>
        </p:spPr>
        <p:txBody>
          <a:bodyPr wrap="square" anchor="ctr" lIns="54864" rIns="54864" tIns="27432" bIns="27432">
            <a:spAutoFit/>
          </a:bodyPr>
          <a:lstStyle/>
          <a:p>
            <a:pPr algn="ctr">
              <a:spcAft>
                <a:spcPts val="300"/>
              </a:spcAft>
              <a:buNone/>
            </a:pPr>
            <a:r>
              <a:rPr sz="1350" b="1" i="0">
                <a:solidFill>
                  <a:srgbClr val="111111"/>
                </a:solidFill>
                <a:latin typeface="Times New Roman"/>
              </a:rPr>
              <a:t>2. Hybrid risk engine</a:t>
            </a:r>
          </a:p>
          <a:p>
            <a:pPr algn="ctr">
              <a:spcAft>
                <a:spcPts val="300"/>
              </a:spcAft>
              <a:buNone/>
            </a:pPr>
            <a:r>
              <a:rPr sz="1250" b="1" i="0">
                <a:solidFill>
                  <a:srgbClr val="111111"/>
                </a:solidFill>
                <a:latin typeface="Times New Roman"/>
              </a:rPr>
              <a:t>LightGBM</a:t>
            </a:r>
            <a:r>
              <a:rPr sz="1250" b="0" i="0">
                <a:solidFill>
                  <a:srgbClr val="111111"/>
                </a:solidFill>
                <a:latin typeface="Times New Roman"/>
              </a:rPr>
              <a:t> learns body signals, inhaler use, weather and record  ×  </a:t>
            </a:r>
            <a:r>
              <a:rPr sz="1250" b="1" i="0">
                <a:solidFill>
                  <a:srgbClr val="111111"/>
                </a:solidFill>
                <a:latin typeface="Times New Roman"/>
              </a:rPr>
              <a:t>published PM2.5 effect</a:t>
            </a:r>
            <a:r>
              <a:rPr sz="1250" b="0" i="0">
                <a:solidFill>
                  <a:srgbClr val="111111"/>
                </a:solidFill>
                <a:latin typeface="Times New Roman"/>
              </a:rPr>
              <a:t> (DeVries 2017)</a:t>
            </a:r>
          </a:p>
        </p:txBody>
      </p:sp>
      <p:sp>
        <p:nvSpPr>
          <p:cNvPr id="21" name="Arrow"/>
          <p:cNvSpPr/>
          <p:nvPr/>
        </p:nvSpPr>
        <p:spPr>
          <a:xfrm>
            <a:off x="5669280" y="3611880"/>
            <a:ext cx="228600" cy="411480"/>
          </a:xfrm>
          <a:prstGeom prst="rightArrow">
            <a:avLst/>
          </a:prstGeom>
          <a:solidFill>
            <a:srgbClr val="2F55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Arrow"/>
          <p:cNvSpPr/>
          <p:nvPr/>
        </p:nvSpPr>
        <p:spPr>
          <a:xfrm>
            <a:off x="7973568" y="3611880"/>
            <a:ext cx="320040" cy="411480"/>
          </a:xfrm>
          <a:prstGeom prst="rightArrow">
            <a:avLst/>
          </a:prstGeom>
          <a:solidFill>
            <a:srgbClr val="2F55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utput 1"/>
          <p:cNvSpPr/>
          <p:nvPr/>
        </p:nvSpPr>
        <p:spPr>
          <a:xfrm>
            <a:off x="8321040" y="2542032"/>
            <a:ext cx="3154680" cy="448056"/>
          </a:xfrm>
          <a:prstGeom prst="roundRect">
            <a:avLst>
              <a:gd name="adj" fmla="val 20000"/>
            </a:avLst>
          </a:prstGeom>
          <a:solidFill>
            <a:srgbClr val="FFE699"/>
          </a:solidFill>
          <a:ln w="9525">
            <a:solidFill>
              <a:srgbClr val="F4B18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r>
              <a:rPr sz="1200" b="1" i="0">
                <a:solidFill>
                  <a:srgbClr val="111111"/>
                </a:solidFill>
                <a:latin typeface="Times New Roman"/>
              </a:rPr>
              <a:t>Risk of a flare-up in the next 3 days</a:t>
            </a:r>
          </a:p>
        </p:txBody>
      </p:sp>
      <p:sp>
        <p:nvSpPr>
          <p:cNvPr id="24" name="Output 2"/>
          <p:cNvSpPr/>
          <p:nvPr/>
        </p:nvSpPr>
        <p:spPr>
          <a:xfrm>
            <a:off x="8321040" y="3063239"/>
            <a:ext cx="3154680" cy="448056"/>
          </a:xfrm>
          <a:prstGeom prst="roundRect">
            <a:avLst>
              <a:gd name="adj" fmla="val 20000"/>
            </a:avLst>
          </a:prstGeom>
          <a:solidFill>
            <a:srgbClr val="FFE699"/>
          </a:solidFill>
          <a:ln w="9525">
            <a:solidFill>
              <a:srgbClr val="F4B18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r>
              <a:rPr sz="1200" b="1" i="0">
                <a:solidFill>
                  <a:srgbClr val="111111"/>
                </a:solidFill>
                <a:latin typeface="Times New Roman"/>
              </a:rPr>
              <a:t>Reasons, ranked by how much they push risk</a:t>
            </a:r>
          </a:p>
        </p:txBody>
      </p:sp>
      <p:sp>
        <p:nvSpPr>
          <p:cNvPr id="25" name="Output 3"/>
          <p:cNvSpPr/>
          <p:nvPr/>
        </p:nvSpPr>
        <p:spPr>
          <a:xfrm>
            <a:off x="8321040" y="3584448"/>
            <a:ext cx="3154680" cy="448056"/>
          </a:xfrm>
          <a:prstGeom prst="roundRect">
            <a:avLst>
              <a:gd name="adj" fmla="val 20000"/>
            </a:avLst>
          </a:prstGeom>
          <a:solidFill>
            <a:srgbClr val="FFE699"/>
          </a:solidFill>
          <a:ln w="9525">
            <a:solidFill>
              <a:srgbClr val="F4B18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r>
              <a:rPr sz="1200" b="1" i="0">
                <a:solidFill>
                  <a:srgbClr val="111111"/>
                </a:solidFill>
                <a:latin typeface="Times New Roman"/>
              </a:rPr>
              <a:t>Safety checks against own normal</a:t>
            </a:r>
          </a:p>
        </p:txBody>
      </p:sp>
      <p:sp>
        <p:nvSpPr>
          <p:cNvPr id="26" name="Output 4"/>
          <p:cNvSpPr/>
          <p:nvPr/>
        </p:nvSpPr>
        <p:spPr>
          <a:xfrm>
            <a:off x="8321040" y="4105656"/>
            <a:ext cx="3154680" cy="448056"/>
          </a:xfrm>
          <a:prstGeom prst="roundRect">
            <a:avLst>
              <a:gd name="adj" fmla="val 20000"/>
            </a:avLst>
          </a:prstGeom>
          <a:solidFill>
            <a:srgbClr val="FFE699"/>
          </a:solidFill>
          <a:ln w="9525">
            <a:solidFill>
              <a:srgbClr val="F4B18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r>
              <a:rPr sz="1200" b="1" i="0">
                <a:solidFill>
                  <a:srgbClr val="111111"/>
                </a:solidFill>
                <a:latin typeface="Times New Roman"/>
              </a:rPr>
              <a:t>What-if answers for doctor and family</a:t>
            </a:r>
          </a:p>
        </p:txBody>
      </p:sp>
      <p:sp>
        <p:nvSpPr>
          <p:cNvPr id="27" name="Output 5"/>
          <p:cNvSpPr/>
          <p:nvPr/>
        </p:nvSpPr>
        <p:spPr>
          <a:xfrm>
            <a:off x="8321040" y="4626864"/>
            <a:ext cx="3154680" cy="448056"/>
          </a:xfrm>
          <a:prstGeom prst="roundRect">
            <a:avLst>
              <a:gd name="adj" fmla="val 20000"/>
            </a:avLst>
          </a:prstGeom>
          <a:solidFill>
            <a:srgbClr val="FFE699"/>
          </a:solidFill>
          <a:ln w="9525">
            <a:solidFill>
              <a:srgbClr val="F4B18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r>
              <a:rPr sz="1200" b="1" i="0">
                <a:solidFill>
                  <a:srgbClr val="111111"/>
                </a:solidFill>
                <a:latin typeface="Times New Roman"/>
              </a:rPr>
              <a:t>Smog warnings + one-page visit summary</a:t>
            </a:r>
          </a:p>
        </p:txBody>
      </p:sp>
      <p:sp>
        <p:nvSpPr>
          <p:cNvPr id="28" name="TextBox 27"/>
          <p:cNvSpPr txBox="1"/>
          <p:nvPr/>
        </p:nvSpPr>
        <p:spPr>
          <a:xfrm>
            <a:off x="731520" y="5230368"/>
            <a:ext cx="3657600" cy="320040"/>
          </a:xfrm>
          <a:prstGeom prst="rect">
            <a:avLst/>
          </a:prstGeom>
          <a:noFill/>
        </p:spPr>
        <p:txBody>
          <a:bodyPr wrap="square" anchor="t" lIns="54864" rIns="54864" tIns="27432" bIns="27432">
            <a:spAutoFit/>
          </a:bodyPr>
          <a:lstStyle/>
          <a:p>
            <a:pPr algn="l">
              <a:spcAft>
                <a:spcPts val="300"/>
              </a:spcAft>
              <a:buNone/>
            </a:pPr>
            <a:r>
              <a:rPr sz="1500" b="1" i="0">
                <a:solidFill>
                  <a:srgbClr val="111111"/>
                </a:solidFill>
                <a:latin typeface="Times New Roman"/>
              </a:rPr>
              <a:t>Twin journey</a:t>
            </a:r>
          </a:p>
        </p:txBody>
      </p:sp>
      <p:sp>
        <p:nvSpPr>
          <p:cNvPr id="29" name="Step 1: Health record"/>
          <p:cNvSpPr/>
          <p:nvPr/>
        </p:nvSpPr>
        <p:spPr>
          <a:xfrm>
            <a:off x="731520" y="5577840"/>
            <a:ext cx="1859280" cy="685800"/>
          </a:xfrm>
          <a:prstGeom prst="homePlate">
            <a:avLst/>
          </a:prstGeom>
          <a:solidFill>
            <a:srgbClr val="FFE699"/>
          </a:solidFill>
          <a:ln w="9525">
            <a:solidFill>
              <a:srgbClr val="F4B183"/>
            </a:solidFill>
          </a:ln>
          <a:effectLst/>
        </p:spPr>
        <p:style>
          <a:lnRef idx="1">
            <a:schemeClr val="accent1"/>
          </a:lnRef>
          <a:fillRef idx="3">
            <a:schemeClr val="accent1"/>
          </a:fillRef>
          <a:effectRef idx="2">
            <a:schemeClr val="accent1"/>
          </a:effectRef>
          <a:fontRef idx="minor">
            <a:schemeClr val="lt1"/>
          </a:fontRef>
        </p:style>
        <p:txBody>
          <a:bodyPr rtlCol="0" anchor="ctr" wrap="square" rIns="164592"/>
          <a:lstStyle/>
          <a:p>
            <a:pPr algn="ctr"/>
            <a:r>
              <a:rPr sz="1300" b="1" i="0">
                <a:solidFill>
                  <a:srgbClr val="111111"/>
                </a:solidFill>
                <a:latin typeface="Times New Roman"/>
              </a:rPr>
              <a:t>Health record</a:t>
            </a:r>
          </a:p>
        </p:txBody>
      </p:sp>
      <p:sp>
        <p:nvSpPr>
          <p:cNvPr id="30" name="Step 2: Daily readings"/>
          <p:cNvSpPr/>
          <p:nvPr/>
        </p:nvSpPr>
        <p:spPr>
          <a:xfrm>
            <a:off x="2481072" y="5577840"/>
            <a:ext cx="1859280" cy="685800"/>
          </a:xfrm>
          <a:prstGeom prst="chevron">
            <a:avLst/>
          </a:prstGeom>
          <a:solidFill>
            <a:srgbClr val="FCD5B4"/>
          </a:solidFill>
          <a:ln w="9525">
            <a:solidFill>
              <a:srgbClr val="F4B183"/>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164592"/>
          <a:lstStyle/>
          <a:p>
            <a:pPr algn="ctr"/>
            <a:r>
              <a:rPr sz="1300" b="1" i="0">
                <a:solidFill>
                  <a:srgbClr val="111111"/>
                </a:solidFill>
                <a:latin typeface="Times New Roman"/>
              </a:rPr>
              <a:t>Daily readings</a:t>
            </a:r>
          </a:p>
        </p:txBody>
      </p:sp>
      <p:sp>
        <p:nvSpPr>
          <p:cNvPr id="31" name="Step 3: Own normal"/>
          <p:cNvSpPr/>
          <p:nvPr/>
        </p:nvSpPr>
        <p:spPr>
          <a:xfrm>
            <a:off x="4230624" y="5577840"/>
            <a:ext cx="1859280" cy="685800"/>
          </a:xfrm>
          <a:prstGeom prst="chevron">
            <a:avLst/>
          </a:prstGeom>
          <a:solidFill>
            <a:srgbClr val="FFE699"/>
          </a:solidFill>
          <a:ln w="9525">
            <a:solidFill>
              <a:srgbClr val="F4B183"/>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164592"/>
          <a:lstStyle/>
          <a:p>
            <a:pPr algn="ctr"/>
            <a:r>
              <a:rPr sz="1300" b="1" i="0">
                <a:solidFill>
                  <a:srgbClr val="111111"/>
                </a:solidFill>
                <a:latin typeface="Times New Roman"/>
              </a:rPr>
              <a:t>Own normal</a:t>
            </a:r>
          </a:p>
        </p:txBody>
      </p:sp>
      <p:sp>
        <p:nvSpPr>
          <p:cNvPr id="32" name="Step 4: Risk score"/>
          <p:cNvSpPr/>
          <p:nvPr/>
        </p:nvSpPr>
        <p:spPr>
          <a:xfrm>
            <a:off x="5980176" y="5577840"/>
            <a:ext cx="1859280" cy="685800"/>
          </a:xfrm>
          <a:prstGeom prst="chevron">
            <a:avLst/>
          </a:prstGeom>
          <a:solidFill>
            <a:srgbClr val="FCD5B4"/>
          </a:solidFill>
          <a:ln w="9525">
            <a:solidFill>
              <a:srgbClr val="F4B183"/>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164592"/>
          <a:lstStyle/>
          <a:p>
            <a:pPr algn="ctr"/>
            <a:r>
              <a:rPr sz="1300" b="1" i="0">
                <a:solidFill>
                  <a:srgbClr val="111111"/>
                </a:solidFill>
                <a:latin typeface="Times New Roman"/>
              </a:rPr>
              <a:t>Risk score</a:t>
            </a:r>
          </a:p>
        </p:txBody>
      </p:sp>
      <p:sp>
        <p:nvSpPr>
          <p:cNvPr id="33" name="Step 5: Reasons"/>
          <p:cNvSpPr/>
          <p:nvPr/>
        </p:nvSpPr>
        <p:spPr>
          <a:xfrm>
            <a:off x="7729728" y="5577840"/>
            <a:ext cx="1859280" cy="685800"/>
          </a:xfrm>
          <a:prstGeom prst="chevron">
            <a:avLst/>
          </a:prstGeom>
          <a:solidFill>
            <a:srgbClr val="FFE699"/>
          </a:solidFill>
          <a:ln w="9525">
            <a:solidFill>
              <a:srgbClr val="F4B183"/>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164592"/>
          <a:lstStyle/>
          <a:p>
            <a:pPr algn="ctr"/>
            <a:r>
              <a:rPr sz="1300" b="1" i="0">
                <a:solidFill>
                  <a:srgbClr val="111111"/>
                </a:solidFill>
                <a:latin typeface="Times New Roman"/>
              </a:rPr>
              <a:t>Reasons</a:t>
            </a:r>
          </a:p>
        </p:txBody>
      </p:sp>
      <p:sp>
        <p:nvSpPr>
          <p:cNvPr id="34" name="Step 6: Action + advice"/>
          <p:cNvSpPr/>
          <p:nvPr/>
        </p:nvSpPr>
        <p:spPr>
          <a:xfrm>
            <a:off x="9479280" y="5577840"/>
            <a:ext cx="1859280" cy="685800"/>
          </a:xfrm>
          <a:prstGeom prst="chevron">
            <a:avLst/>
          </a:prstGeom>
          <a:solidFill>
            <a:srgbClr val="FCD5B4"/>
          </a:solidFill>
          <a:ln w="9525">
            <a:solidFill>
              <a:srgbClr val="F4B183"/>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164592"/>
          <a:lstStyle/>
          <a:p>
            <a:pPr algn="ctr"/>
            <a:r>
              <a:rPr sz="1300" b="1" i="0">
                <a:solidFill>
                  <a:srgbClr val="111111"/>
                </a:solidFill>
                <a:latin typeface="Times New Roman"/>
              </a:rPr>
              <a:t>Action + advice</a:t>
            </a:r>
          </a:p>
        </p:txBody>
      </p:sp>
      <p:sp>
        <p:nvSpPr>
          <p:cNvPr id="35" name="TextBox 34"/>
          <p:cNvSpPr txBox="1"/>
          <p:nvPr/>
        </p:nvSpPr>
        <p:spPr>
          <a:xfrm>
            <a:off x="731520" y="6291072"/>
            <a:ext cx="10744200" cy="292608"/>
          </a:xfrm>
          <a:prstGeom prst="rect">
            <a:avLst/>
          </a:prstGeom>
          <a:noFill/>
        </p:spPr>
        <p:txBody>
          <a:bodyPr wrap="square" anchor="t" lIns="54864" rIns="54864" tIns="27432" bIns="27432">
            <a:spAutoFit/>
          </a:bodyPr>
          <a:lstStyle/>
          <a:p>
            <a:pPr algn="ctr">
              <a:spcAft>
                <a:spcPts val="300"/>
              </a:spcAft>
              <a:buNone/>
            </a:pPr>
            <a:r>
              <a:rPr sz="1100" b="0" i="1">
                <a:solidFill>
                  <a:srgbClr val="111111"/>
                </a:solidFill>
                <a:latin typeface="Times New Roman"/>
              </a:rPr>
              <a:t>Why hybrid: the body-signal patterns are complex and best learned from data; the air-pollution effect is small and well measured in large studies, so we take it from the literature.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descr="bg_content.jpg"/>
          <p:cNvPicPr>
            <a:picLocks noChangeAspect="1"/>
          </p:cNvPicPr>
          <p:nvPr/>
        </p:nvPicPr>
        <p:blipFill>
          <a:blip r:embed="rId2"/>
          <a:stretch>
            <a:fillRect/>
          </a:stretch>
        </p:blipFill>
        <p:spPr>
          <a:xfrm>
            <a:off x="0" y="0"/>
            <a:ext cx="12191695" cy="6858000"/>
          </a:xfrm>
          <a:prstGeom prst="rect">
            <a:avLst/>
          </a:prstGeom>
        </p:spPr>
      </p:pic>
      <p:sp>
        <p:nvSpPr>
          <p:cNvPr id="3" name="BreatheTwin logo"/>
          <p:cNvSpPr/>
          <p:nvPr/>
        </p:nvSpPr>
        <p:spPr>
          <a:xfrm>
            <a:off x="411480" y="201168"/>
            <a:ext cx="3794760" cy="603504"/>
          </a:xfrm>
          <a:prstGeom prst="rect">
            <a:avLst/>
          </a:prstGeom>
          <a:solidFill>
            <a:srgbClr val="0B2A78"/>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Logo mark"/>
          <p:cNvSpPr/>
          <p:nvPr/>
        </p:nvSpPr>
        <p:spPr>
          <a:xfrm>
            <a:off x="475488" y="256032"/>
            <a:ext cx="493776" cy="4937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900" b="1">
                <a:solidFill>
                  <a:srgbClr val="B23A2E"/>
                </a:solidFill>
                <a:latin typeface="Arial"/>
              </a:rPr>
              <a:t>BT</a:t>
            </a:r>
          </a:p>
        </p:txBody>
      </p:sp>
      <p:sp>
        <p:nvSpPr>
          <p:cNvPr id="5" name="Logo text"/>
          <p:cNvSpPr txBox="1"/>
          <p:nvPr/>
        </p:nvSpPr>
        <p:spPr>
          <a:xfrm>
            <a:off x="1024128" y="182880"/>
            <a:ext cx="3154680" cy="457200"/>
          </a:xfrm>
          <a:prstGeom prst="rect">
            <a:avLst/>
          </a:prstGeom>
          <a:noFill/>
        </p:spPr>
        <p:txBody>
          <a:bodyPr wrap="none" lIns="0" tIns="0" bIns="0">
            <a:spAutoFit/>
          </a:bodyPr>
          <a:lstStyle/>
          <a:p>
            <a:r>
              <a:rPr sz="2500" b="1">
                <a:solidFill>
                  <a:srgbClr val="FFFFFF"/>
                </a:solidFill>
                <a:latin typeface="Arial"/>
              </a:rPr>
              <a:t>BREATHETWIN</a:t>
            </a:r>
          </a:p>
        </p:txBody>
      </p:sp>
      <p:sp>
        <p:nvSpPr>
          <p:cNvPr id="6" name="Logo sub"/>
          <p:cNvSpPr txBox="1"/>
          <p:nvPr/>
        </p:nvSpPr>
        <p:spPr>
          <a:xfrm>
            <a:off x="1024128" y="585216"/>
            <a:ext cx="3108960" cy="219456"/>
          </a:xfrm>
          <a:prstGeom prst="rect">
            <a:avLst/>
          </a:prstGeom>
          <a:noFill/>
        </p:spPr>
        <p:txBody>
          <a:bodyPr wrap="none" lIns="0" tIns="0" bIns="0" rIns="0">
            <a:spAutoFit/>
          </a:bodyPr>
          <a:lstStyle/>
          <a:p>
            <a:pPr algn="r"/>
            <a:r>
              <a:rPr sz="900" b="1">
                <a:solidFill>
                  <a:srgbClr val="FFFFFF"/>
                </a:solidFill>
                <a:latin typeface="Arial"/>
              </a:rPr>
              <a:t>TEAM MOMENTUM</a:t>
            </a:r>
          </a:p>
        </p:txBody>
      </p:sp>
      <p:sp>
        <p:nvSpPr>
          <p:cNvPr id="7" name="Logo tagline"/>
          <p:cNvSpPr txBox="1"/>
          <p:nvPr/>
        </p:nvSpPr>
        <p:spPr>
          <a:xfrm>
            <a:off x="566928" y="822960"/>
            <a:ext cx="4023360" cy="274320"/>
          </a:xfrm>
          <a:prstGeom prst="rect">
            <a:avLst/>
          </a:prstGeom>
          <a:noFill/>
        </p:spPr>
        <p:txBody>
          <a:bodyPr wrap="none" lIns="0" tIns="0" bIns="0">
            <a:spAutoFit/>
          </a:bodyPr>
          <a:lstStyle/>
          <a:p>
            <a:r>
              <a:rPr sz="1300" b="1" i="1">
                <a:solidFill>
                  <a:srgbClr val="FFFFFF"/>
                </a:solidFill>
                <a:latin typeface="Arial"/>
              </a:rPr>
              <a:t>EARLY WARNING. EASIER BREATHING.</a:t>
            </a:r>
          </a:p>
        </p:txBody>
      </p:sp>
      <p:sp>
        <p:nvSpPr>
          <p:cNvPr id="8" name="Content panel"/>
          <p:cNvSpPr/>
          <p:nvPr/>
        </p:nvSpPr>
        <p:spPr>
          <a:xfrm>
            <a:off x="502920" y="1115568"/>
            <a:ext cx="11201400" cy="5559552"/>
          </a:xfrm>
          <a:prstGeom prst="rect">
            <a:avLst/>
          </a:prstGeom>
          <a:solidFill>
            <a:srgbClr val="FFFFFF"/>
          </a:solidFill>
          <a:ln w="12700">
            <a:solidFill>
              <a:srgbClr val="F4B18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itle box"/>
          <p:cNvSpPr/>
          <p:nvPr/>
        </p:nvSpPr>
        <p:spPr>
          <a:xfrm>
            <a:off x="731520" y="1225296"/>
            <a:ext cx="10744200" cy="658368"/>
          </a:xfrm>
          <a:prstGeom prst="rect">
            <a:avLst/>
          </a:prstGeom>
          <a:solidFill>
            <a:srgbClr val="FFFFFF"/>
          </a:solidFill>
          <a:ln w="12700">
            <a:solidFill>
              <a:srgbClr val="40404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i="0">
                <a:solidFill>
                  <a:srgbClr val="111111"/>
                </a:solidFill>
                <a:latin typeface="Times New Roman"/>
              </a:rPr>
              <a:t>Flowchart: what BreatheTwin does for every patient, every morning</a:t>
            </a:r>
          </a:p>
        </p:txBody>
      </p:sp>
      <p:pic>
        <p:nvPicPr>
          <p:cNvPr id="10" name="Flowchart" descr="flow_deck.png"/>
          <p:cNvPicPr>
            <a:picLocks noChangeAspect="1"/>
          </p:cNvPicPr>
          <p:nvPr/>
        </p:nvPicPr>
        <p:blipFill>
          <a:blip r:embed="rId4"/>
          <a:stretch>
            <a:fillRect/>
          </a:stretch>
        </p:blipFill>
        <p:spPr>
          <a:xfrm>
            <a:off x="731520" y="1993392"/>
            <a:ext cx="7317938" cy="4526280"/>
          </a:xfrm>
          <a:prstGeom prst="rect">
            <a:avLst/>
          </a:prstGeom>
        </p:spPr>
      </p:pic>
      <p:sp>
        <p:nvSpPr>
          <p:cNvPr id="11" name="Steps panel"/>
          <p:cNvSpPr/>
          <p:nvPr/>
        </p:nvSpPr>
        <p:spPr>
          <a:xfrm>
            <a:off x="8278058" y="1993392"/>
            <a:ext cx="3197662" cy="4526280"/>
          </a:xfrm>
          <a:prstGeom prst="rect">
            <a:avLst/>
          </a:prstGeom>
          <a:solidFill>
            <a:srgbClr val="F2F6FC"/>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teps text"/>
          <p:cNvSpPr txBox="1"/>
          <p:nvPr/>
        </p:nvSpPr>
        <p:spPr>
          <a:xfrm>
            <a:off x="8369498" y="2148840"/>
            <a:ext cx="3014782" cy="4297680"/>
          </a:xfrm>
          <a:prstGeom prst="rect">
            <a:avLst/>
          </a:prstGeom>
          <a:noFill/>
        </p:spPr>
        <p:txBody>
          <a:bodyPr wrap="square" lIns="45720" rIns="45720">
            <a:spAutoFit/>
          </a:bodyPr>
          <a:lstStyle/>
          <a:p>
            <a:pPr>
              <a:spcAft>
                <a:spcPts val="500"/>
              </a:spcAft>
            </a:pPr>
            <a:r>
              <a:rPr b="1" sz="1400">
                <a:solidFill>
                  <a:srgbClr val="111111"/>
                </a:solidFill>
                <a:latin typeface="Times New Roman"/>
              </a:rPr>
              <a:t>1 Collect. </a:t>
            </a:r>
            <a:r>
              <a:rPr sz="1400">
                <a:solidFill>
                  <a:srgbClr val="111111"/>
                </a:solidFill>
                <a:latin typeface="Times New Roman"/>
              </a:rPr>
              <a:t>Watch, oximeter, inhaler clip; health record; real city air and weather.</a:t>
            </a:r>
          </a:p>
          <a:p>
            <a:pPr>
              <a:spcAft>
                <a:spcPts val="500"/>
              </a:spcAft>
            </a:pPr>
            <a:r>
              <a:rPr b="1" sz="1400">
                <a:solidFill>
                  <a:srgbClr val="111111"/>
                </a:solidFill>
                <a:latin typeface="Times New Roman"/>
              </a:rPr>
              <a:t>2 Clean. </a:t>
            </a:r>
            <a:r>
              <a:rPr sz="1400">
                <a:solidFill>
                  <a:srgbClr val="111111"/>
                </a:solidFill>
                <a:latin typeface="Times New Roman"/>
              </a:rPr>
              <a:t>One row per patient per day; range checks; missing stays missing.</a:t>
            </a:r>
          </a:p>
          <a:p>
            <a:pPr>
              <a:spcAft>
                <a:spcPts val="500"/>
              </a:spcAft>
            </a:pPr>
            <a:r>
              <a:rPr b="1" sz="1400">
                <a:solidFill>
                  <a:srgbClr val="111111"/>
                </a:solidFill>
                <a:latin typeface="Times New Roman"/>
              </a:rPr>
              <a:t>3 Twin. </a:t>
            </a:r>
            <a:r>
              <a:rPr sz="1400">
                <a:solidFill>
                  <a:srgbClr val="111111"/>
                </a:solidFill>
                <a:latin typeface="Times New Roman"/>
              </a:rPr>
              <a:t>Today vs own normal (days t-28 to t-8), hybrid risk engine, rule checks.</a:t>
            </a:r>
          </a:p>
          <a:p>
            <a:pPr>
              <a:spcAft>
                <a:spcPts val="500"/>
              </a:spcAft>
            </a:pPr>
            <a:r>
              <a:rPr b="1" sz="1400">
                <a:solidFill>
                  <a:srgbClr val="111111"/>
                </a:solidFill>
                <a:latin typeface="Times New Roman"/>
              </a:rPr>
              <a:t>4 Decide. </a:t>
            </a:r>
            <a:r>
              <a:rPr sz="1400">
                <a:solidFill>
                  <a:srgbClr val="111111"/>
                </a:solidFill>
                <a:latin typeface="Times New Roman"/>
              </a:rPr>
              <a:t>High: call today. Medium: watch. Low: no action.</a:t>
            </a:r>
          </a:p>
          <a:p>
            <a:pPr>
              <a:spcAft>
                <a:spcPts val="500"/>
              </a:spcAft>
            </a:pPr>
            <a:r>
              <a:rPr b="1" sz="1400">
                <a:solidFill>
                  <a:srgbClr val="111111"/>
                </a:solidFill>
                <a:latin typeface="Times New Roman"/>
              </a:rPr>
              <a:t>5 Act. </a:t>
            </a:r>
            <a:r>
              <a:rPr sz="1400">
                <a:solidFill>
                  <a:srgbClr val="111111"/>
                </a:solidFill>
                <a:latin typeface="Times New Roman"/>
              </a:rPr>
              <a:t>Call list, reasons, what-if, smog alerts, visit summary; outcome feeds back.</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descr="bg_content.jpg"/>
          <p:cNvPicPr>
            <a:picLocks noChangeAspect="1"/>
          </p:cNvPicPr>
          <p:nvPr/>
        </p:nvPicPr>
        <p:blipFill>
          <a:blip r:embed="rId2"/>
          <a:stretch>
            <a:fillRect/>
          </a:stretch>
        </p:blipFill>
        <p:spPr>
          <a:xfrm>
            <a:off x="0" y="0"/>
            <a:ext cx="12191695" cy="6858000"/>
          </a:xfrm>
          <a:prstGeom prst="rect">
            <a:avLst/>
          </a:prstGeom>
        </p:spPr>
      </p:pic>
      <p:sp>
        <p:nvSpPr>
          <p:cNvPr id="3" name="BreatheTwin logo"/>
          <p:cNvSpPr/>
          <p:nvPr/>
        </p:nvSpPr>
        <p:spPr>
          <a:xfrm>
            <a:off x="411480" y="201168"/>
            <a:ext cx="3794760" cy="603504"/>
          </a:xfrm>
          <a:prstGeom prst="rect">
            <a:avLst/>
          </a:prstGeom>
          <a:solidFill>
            <a:srgbClr val="0B2A78"/>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Logo mark"/>
          <p:cNvSpPr/>
          <p:nvPr/>
        </p:nvSpPr>
        <p:spPr>
          <a:xfrm>
            <a:off x="475488" y="256032"/>
            <a:ext cx="493776" cy="4937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900" b="1">
                <a:solidFill>
                  <a:srgbClr val="B23A2E"/>
                </a:solidFill>
                <a:latin typeface="Arial"/>
              </a:rPr>
              <a:t>BT</a:t>
            </a:r>
          </a:p>
        </p:txBody>
      </p:sp>
      <p:sp>
        <p:nvSpPr>
          <p:cNvPr id="5" name="Logo text"/>
          <p:cNvSpPr txBox="1"/>
          <p:nvPr/>
        </p:nvSpPr>
        <p:spPr>
          <a:xfrm>
            <a:off x="1024128" y="182880"/>
            <a:ext cx="3154680" cy="457200"/>
          </a:xfrm>
          <a:prstGeom prst="rect">
            <a:avLst/>
          </a:prstGeom>
          <a:noFill/>
        </p:spPr>
        <p:txBody>
          <a:bodyPr wrap="none" lIns="0" tIns="0" bIns="0">
            <a:spAutoFit/>
          </a:bodyPr>
          <a:lstStyle/>
          <a:p>
            <a:r>
              <a:rPr sz="2500" b="1">
                <a:solidFill>
                  <a:srgbClr val="FFFFFF"/>
                </a:solidFill>
                <a:latin typeface="Arial"/>
              </a:rPr>
              <a:t>BREATHETWIN</a:t>
            </a:r>
          </a:p>
        </p:txBody>
      </p:sp>
      <p:sp>
        <p:nvSpPr>
          <p:cNvPr id="6" name="Logo sub"/>
          <p:cNvSpPr txBox="1"/>
          <p:nvPr/>
        </p:nvSpPr>
        <p:spPr>
          <a:xfrm>
            <a:off x="1024128" y="585216"/>
            <a:ext cx="3108960" cy="219456"/>
          </a:xfrm>
          <a:prstGeom prst="rect">
            <a:avLst/>
          </a:prstGeom>
          <a:noFill/>
        </p:spPr>
        <p:txBody>
          <a:bodyPr wrap="none" lIns="0" tIns="0" bIns="0" rIns="0">
            <a:spAutoFit/>
          </a:bodyPr>
          <a:lstStyle/>
          <a:p>
            <a:pPr algn="r"/>
            <a:r>
              <a:rPr sz="900" b="1">
                <a:solidFill>
                  <a:srgbClr val="FFFFFF"/>
                </a:solidFill>
                <a:latin typeface="Arial"/>
              </a:rPr>
              <a:t>TEAM MOMENTUM</a:t>
            </a:r>
          </a:p>
        </p:txBody>
      </p:sp>
      <p:sp>
        <p:nvSpPr>
          <p:cNvPr id="7" name="Logo tagline"/>
          <p:cNvSpPr txBox="1"/>
          <p:nvPr/>
        </p:nvSpPr>
        <p:spPr>
          <a:xfrm>
            <a:off x="566928" y="822960"/>
            <a:ext cx="4023360" cy="274320"/>
          </a:xfrm>
          <a:prstGeom prst="rect">
            <a:avLst/>
          </a:prstGeom>
          <a:noFill/>
        </p:spPr>
        <p:txBody>
          <a:bodyPr wrap="none" lIns="0" tIns="0" bIns="0">
            <a:spAutoFit/>
          </a:bodyPr>
          <a:lstStyle/>
          <a:p>
            <a:r>
              <a:rPr sz="1300" b="1" i="1">
                <a:solidFill>
                  <a:srgbClr val="FFFFFF"/>
                </a:solidFill>
                <a:latin typeface="Arial"/>
              </a:rPr>
              <a:t>EARLY WARNING. EASIER BREATHING.</a:t>
            </a:r>
          </a:p>
        </p:txBody>
      </p:sp>
      <p:sp>
        <p:nvSpPr>
          <p:cNvPr id="8" name="Content panel"/>
          <p:cNvSpPr/>
          <p:nvPr/>
        </p:nvSpPr>
        <p:spPr>
          <a:xfrm>
            <a:off x="502920" y="1115568"/>
            <a:ext cx="11201400" cy="5559552"/>
          </a:xfrm>
          <a:prstGeom prst="rect">
            <a:avLst/>
          </a:prstGeom>
          <a:solidFill>
            <a:srgbClr val="FFFFFF"/>
          </a:solidFill>
          <a:ln w="12700">
            <a:solidFill>
              <a:srgbClr val="F4B18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itle box"/>
          <p:cNvSpPr/>
          <p:nvPr/>
        </p:nvSpPr>
        <p:spPr>
          <a:xfrm>
            <a:off x="731520" y="1225296"/>
            <a:ext cx="10744200" cy="658368"/>
          </a:xfrm>
          <a:prstGeom prst="rect">
            <a:avLst/>
          </a:prstGeom>
          <a:solidFill>
            <a:srgbClr val="FFFFFF"/>
          </a:solidFill>
          <a:ln w="12700">
            <a:solidFill>
              <a:srgbClr val="40404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i="0">
                <a:solidFill>
                  <a:srgbClr val="111111"/>
                </a:solidFill>
                <a:latin typeface="Times New Roman"/>
              </a:rPr>
              <a:t>Open, anonymised or synthetic data, and clear about which</a:t>
            </a:r>
          </a:p>
        </p:txBody>
      </p:sp>
      <p:sp>
        <p:nvSpPr>
          <p:cNvPr id="10" name="Tag: Data Sources"/>
          <p:cNvSpPr/>
          <p:nvPr/>
        </p:nvSpPr>
        <p:spPr>
          <a:xfrm>
            <a:off x="731520" y="2011680"/>
            <a:ext cx="6172200" cy="411480"/>
          </a:xfrm>
          <a:prstGeom prst="rect">
            <a:avLst/>
          </a:prstGeom>
          <a:solidFill>
            <a:srgbClr val="FFE699"/>
          </a:solidFill>
          <a:ln w="12700">
            <a:solidFill>
              <a:srgbClr val="F4B183"/>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600" b="1" i="0">
                <a:solidFill>
                  <a:srgbClr val="111111"/>
                </a:solidFill>
                <a:latin typeface="Times New Roman"/>
              </a:rPr>
              <a:t>Data Sources</a:t>
            </a:r>
          </a:p>
        </p:txBody>
      </p:sp>
      <p:graphicFrame>
        <p:nvGraphicFramePr>
          <p:cNvPr id="11" name="Sources table"/>
          <p:cNvGraphicFramePr>
            <a:graphicFrameLocks noGrp="1"/>
          </p:cNvGraphicFramePr>
          <p:nvPr/>
        </p:nvGraphicFramePr>
        <p:xfrm>
          <a:off x="731520" y="2542032"/>
          <a:ext cx="6172200" cy="2743200"/>
        </p:xfrm>
        <a:graphic>
          <a:graphicData uri="http://schemas.openxmlformats.org/drawingml/2006/table">
            <a:tbl>
              <a:tblPr firstRow="0" bandRow="0">
                <a:tableStyleId>{5940675A-B579-460E-94D1-54222C63F5DA}</a:tableStyleId>
              </a:tblPr>
              <a:tblGrid>
                <a:gridCol w="1325880"/>
                <a:gridCol w="2743200"/>
                <a:gridCol w="1143000"/>
                <a:gridCol w="960120"/>
              </a:tblGrid>
              <a:tr h="457200">
                <a:tc>
                  <a:txBody>
                    <a:bodyPr wrap="square"/>
                    <a:lstStyle/>
                    <a:p>
                      <a:pPr algn="ctr"/>
                      <a:r>
                        <a:rPr sz="1250" b="1" i="0">
                          <a:solidFill>
                            <a:srgbClr val="111111"/>
                          </a:solidFill>
                          <a:latin typeface="Times New Roman"/>
                        </a:rPr>
                        <a:t>Stream</a:t>
                      </a:r>
                    </a:p>
                  </a:txBody>
                  <a:tcPr marL="54864" marR="54864" marT="22860" marB="22860" anchor="ctr">
                    <a:solidFill>
                      <a:srgbClr val="8EA9DB"/>
                    </a:solidFill>
                    <a:lnL w="9525">
                      <a:solidFill>
                        <a:srgbClr val="000000"/>
                      </a:solidFill>
                    </a:lnL>
                    <a:lnR w="9525">
                      <a:solidFill>
                        <a:srgbClr val="000000"/>
                      </a:solidFill>
                    </a:lnR>
                    <a:lnT w="9525">
                      <a:solidFill>
                        <a:srgbClr val="000000"/>
                      </a:solidFill>
                    </a:lnT>
                    <a:lnB w="9525">
                      <a:solidFill>
                        <a:srgbClr val="000000"/>
                      </a:solidFill>
                    </a:lnB>
                  </a:tcPr>
                </a:tc>
                <a:tc>
                  <a:txBody>
                    <a:bodyPr wrap="square"/>
                    <a:lstStyle/>
                    <a:p>
                      <a:pPr algn="ctr"/>
                      <a:r>
                        <a:rPr sz="1250" b="1" i="0">
                          <a:solidFill>
                            <a:srgbClr val="111111"/>
                          </a:solidFill>
                          <a:latin typeface="Times New Roman"/>
                        </a:rPr>
                        <a:t>Source</a:t>
                      </a:r>
                    </a:p>
                  </a:txBody>
                  <a:tcPr marL="54864" marR="54864" marT="22860" marB="22860" anchor="ctr">
                    <a:solidFill>
                      <a:srgbClr val="8EA9DB"/>
                    </a:solidFill>
                    <a:lnL w="9525">
                      <a:solidFill>
                        <a:srgbClr val="000000"/>
                      </a:solidFill>
                    </a:lnL>
                    <a:lnR w="9525">
                      <a:solidFill>
                        <a:srgbClr val="000000"/>
                      </a:solidFill>
                    </a:lnR>
                    <a:lnT w="9525">
                      <a:solidFill>
                        <a:srgbClr val="000000"/>
                      </a:solidFill>
                    </a:lnT>
                    <a:lnB w="9525">
                      <a:solidFill>
                        <a:srgbClr val="000000"/>
                      </a:solidFill>
                    </a:lnB>
                  </a:tcPr>
                </a:tc>
                <a:tc>
                  <a:txBody>
                    <a:bodyPr wrap="square"/>
                    <a:lstStyle/>
                    <a:p>
                      <a:pPr algn="ctr"/>
                      <a:r>
                        <a:rPr sz="1250" b="1" i="0">
                          <a:solidFill>
                            <a:srgbClr val="111111"/>
                          </a:solidFill>
                          <a:latin typeface="Times New Roman"/>
                        </a:rPr>
                        <a:t>Real or synthetic</a:t>
                      </a:r>
                    </a:p>
                  </a:txBody>
                  <a:tcPr marL="54864" marR="54864" marT="22860" marB="22860" anchor="ctr">
                    <a:solidFill>
                      <a:srgbClr val="8EA9DB"/>
                    </a:solidFill>
                    <a:lnL w="9525">
                      <a:solidFill>
                        <a:srgbClr val="000000"/>
                      </a:solidFill>
                    </a:lnL>
                    <a:lnR w="9525">
                      <a:solidFill>
                        <a:srgbClr val="000000"/>
                      </a:solidFill>
                    </a:lnR>
                    <a:lnT w="9525">
                      <a:solidFill>
                        <a:srgbClr val="000000"/>
                      </a:solidFill>
                    </a:lnT>
                    <a:lnB w="9525">
                      <a:solidFill>
                        <a:srgbClr val="000000"/>
                      </a:solidFill>
                    </a:lnB>
                  </a:tcPr>
                </a:tc>
                <a:tc>
                  <a:txBody>
                    <a:bodyPr wrap="square"/>
                    <a:lstStyle/>
                    <a:p>
                      <a:pPr algn="ctr"/>
                      <a:r>
                        <a:rPr sz="1250" b="1" i="0">
                          <a:solidFill>
                            <a:srgbClr val="111111"/>
                          </a:solidFill>
                          <a:latin typeface="Times New Roman"/>
                        </a:rPr>
                        <a:t>Licence</a:t>
                      </a:r>
                    </a:p>
                  </a:txBody>
                  <a:tcPr marL="54864" marR="54864" marT="22860" marB="22860" anchor="ctr">
                    <a:solidFill>
                      <a:srgbClr val="8EA9DB"/>
                    </a:solidFill>
                    <a:lnL w="9525">
                      <a:solidFill>
                        <a:srgbClr val="000000"/>
                      </a:solidFill>
                    </a:lnL>
                    <a:lnR w="9525">
                      <a:solidFill>
                        <a:srgbClr val="000000"/>
                      </a:solidFill>
                    </a:lnR>
                    <a:lnT w="9525">
                      <a:solidFill>
                        <a:srgbClr val="000000"/>
                      </a:solidFill>
                    </a:lnT>
                    <a:lnB w="9525">
                      <a:solidFill>
                        <a:srgbClr val="000000"/>
                      </a:solidFill>
                    </a:lnB>
                  </a:tcPr>
                </a:tc>
              </a:tr>
              <a:tr h="457200">
                <a:tc>
                  <a:txBody>
                    <a:bodyPr wrap="square"/>
                    <a:lstStyle/>
                    <a:p>
                      <a:pPr algn="l"/>
                      <a:r>
                        <a:rPr sz="1150" b="0" i="0">
                          <a:solidFill>
                            <a:srgbClr val="111111"/>
                          </a:solidFill>
                          <a:latin typeface="Times New Roman"/>
                        </a:rPr>
                        <a:t>Health records</a:t>
                      </a:r>
                    </a:p>
                  </a:txBody>
                  <a:tcPr marL="54864" marR="54864" marT="22860" marB="22860" anchor="ctr">
                    <a:solidFill>
                      <a:srgbClr val="FFFFFF"/>
                    </a:solidFill>
                    <a:lnL w="9525">
                      <a:solidFill>
                        <a:srgbClr val="000000"/>
                      </a:solidFill>
                    </a:lnL>
                    <a:lnR w="9525">
                      <a:solidFill>
                        <a:srgbClr val="000000"/>
                      </a:solidFill>
                    </a:lnR>
                    <a:lnT w="9525">
                      <a:solidFill>
                        <a:srgbClr val="000000"/>
                      </a:solidFill>
                    </a:lnT>
                    <a:lnB w="9525">
                      <a:solidFill>
                        <a:srgbClr val="000000"/>
                      </a:solidFill>
                    </a:lnB>
                  </a:tcPr>
                </a:tc>
                <a:tc>
                  <a:txBody>
                    <a:bodyPr wrap="square"/>
                    <a:lstStyle/>
                    <a:p>
                      <a:pPr algn="l"/>
                      <a:r>
                        <a:rPr sz="1150" b="0" i="0">
                          <a:solidFill>
                            <a:srgbClr val="111111"/>
                          </a:solidFill>
                          <a:latin typeface="Times New Roman"/>
                        </a:rPr>
                        <a:t>Synthea COPD cohort + our India overlay and younger patients</a:t>
                      </a:r>
                    </a:p>
                  </a:txBody>
                  <a:tcPr marL="54864" marR="54864" marT="22860" marB="22860" anchor="ctr">
                    <a:solidFill>
                      <a:srgbClr val="FFFFFF"/>
                    </a:solidFill>
                    <a:lnL w="9525">
                      <a:solidFill>
                        <a:srgbClr val="000000"/>
                      </a:solidFill>
                    </a:lnL>
                    <a:lnR w="9525">
                      <a:solidFill>
                        <a:srgbClr val="000000"/>
                      </a:solidFill>
                    </a:lnR>
                    <a:lnT w="9525">
                      <a:solidFill>
                        <a:srgbClr val="000000"/>
                      </a:solidFill>
                    </a:lnT>
                    <a:lnB w="9525">
                      <a:solidFill>
                        <a:srgbClr val="000000"/>
                      </a:solidFill>
                    </a:lnB>
                  </a:tcPr>
                </a:tc>
                <a:tc>
                  <a:txBody>
                    <a:bodyPr wrap="square"/>
                    <a:lstStyle/>
                    <a:p>
                      <a:pPr algn="l"/>
                      <a:r>
                        <a:rPr sz="1150" b="0" i="0">
                          <a:solidFill>
                            <a:srgbClr val="111111"/>
                          </a:solidFill>
                          <a:latin typeface="Times New Roman"/>
                        </a:rPr>
                        <a:t>Synthetic</a:t>
                      </a:r>
                    </a:p>
                  </a:txBody>
                  <a:tcPr marL="54864" marR="54864" marT="22860" marB="22860" anchor="ctr">
                    <a:solidFill>
                      <a:srgbClr val="FFFFFF"/>
                    </a:solidFill>
                    <a:lnL w="9525">
                      <a:solidFill>
                        <a:srgbClr val="000000"/>
                      </a:solidFill>
                    </a:lnL>
                    <a:lnR w="9525">
                      <a:solidFill>
                        <a:srgbClr val="000000"/>
                      </a:solidFill>
                    </a:lnR>
                    <a:lnT w="9525">
                      <a:solidFill>
                        <a:srgbClr val="000000"/>
                      </a:solidFill>
                    </a:lnT>
                    <a:lnB w="9525">
                      <a:solidFill>
                        <a:srgbClr val="000000"/>
                      </a:solidFill>
                    </a:lnB>
                  </a:tcPr>
                </a:tc>
                <a:tc>
                  <a:txBody>
                    <a:bodyPr wrap="square"/>
                    <a:lstStyle/>
                    <a:p>
                      <a:pPr algn="l"/>
                      <a:r>
                        <a:rPr sz="1150" b="0" i="0">
                          <a:solidFill>
                            <a:srgbClr val="111111"/>
                          </a:solidFill>
                          <a:latin typeface="Times New Roman"/>
                        </a:rPr>
                        <a:t>Apache 2.0</a:t>
                      </a:r>
                    </a:p>
                  </a:txBody>
                  <a:tcPr marL="54864" marR="54864" marT="22860" marB="22860" anchor="ctr">
                    <a:solidFill>
                      <a:srgbClr val="FFFFFF"/>
                    </a:solidFill>
                    <a:lnL w="9525">
                      <a:solidFill>
                        <a:srgbClr val="000000"/>
                      </a:solidFill>
                    </a:lnL>
                    <a:lnR w="9525">
                      <a:solidFill>
                        <a:srgbClr val="000000"/>
                      </a:solidFill>
                    </a:lnR>
                    <a:lnT w="9525">
                      <a:solidFill>
                        <a:srgbClr val="000000"/>
                      </a:solidFill>
                    </a:lnT>
                    <a:lnB w="9525">
                      <a:solidFill>
                        <a:srgbClr val="000000"/>
                      </a:solidFill>
                    </a:lnB>
                  </a:tcPr>
                </a:tc>
              </a:tr>
              <a:tr h="457200">
                <a:tc>
                  <a:txBody>
                    <a:bodyPr wrap="square"/>
                    <a:lstStyle/>
                    <a:p>
                      <a:pPr algn="l"/>
                      <a:r>
                        <a:rPr sz="1150" b="0" i="0">
                          <a:solidFill>
                            <a:srgbClr val="111111"/>
                          </a:solidFill>
                          <a:latin typeface="Times New Roman"/>
                        </a:rPr>
                        <a:t>Wearables and flare-ups</a:t>
                      </a:r>
                    </a:p>
                  </a:txBody>
                  <a:tcPr marL="54864" marR="54864" marT="22860" marB="22860" anchor="ctr">
                    <a:solidFill>
                      <a:srgbClr val="FFFFFF"/>
                    </a:solidFill>
                    <a:lnL w="9525">
                      <a:solidFill>
                        <a:srgbClr val="000000"/>
                      </a:solidFill>
                    </a:lnL>
                    <a:lnR w="9525">
                      <a:solidFill>
                        <a:srgbClr val="000000"/>
                      </a:solidFill>
                    </a:lnR>
                    <a:lnT w="9525">
                      <a:solidFill>
                        <a:srgbClr val="000000"/>
                      </a:solidFill>
                    </a:lnT>
                    <a:lnB w="9525">
                      <a:solidFill>
                        <a:srgbClr val="000000"/>
                      </a:solidFill>
                    </a:lnB>
                  </a:tcPr>
                </a:tc>
                <a:tc>
                  <a:txBody>
                    <a:bodyPr wrap="square"/>
                    <a:lstStyle/>
                    <a:p>
                      <a:pPr algn="l"/>
                      <a:r>
                        <a:rPr sz="1150" b="0" i="0">
                          <a:solidFill>
                            <a:srgbClr val="111111"/>
                          </a:solidFill>
                          <a:latin typeface="Times New Roman"/>
                        </a:rPr>
                        <a:t>Simulated; every effect size from a published study</a:t>
                      </a:r>
                    </a:p>
                  </a:txBody>
                  <a:tcPr marL="54864" marR="54864" marT="22860" marB="22860" anchor="ctr">
                    <a:solidFill>
                      <a:srgbClr val="FFFFFF"/>
                    </a:solidFill>
                    <a:lnL w="9525">
                      <a:solidFill>
                        <a:srgbClr val="000000"/>
                      </a:solidFill>
                    </a:lnL>
                    <a:lnR w="9525">
                      <a:solidFill>
                        <a:srgbClr val="000000"/>
                      </a:solidFill>
                    </a:lnR>
                    <a:lnT w="9525">
                      <a:solidFill>
                        <a:srgbClr val="000000"/>
                      </a:solidFill>
                    </a:lnT>
                    <a:lnB w="9525">
                      <a:solidFill>
                        <a:srgbClr val="000000"/>
                      </a:solidFill>
                    </a:lnB>
                  </a:tcPr>
                </a:tc>
                <a:tc>
                  <a:txBody>
                    <a:bodyPr wrap="square"/>
                    <a:lstStyle/>
                    <a:p>
                      <a:pPr algn="l"/>
                      <a:r>
                        <a:rPr sz="1150" b="0" i="0">
                          <a:solidFill>
                            <a:srgbClr val="111111"/>
                          </a:solidFill>
                          <a:latin typeface="Times New Roman"/>
                        </a:rPr>
                        <a:t>Synthetic</a:t>
                      </a:r>
                    </a:p>
                  </a:txBody>
                  <a:tcPr marL="54864" marR="54864" marT="22860" marB="22860" anchor="ctr">
                    <a:solidFill>
                      <a:srgbClr val="FFFFFF"/>
                    </a:solidFill>
                    <a:lnL w="9525">
                      <a:solidFill>
                        <a:srgbClr val="000000"/>
                      </a:solidFill>
                    </a:lnL>
                    <a:lnR w="9525">
                      <a:solidFill>
                        <a:srgbClr val="000000"/>
                      </a:solidFill>
                    </a:lnR>
                    <a:lnT w="9525">
                      <a:solidFill>
                        <a:srgbClr val="000000"/>
                      </a:solidFill>
                    </a:lnT>
                    <a:lnB w="9525">
                      <a:solidFill>
                        <a:srgbClr val="000000"/>
                      </a:solidFill>
                    </a:lnB>
                  </a:tcPr>
                </a:tc>
                <a:tc>
                  <a:txBody>
                    <a:bodyPr wrap="square"/>
                    <a:lstStyle/>
                    <a:p>
                      <a:pPr algn="l"/>
                      <a:r>
                        <a:rPr sz="1150" b="0" i="0">
                          <a:solidFill>
                            <a:srgbClr val="111111"/>
                          </a:solidFill>
                          <a:latin typeface="Times New Roman"/>
                        </a:rPr>
                        <a:t>Ours (MIT)</a:t>
                      </a:r>
                    </a:p>
                  </a:txBody>
                  <a:tcPr marL="54864" marR="54864" marT="22860" marB="22860" anchor="ctr">
                    <a:solidFill>
                      <a:srgbClr val="FFFFFF"/>
                    </a:solidFill>
                    <a:lnL w="9525">
                      <a:solidFill>
                        <a:srgbClr val="000000"/>
                      </a:solidFill>
                    </a:lnL>
                    <a:lnR w="9525">
                      <a:solidFill>
                        <a:srgbClr val="000000"/>
                      </a:solidFill>
                    </a:lnR>
                    <a:lnT w="9525">
                      <a:solidFill>
                        <a:srgbClr val="000000"/>
                      </a:solidFill>
                    </a:lnT>
                    <a:lnB w="9525">
                      <a:solidFill>
                        <a:srgbClr val="000000"/>
                      </a:solidFill>
                    </a:lnB>
                  </a:tcPr>
                </a:tc>
              </a:tr>
              <a:tr h="457200">
                <a:tc>
                  <a:txBody>
                    <a:bodyPr wrap="square"/>
                    <a:lstStyle/>
                    <a:p>
                      <a:pPr algn="l"/>
                      <a:r>
                        <a:rPr sz="1150" b="0" i="0">
                          <a:solidFill>
                            <a:srgbClr val="111111"/>
                          </a:solidFill>
                          <a:latin typeface="Times New Roman"/>
                        </a:rPr>
                        <a:t>Air quality</a:t>
                      </a:r>
                    </a:p>
                  </a:txBody>
                  <a:tcPr marL="54864" marR="54864" marT="22860" marB="22860" anchor="ctr">
                    <a:solidFill>
                      <a:srgbClr val="FFFFFF"/>
                    </a:solidFill>
                    <a:lnL w="9525">
                      <a:solidFill>
                        <a:srgbClr val="000000"/>
                      </a:solidFill>
                    </a:lnL>
                    <a:lnR w="9525">
                      <a:solidFill>
                        <a:srgbClr val="000000"/>
                      </a:solidFill>
                    </a:lnR>
                    <a:lnT w="9525">
                      <a:solidFill>
                        <a:srgbClr val="000000"/>
                      </a:solidFill>
                    </a:lnT>
                    <a:lnB w="9525">
                      <a:solidFill>
                        <a:srgbClr val="000000"/>
                      </a:solidFill>
                    </a:lnB>
                  </a:tcPr>
                </a:tc>
                <a:tc>
                  <a:txBody>
                    <a:bodyPr wrap="square"/>
                    <a:lstStyle/>
                    <a:p>
                      <a:pPr algn="l"/>
                      <a:r>
                        <a:rPr sz="1150" b="0" i="0">
                          <a:solidFill>
                            <a:srgbClr val="111111"/>
                          </a:solidFill>
                          <a:latin typeface="Times New Roman"/>
                        </a:rPr>
                        <a:t>CPCB daily PM2.5, 8 cities (Kaggle 'Air Quality Data in India')</a:t>
                      </a:r>
                    </a:p>
                  </a:txBody>
                  <a:tcPr marL="54864" marR="54864" marT="22860" marB="22860" anchor="ctr">
                    <a:solidFill>
                      <a:srgbClr val="FFFFFF"/>
                    </a:solidFill>
                    <a:lnL w="9525">
                      <a:solidFill>
                        <a:srgbClr val="000000"/>
                      </a:solidFill>
                    </a:lnL>
                    <a:lnR w="9525">
                      <a:solidFill>
                        <a:srgbClr val="000000"/>
                      </a:solidFill>
                    </a:lnR>
                    <a:lnT w="9525">
                      <a:solidFill>
                        <a:srgbClr val="000000"/>
                      </a:solidFill>
                    </a:lnT>
                    <a:lnB w="9525">
                      <a:solidFill>
                        <a:srgbClr val="000000"/>
                      </a:solidFill>
                    </a:lnB>
                  </a:tcPr>
                </a:tc>
                <a:tc>
                  <a:txBody>
                    <a:bodyPr wrap="square"/>
                    <a:lstStyle/>
                    <a:p>
                      <a:pPr algn="l"/>
                      <a:r>
                        <a:rPr sz="1150" b="1" i="0">
                          <a:solidFill>
                            <a:srgbClr val="111111"/>
                          </a:solidFill>
                          <a:latin typeface="Times New Roman"/>
                        </a:rPr>
                        <a:t>Real</a:t>
                      </a:r>
                    </a:p>
                  </a:txBody>
                  <a:tcPr marL="54864" marR="54864" marT="22860" marB="22860" anchor="ctr">
                    <a:solidFill>
                      <a:srgbClr val="FFFFFF"/>
                    </a:solidFill>
                    <a:lnL w="9525">
                      <a:solidFill>
                        <a:srgbClr val="000000"/>
                      </a:solidFill>
                    </a:lnL>
                    <a:lnR w="9525">
                      <a:solidFill>
                        <a:srgbClr val="000000"/>
                      </a:solidFill>
                    </a:lnR>
                    <a:lnT w="9525">
                      <a:solidFill>
                        <a:srgbClr val="000000"/>
                      </a:solidFill>
                    </a:lnT>
                    <a:lnB w="9525">
                      <a:solidFill>
                        <a:srgbClr val="000000"/>
                      </a:solidFill>
                    </a:lnB>
                  </a:tcPr>
                </a:tc>
                <a:tc>
                  <a:txBody>
                    <a:bodyPr wrap="square"/>
                    <a:lstStyle/>
                    <a:p>
                      <a:pPr algn="l"/>
                      <a:r>
                        <a:rPr sz="1150" b="0" i="0">
                          <a:solidFill>
                            <a:srgbClr val="111111"/>
                          </a:solidFill>
                          <a:latin typeface="Times New Roman"/>
                        </a:rPr>
                        <a:t>CC0</a:t>
                      </a:r>
                    </a:p>
                  </a:txBody>
                  <a:tcPr marL="54864" marR="54864" marT="22860" marB="22860" anchor="ctr">
                    <a:solidFill>
                      <a:srgbClr val="FFFFFF"/>
                    </a:solidFill>
                    <a:lnL w="9525">
                      <a:solidFill>
                        <a:srgbClr val="000000"/>
                      </a:solidFill>
                    </a:lnL>
                    <a:lnR w="9525">
                      <a:solidFill>
                        <a:srgbClr val="000000"/>
                      </a:solidFill>
                    </a:lnR>
                    <a:lnT w="9525">
                      <a:solidFill>
                        <a:srgbClr val="000000"/>
                      </a:solidFill>
                    </a:lnT>
                    <a:lnB w="9525">
                      <a:solidFill>
                        <a:srgbClr val="000000"/>
                      </a:solidFill>
                    </a:lnB>
                  </a:tcPr>
                </a:tc>
              </a:tr>
              <a:tr h="457200">
                <a:tc>
                  <a:txBody>
                    <a:bodyPr wrap="square"/>
                    <a:lstStyle/>
                    <a:p>
                      <a:pPr algn="l"/>
                      <a:r>
                        <a:rPr sz="1150" b="0" i="0">
                          <a:solidFill>
                            <a:srgbClr val="111111"/>
                          </a:solidFill>
                          <a:latin typeface="Times New Roman"/>
                        </a:rPr>
                        <a:t>Weather</a:t>
                      </a:r>
                    </a:p>
                  </a:txBody>
                  <a:tcPr marL="54864" marR="54864" marT="22860" marB="22860" anchor="ctr">
                    <a:solidFill>
                      <a:srgbClr val="FFFFFF"/>
                    </a:solidFill>
                    <a:lnL w="9525">
                      <a:solidFill>
                        <a:srgbClr val="000000"/>
                      </a:solidFill>
                    </a:lnL>
                    <a:lnR w="9525">
                      <a:solidFill>
                        <a:srgbClr val="000000"/>
                      </a:solidFill>
                    </a:lnR>
                    <a:lnT w="9525">
                      <a:solidFill>
                        <a:srgbClr val="000000"/>
                      </a:solidFill>
                    </a:lnT>
                    <a:lnB w="9525">
                      <a:solidFill>
                        <a:srgbClr val="000000"/>
                      </a:solidFill>
                    </a:lnB>
                  </a:tcPr>
                </a:tc>
                <a:tc>
                  <a:txBody>
                    <a:bodyPr wrap="square"/>
                    <a:lstStyle/>
                    <a:p>
                      <a:pPr algn="l"/>
                      <a:r>
                        <a:rPr sz="1150" b="0" i="0">
                          <a:solidFill>
                            <a:srgbClr val="111111"/>
                          </a:solidFill>
                          <a:latin typeface="Times New Roman"/>
                        </a:rPr>
                        <a:t>Open-Meteo archive: temperature, humidity</a:t>
                      </a:r>
                    </a:p>
                  </a:txBody>
                  <a:tcPr marL="54864" marR="54864" marT="22860" marB="22860" anchor="ctr">
                    <a:solidFill>
                      <a:srgbClr val="FFFFFF"/>
                    </a:solidFill>
                    <a:lnL w="9525">
                      <a:solidFill>
                        <a:srgbClr val="000000"/>
                      </a:solidFill>
                    </a:lnL>
                    <a:lnR w="9525">
                      <a:solidFill>
                        <a:srgbClr val="000000"/>
                      </a:solidFill>
                    </a:lnR>
                    <a:lnT w="9525">
                      <a:solidFill>
                        <a:srgbClr val="000000"/>
                      </a:solidFill>
                    </a:lnT>
                    <a:lnB w="9525">
                      <a:solidFill>
                        <a:srgbClr val="000000"/>
                      </a:solidFill>
                    </a:lnB>
                  </a:tcPr>
                </a:tc>
                <a:tc>
                  <a:txBody>
                    <a:bodyPr wrap="square"/>
                    <a:lstStyle/>
                    <a:p>
                      <a:pPr algn="l"/>
                      <a:r>
                        <a:rPr sz="1150" b="1" i="0">
                          <a:solidFill>
                            <a:srgbClr val="111111"/>
                          </a:solidFill>
                          <a:latin typeface="Times New Roman"/>
                        </a:rPr>
                        <a:t>Real</a:t>
                      </a:r>
                    </a:p>
                  </a:txBody>
                  <a:tcPr marL="54864" marR="54864" marT="22860" marB="22860" anchor="ctr">
                    <a:solidFill>
                      <a:srgbClr val="FFFFFF"/>
                    </a:solidFill>
                    <a:lnL w="9525">
                      <a:solidFill>
                        <a:srgbClr val="000000"/>
                      </a:solidFill>
                    </a:lnL>
                    <a:lnR w="9525">
                      <a:solidFill>
                        <a:srgbClr val="000000"/>
                      </a:solidFill>
                    </a:lnR>
                    <a:lnT w="9525">
                      <a:solidFill>
                        <a:srgbClr val="000000"/>
                      </a:solidFill>
                    </a:lnT>
                    <a:lnB w="9525">
                      <a:solidFill>
                        <a:srgbClr val="000000"/>
                      </a:solidFill>
                    </a:lnB>
                  </a:tcPr>
                </a:tc>
                <a:tc>
                  <a:txBody>
                    <a:bodyPr wrap="square"/>
                    <a:lstStyle/>
                    <a:p>
                      <a:pPr algn="l"/>
                      <a:r>
                        <a:rPr sz="1150" b="0" i="0">
                          <a:solidFill>
                            <a:srgbClr val="111111"/>
                          </a:solidFill>
                          <a:latin typeface="Times New Roman"/>
                        </a:rPr>
                        <a:t>CC BY 4.0</a:t>
                      </a:r>
                    </a:p>
                  </a:txBody>
                  <a:tcPr marL="54864" marR="54864" marT="22860" marB="22860" anchor="ctr">
                    <a:solidFill>
                      <a:srgbClr val="FFFFFF"/>
                    </a:solidFill>
                    <a:lnL w="9525">
                      <a:solidFill>
                        <a:srgbClr val="000000"/>
                      </a:solidFill>
                    </a:lnL>
                    <a:lnR w="9525">
                      <a:solidFill>
                        <a:srgbClr val="000000"/>
                      </a:solidFill>
                    </a:lnR>
                    <a:lnT w="9525">
                      <a:solidFill>
                        <a:srgbClr val="000000"/>
                      </a:solidFill>
                    </a:lnT>
                    <a:lnB w="9525">
                      <a:solidFill>
                        <a:srgbClr val="000000"/>
                      </a:solidFill>
                    </a:lnB>
                  </a:tcPr>
                </a:tc>
              </a:tr>
              <a:tr h="457200">
                <a:tc>
                  <a:txBody>
                    <a:bodyPr wrap="square"/>
                    <a:lstStyle/>
                    <a:p>
                      <a:pPr algn="l"/>
                      <a:r>
                        <a:rPr sz="1150" b="0" i="0">
                          <a:solidFill>
                            <a:srgbClr val="111111"/>
                          </a:solidFill>
                          <a:latin typeface="Times New Roman"/>
                        </a:rPr>
                        <a:t>Real-data check</a:t>
                      </a:r>
                    </a:p>
                  </a:txBody>
                  <a:tcPr marL="54864" marR="54864" marT="22860" marB="22860" anchor="ctr">
                    <a:solidFill>
                      <a:srgbClr val="FFFFFF"/>
                    </a:solidFill>
                    <a:lnL w="9525">
                      <a:solidFill>
                        <a:srgbClr val="000000"/>
                      </a:solidFill>
                    </a:lnL>
                    <a:lnR w="9525">
                      <a:solidFill>
                        <a:srgbClr val="000000"/>
                      </a:solidFill>
                    </a:lnR>
                    <a:lnT w="9525">
                      <a:solidFill>
                        <a:srgbClr val="000000"/>
                      </a:solidFill>
                    </a:lnT>
                    <a:lnB w="9525">
                      <a:solidFill>
                        <a:srgbClr val="000000"/>
                      </a:solidFill>
                    </a:lnB>
                  </a:tcPr>
                </a:tc>
                <a:tc>
                  <a:txBody>
                    <a:bodyPr wrap="square"/>
                    <a:lstStyle/>
                    <a:p>
                      <a:pPr algn="l"/>
                      <a:r>
                        <a:rPr sz="1150" b="0" i="0">
                          <a:solidFill>
                            <a:srgbClr val="111111"/>
                          </a:solidFill>
                          <a:latin typeface="Times New Roman"/>
                        </a:rPr>
                        <a:t>MIMIC-IV Clinical Database Demo v2.2 (14 COPD patients)</a:t>
                      </a:r>
                    </a:p>
                  </a:txBody>
                  <a:tcPr marL="54864" marR="54864" marT="22860" marB="22860" anchor="ctr">
                    <a:solidFill>
                      <a:srgbClr val="FFFFFF"/>
                    </a:solidFill>
                    <a:lnL w="9525">
                      <a:solidFill>
                        <a:srgbClr val="000000"/>
                      </a:solidFill>
                    </a:lnL>
                    <a:lnR w="9525">
                      <a:solidFill>
                        <a:srgbClr val="000000"/>
                      </a:solidFill>
                    </a:lnR>
                    <a:lnT w="9525">
                      <a:solidFill>
                        <a:srgbClr val="000000"/>
                      </a:solidFill>
                    </a:lnT>
                    <a:lnB w="9525">
                      <a:solidFill>
                        <a:srgbClr val="000000"/>
                      </a:solidFill>
                    </a:lnB>
                  </a:tcPr>
                </a:tc>
                <a:tc>
                  <a:txBody>
                    <a:bodyPr wrap="square"/>
                    <a:lstStyle/>
                    <a:p>
                      <a:pPr algn="l"/>
                      <a:r>
                        <a:rPr sz="1150" b="1" i="0">
                          <a:solidFill>
                            <a:srgbClr val="111111"/>
                          </a:solidFill>
                          <a:latin typeface="Times New Roman"/>
                        </a:rPr>
                        <a:t>Real</a:t>
                      </a:r>
                      <a:r>
                        <a:rPr sz="1150" b="0" i="0">
                          <a:solidFill>
                            <a:srgbClr val="111111"/>
                          </a:solidFill>
                          <a:latin typeface="Times New Roman"/>
                        </a:rPr>
                        <a:t>, aggregate only</a:t>
                      </a:r>
                    </a:p>
                  </a:txBody>
                  <a:tcPr marL="54864" marR="54864" marT="22860" marB="22860" anchor="ctr">
                    <a:solidFill>
                      <a:srgbClr val="FFFFFF"/>
                    </a:solidFill>
                    <a:lnL w="9525">
                      <a:solidFill>
                        <a:srgbClr val="000000"/>
                      </a:solidFill>
                    </a:lnL>
                    <a:lnR w="9525">
                      <a:solidFill>
                        <a:srgbClr val="000000"/>
                      </a:solidFill>
                    </a:lnR>
                    <a:lnT w="9525">
                      <a:solidFill>
                        <a:srgbClr val="000000"/>
                      </a:solidFill>
                    </a:lnT>
                    <a:lnB w="9525">
                      <a:solidFill>
                        <a:srgbClr val="000000"/>
                      </a:solidFill>
                    </a:lnB>
                  </a:tcPr>
                </a:tc>
                <a:tc>
                  <a:txBody>
                    <a:bodyPr wrap="square"/>
                    <a:lstStyle/>
                    <a:p>
                      <a:pPr algn="l"/>
                      <a:r>
                        <a:rPr sz="1150" b="0" i="0">
                          <a:solidFill>
                            <a:srgbClr val="111111"/>
                          </a:solidFill>
                          <a:latin typeface="Times New Roman"/>
                        </a:rPr>
                        <a:t>ODbL 1.0</a:t>
                      </a:r>
                    </a:p>
                  </a:txBody>
                  <a:tcPr marL="54864" marR="54864" marT="22860" marB="22860" anchor="ctr">
                    <a:solidFill>
                      <a:srgbClr val="FFFFFF"/>
                    </a:solidFill>
                    <a:lnL w="9525">
                      <a:solidFill>
                        <a:srgbClr val="000000"/>
                      </a:solidFill>
                    </a:lnL>
                    <a:lnR w="9525">
                      <a:solidFill>
                        <a:srgbClr val="000000"/>
                      </a:solidFill>
                    </a:lnR>
                    <a:lnT w="9525">
                      <a:solidFill>
                        <a:srgbClr val="000000"/>
                      </a:solidFill>
                    </a:lnT>
                    <a:lnB w="9525">
                      <a:solidFill>
                        <a:srgbClr val="000000"/>
                      </a:solidFill>
                    </a:lnB>
                  </a:tcPr>
                </a:tc>
              </a:tr>
            </a:tbl>
          </a:graphicData>
        </a:graphic>
      </p:graphicFrame>
      <p:sp>
        <p:nvSpPr>
          <p:cNvPr id="12" name="MIMIC box"/>
          <p:cNvSpPr/>
          <p:nvPr/>
        </p:nvSpPr>
        <p:spPr>
          <a:xfrm>
            <a:off x="731520" y="5376672"/>
            <a:ext cx="6172200" cy="411480"/>
          </a:xfrm>
          <a:prstGeom prst="roundRect">
            <a:avLst>
              <a:gd name="adj" fmla="val 30000"/>
            </a:avLst>
          </a:prstGeom>
          <a:solidFill>
            <a:srgbClr val="FFFFFF"/>
          </a:solidFill>
          <a:ln w="12700">
            <a:solidFill>
              <a:srgbClr val="40404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22960" y="5394960"/>
            <a:ext cx="6035040" cy="384048"/>
          </a:xfrm>
          <a:prstGeom prst="rect">
            <a:avLst/>
          </a:prstGeom>
          <a:noFill/>
        </p:spPr>
        <p:txBody>
          <a:bodyPr wrap="square" anchor="ctr" lIns="54864" rIns="54864" tIns="27432" bIns="27432">
            <a:spAutoFit/>
          </a:bodyPr>
          <a:lstStyle/>
          <a:p>
            <a:pPr algn="l">
              <a:spcAft>
                <a:spcPts val="300"/>
              </a:spcAft>
              <a:buNone/>
            </a:pPr>
            <a:r>
              <a:rPr sz="1150" b="1" i="0">
                <a:solidFill>
                  <a:srgbClr val="111111"/>
                </a:solidFill>
                <a:latin typeface="Times New Roman"/>
              </a:rPr>
              <a:t>Real-data check:</a:t>
            </a:r>
            <a:r>
              <a:rPr sz="1150" b="0" i="0">
                <a:solidFill>
                  <a:srgbClr val="111111"/>
                </a:solidFill>
                <a:latin typeface="Times New Roman"/>
              </a:rPr>
              <a:t> sex mix and heart disease match real patients; heart failure and diabetes are lower in synthetic records.</a:t>
            </a:r>
          </a:p>
        </p:txBody>
      </p:sp>
      <p:sp>
        <p:nvSpPr>
          <p:cNvPr id="14" name="Tag: Our Patient Cohort (400)"/>
          <p:cNvSpPr/>
          <p:nvPr/>
        </p:nvSpPr>
        <p:spPr>
          <a:xfrm>
            <a:off x="7132320" y="2011680"/>
            <a:ext cx="4343400" cy="411480"/>
          </a:xfrm>
          <a:prstGeom prst="rect">
            <a:avLst/>
          </a:prstGeom>
          <a:solidFill>
            <a:srgbClr val="FFE699"/>
          </a:solidFill>
          <a:ln w="12700">
            <a:solidFill>
              <a:srgbClr val="F4B183"/>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600" b="1" i="0">
                <a:solidFill>
                  <a:srgbClr val="111111"/>
                </a:solidFill>
                <a:latin typeface="Times New Roman"/>
              </a:rPr>
              <a:t>Our Patient Cohort (400)</a:t>
            </a:r>
          </a:p>
        </p:txBody>
      </p:sp>
      <p:graphicFrame>
        <p:nvGraphicFramePr>
          <p:cNvPr id="15" name="Age chart"/>
          <p:cNvGraphicFramePr>
            <a:graphicFrameLocks noGrp="1"/>
          </p:cNvGraphicFramePr>
          <p:nvPr/>
        </p:nvGraphicFramePr>
        <p:xfrm>
          <a:off x="7132320" y="2487168"/>
          <a:ext cx="4343400" cy="2514600"/>
        </p:xfrm>
        <a:graphic>
          <a:graphicData uri="http://schemas.openxmlformats.org/drawingml/2006/chart">
            <c:chart xmlns:c="http://schemas.openxmlformats.org/drawingml/2006/chart" r:id="rId4"/>
          </a:graphicData>
        </a:graphic>
      </p:graphicFrame>
      <p:sp>
        <p:nvSpPr>
          <p:cNvPr id="16" name="Cohort text"/>
          <p:cNvSpPr txBox="1"/>
          <p:nvPr/>
        </p:nvSpPr>
        <p:spPr>
          <a:xfrm>
            <a:off x="7178040" y="5029200"/>
            <a:ext cx="4297680" cy="777240"/>
          </a:xfrm>
          <a:prstGeom prst="rect">
            <a:avLst/>
          </a:prstGeom>
          <a:noFill/>
        </p:spPr>
        <p:txBody>
          <a:bodyPr wrap="square" anchor="t" lIns="54864" rIns="54864" tIns="27432" bIns="27432">
            <a:spAutoFit/>
          </a:bodyPr>
          <a:lstStyle/>
          <a:p>
            <a:pPr algn="l" marL="164592" indent="-164592">
              <a:spcAft>
                <a:spcPts val="100"/>
              </a:spcAft>
              <a:buChar char="•"/>
            </a:pPr>
            <a:r>
              <a:rPr sz="1150" b="0" i="0">
                <a:solidFill>
                  <a:srgbClr val="111111"/>
                </a:solidFill>
                <a:latin typeface="Times New Roman"/>
              </a:rPr>
              <a:t>Severity GOLD 1 / 2 / 3 / 4: </a:t>
            </a:r>
            <a:r>
              <a:rPr sz="1150" b="1" i="0">
                <a:solidFill>
                  <a:srgbClr val="111111"/>
                </a:solidFill>
                <a:latin typeface="Times New Roman"/>
              </a:rPr>
              <a:t>17% / 42% / 29% / 12%</a:t>
            </a:r>
          </a:p>
          <a:p>
            <a:pPr algn="l" marL="164592" indent="-164592">
              <a:spcAft>
                <a:spcPts val="100"/>
              </a:spcAft>
              <a:buChar char="•"/>
            </a:pPr>
            <a:r>
              <a:rPr sz="1150" b="0" i="0">
                <a:solidFill>
                  <a:srgbClr val="111111"/>
                </a:solidFill>
                <a:latin typeface="Times New Roman"/>
              </a:rPr>
              <a:t>Current smokers </a:t>
            </a:r>
            <a:r>
              <a:rPr sz="1150" b="1" i="0">
                <a:solidFill>
                  <a:srgbClr val="111111"/>
                </a:solidFill>
                <a:latin typeface="Times New Roman"/>
              </a:rPr>
              <a:t>18%</a:t>
            </a:r>
            <a:r>
              <a:rPr sz="1150" b="0" i="0">
                <a:solidFill>
                  <a:srgbClr val="111111"/>
                </a:solidFill>
                <a:latin typeface="Times New Roman"/>
              </a:rPr>
              <a:t> · cooking smoke at home </a:t>
            </a:r>
            <a:r>
              <a:rPr sz="1150" b="1" i="0">
                <a:solidFill>
                  <a:srgbClr val="111111"/>
                </a:solidFill>
                <a:latin typeface="Times New Roman"/>
              </a:rPr>
              <a:t>31%</a:t>
            </a:r>
            <a:r>
              <a:rPr sz="1150" b="0" i="0">
                <a:solidFill>
                  <a:srgbClr val="111111"/>
                </a:solidFill>
                <a:latin typeface="Times New Roman"/>
              </a:rPr>
              <a:t> · 8 cities</a:t>
            </a:r>
          </a:p>
        </p:txBody>
      </p:sp>
      <p:sp>
        <p:nvSpPr>
          <p:cNvPr id="17" name="Takeaway banner"/>
          <p:cNvSpPr/>
          <p:nvPr/>
        </p:nvSpPr>
        <p:spPr>
          <a:xfrm>
            <a:off x="731520" y="5870448"/>
            <a:ext cx="10744200" cy="658368"/>
          </a:xfrm>
          <a:prstGeom prst="rect">
            <a:avLst/>
          </a:prstGeom>
          <a:solidFill>
            <a:srgbClr val="FFE699"/>
          </a:solidFill>
          <a:ln w="12700">
            <a:solidFill>
              <a:srgbClr val="F4B183"/>
            </a:solid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1700" b="1" i="0">
                <a:solidFill>
                  <a:srgbClr val="111111"/>
                </a:solidFill>
                <a:latin typeface="Times New Roman"/>
              </a:rPr>
              <a:t>Honest by design:</a:t>
            </a:r>
          </a:p>
          <a:p>
            <a:pPr algn="ctr"/>
            <a:r>
              <a:rPr sz="1500" b="0" i="1">
                <a:solidFill>
                  <a:srgbClr val="111111"/>
                </a:solidFill>
                <a:latin typeface="Times New Roman"/>
              </a:rPr>
              <a:t>Air and weather are real; patients, watch readings and flare-ups are simulated, so the results prove the idea works, not clinical accuracy.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descr="bg_content.jpg"/>
          <p:cNvPicPr>
            <a:picLocks noChangeAspect="1"/>
          </p:cNvPicPr>
          <p:nvPr/>
        </p:nvPicPr>
        <p:blipFill>
          <a:blip r:embed="rId2"/>
          <a:stretch>
            <a:fillRect/>
          </a:stretch>
        </p:blipFill>
        <p:spPr>
          <a:xfrm>
            <a:off x="0" y="0"/>
            <a:ext cx="12191695" cy="6858000"/>
          </a:xfrm>
          <a:prstGeom prst="rect">
            <a:avLst/>
          </a:prstGeom>
        </p:spPr>
      </p:pic>
      <p:sp>
        <p:nvSpPr>
          <p:cNvPr id="3" name="BreatheTwin logo"/>
          <p:cNvSpPr/>
          <p:nvPr/>
        </p:nvSpPr>
        <p:spPr>
          <a:xfrm>
            <a:off x="411480" y="201168"/>
            <a:ext cx="3794760" cy="603504"/>
          </a:xfrm>
          <a:prstGeom prst="rect">
            <a:avLst/>
          </a:prstGeom>
          <a:solidFill>
            <a:srgbClr val="0B2A78"/>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Logo mark"/>
          <p:cNvSpPr/>
          <p:nvPr/>
        </p:nvSpPr>
        <p:spPr>
          <a:xfrm>
            <a:off x="475488" y="256032"/>
            <a:ext cx="493776" cy="4937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900" b="1">
                <a:solidFill>
                  <a:srgbClr val="B23A2E"/>
                </a:solidFill>
                <a:latin typeface="Arial"/>
              </a:rPr>
              <a:t>BT</a:t>
            </a:r>
          </a:p>
        </p:txBody>
      </p:sp>
      <p:sp>
        <p:nvSpPr>
          <p:cNvPr id="5" name="Logo text"/>
          <p:cNvSpPr txBox="1"/>
          <p:nvPr/>
        </p:nvSpPr>
        <p:spPr>
          <a:xfrm>
            <a:off x="1024128" y="182880"/>
            <a:ext cx="3154680" cy="457200"/>
          </a:xfrm>
          <a:prstGeom prst="rect">
            <a:avLst/>
          </a:prstGeom>
          <a:noFill/>
        </p:spPr>
        <p:txBody>
          <a:bodyPr wrap="none" lIns="0" tIns="0" bIns="0">
            <a:spAutoFit/>
          </a:bodyPr>
          <a:lstStyle/>
          <a:p>
            <a:r>
              <a:rPr sz="2500" b="1">
                <a:solidFill>
                  <a:srgbClr val="FFFFFF"/>
                </a:solidFill>
                <a:latin typeface="Arial"/>
              </a:rPr>
              <a:t>BREATHETWIN</a:t>
            </a:r>
          </a:p>
        </p:txBody>
      </p:sp>
      <p:sp>
        <p:nvSpPr>
          <p:cNvPr id="6" name="Logo sub"/>
          <p:cNvSpPr txBox="1"/>
          <p:nvPr/>
        </p:nvSpPr>
        <p:spPr>
          <a:xfrm>
            <a:off x="1024128" y="585216"/>
            <a:ext cx="3108960" cy="219456"/>
          </a:xfrm>
          <a:prstGeom prst="rect">
            <a:avLst/>
          </a:prstGeom>
          <a:noFill/>
        </p:spPr>
        <p:txBody>
          <a:bodyPr wrap="none" lIns="0" tIns="0" bIns="0" rIns="0">
            <a:spAutoFit/>
          </a:bodyPr>
          <a:lstStyle/>
          <a:p>
            <a:pPr algn="r"/>
            <a:r>
              <a:rPr sz="900" b="1">
                <a:solidFill>
                  <a:srgbClr val="FFFFFF"/>
                </a:solidFill>
                <a:latin typeface="Arial"/>
              </a:rPr>
              <a:t>TEAM MOMENTUM</a:t>
            </a:r>
          </a:p>
        </p:txBody>
      </p:sp>
      <p:sp>
        <p:nvSpPr>
          <p:cNvPr id="7" name="Logo tagline"/>
          <p:cNvSpPr txBox="1"/>
          <p:nvPr/>
        </p:nvSpPr>
        <p:spPr>
          <a:xfrm>
            <a:off x="566928" y="822960"/>
            <a:ext cx="4023360" cy="274320"/>
          </a:xfrm>
          <a:prstGeom prst="rect">
            <a:avLst/>
          </a:prstGeom>
          <a:noFill/>
        </p:spPr>
        <p:txBody>
          <a:bodyPr wrap="none" lIns="0" tIns="0" bIns="0">
            <a:spAutoFit/>
          </a:bodyPr>
          <a:lstStyle/>
          <a:p>
            <a:r>
              <a:rPr sz="1300" b="1" i="1">
                <a:solidFill>
                  <a:srgbClr val="FFFFFF"/>
                </a:solidFill>
                <a:latin typeface="Arial"/>
              </a:rPr>
              <a:t>EARLY WARNING. EASIER BREATHING.</a:t>
            </a:r>
          </a:p>
        </p:txBody>
      </p:sp>
      <p:sp>
        <p:nvSpPr>
          <p:cNvPr id="8" name="Content panel"/>
          <p:cNvSpPr/>
          <p:nvPr/>
        </p:nvSpPr>
        <p:spPr>
          <a:xfrm>
            <a:off x="502920" y="1115568"/>
            <a:ext cx="11201400" cy="5559552"/>
          </a:xfrm>
          <a:prstGeom prst="rect">
            <a:avLst/>
          </a:prstGeom>
          <a:solidFill>
            <a:srgbClr val="FFFFFF"/>
          </a:solidFill>
          <a:ln w="12700">
            <a:solidFill>
              <a:srgbClr val="F4B18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itle box"/>
          <p:cNvSpPr/>
          <p:nvPr/>
        </p:nvSpPr>
        <p:spPr>
          <a:xfrm>
            <a:off x="731520" y="1225296"/>
            <a:ext cx="10744200" cy="658368"/>
          </a:xfrm>
          <a:prstGeom prst="rect">
            <a:avLst/>
          </a:prstGeom>
          <a:solidFill>
            <a:srgbClr val="FFFFFF"/>
          </a:solidFill>
          <a:ln w="12700">
            <a:solidFill>
              <a:srgbClr val="40404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i="0">
                <a:solidFill>
                  <a:srgbClr val="111111"/>
                </a:solidFill>
                <a:latin typeface="Times New Roman"/>
              </a:rPr>
              <a:t>How much of our data is real, and what each part is used for</a:t>
            </a:r>
          </a:p>
        </p:txBody>
      </p:sp>
      <p:sp>
        <p:nvSpPr>
          <p:cNvPr id="10" name="Tag: Every data stream, real or synthetic"/>
          <p:cNvSpPr/>
          <p:nvPr/>
        </p:nvSpPr>
        <p:spPr>
          <a:xfrm>
            <a:off x="731520" y="2011680"/>
            <a:ext cx="7315200" cy="411480"/>
          </a:xfrm>
          <a:prstGeom prst="rect">
            <a:avLst/>
          </a:prstGeom>
          <a:solidFill>
            <a:srgbClr val="FFE699"/>
          </a:solidFill>
          <a:ln w="12700">
            <a:solidFill>
              <a:srgbClr val="F4B183"/>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600" b="1" i="0">
                <a:solidFill>
                  <a:srgbClr val="111111"/>
                </a:solidFill>
                <a:latin typeface="Times New Roman"/>
              </a:rPr>
              <a:t>Every data stream, real or synthetic</a:t>
            </a:r>
          </a:p>
        </p:txBody>
      </p:sp>
      <p:graphicFrame>
        <p:nvGraphicFramePr>
          <p:cNvPr id="11" name="Data table"/>
          <p:cNvGraphicFramePr>
            <a:graphicFrameLocks noGrp="1"/>
          </p:cNvGraphicFramePr>
          <p:nvPr/>
        </p:nvGraphicFramePr>
        <p:xfrm>
          <a:off x="731520" y="2542032"/>
          <a:ext cx="7315200" cy="3072384"/>
        </p:xfrm>
        <a:graphic>
          <a:graphicData uri="http://schemas.openxmlformats.org/drawingml/2006/table">
            <a:tbl>
              <a:tblPr>
                <a:tableStyleId>{5C22544A-7EE6-4342-B048-85BDC9FD1C3A}</a:tableStyleId>
              </a:tblPr>
              <a:tblGrid>
                <a:gridCol w="2331720"/>
                <a:gridCol w="822960"/>
                <a:gridCol w="2606040"/>
                <a:gridCol w="1554480"/>
              </a:tblGrid>
              <a:tr h="384048">
                <a:tc>
                  <a:txBody>
                    <a:bodyPr wrap="square"/>
                    <a:lstStyle/>
                    <a:p>
                      <a:pPr algn="ctr"/>
                      <a:r>
                        <a:rPr sz="1150" b="1">
                          <a:solidFill>
                            <a:srgbClr val="111111"/>
                          </a:solidFill>
                          <a:latin typeface="Times New Roman"/>
                        </a:rPr>
                        <a:t>Data</a:t>
                      </a:r>
                    </a:p>
                  </a:txBody>
                  <a:tcPr marL="54864" marR="54864" marT="22860" marB="22860" anchor="ctr">
                    <a:lnL w="9525">
                      <a:solidFill>
                        <a:srgbClr val="000000"/>
                      </a:solidFill>
                    </a:lnL>
                    <a:lnR w="9525">
                      <a:solidFill>
                        <a:srgbClr val="000000"/>
                      </a:solidFill>
                    </a:lnR>
                    <a:lnT w="9525">
                      <a:solidFill>
                        <a:srgbClr val="000000"/>
                      </a:solidFill>
                    </a:lnT>
                    <a:lnB w="9525">
                      <a:solidFill>
                        <a:srgbClr val="000000"/>
                      </a:solidFill>
                    </a:lnB>
                    <a:solidFill>
                      <a:srgbClr val="8EA9DB"/>
                    </a:solidFill>
                  </a:tcPr>
                </a:tc>
                <a:tc>
                  <a:txBody>
                    <a:bodyPr wrap="square"/>
                    <a:lstStyle/>
                    <a:p>
                      <a:pPr algn="ctr"/>
                      <a:r>
                        <a:rPr sz="1150" b="1">
                          <a:solidFill>
                            <a:srgbClr val="111111"/>
                          </a:solidFill>
                          <a:latin typeface="Times New Roman"/>
                        </a:rPr>
                        <a:t>Real?</a:t>
                      </a:r>
                    </a:p>
                  </a:txBody>
                  <a:tcPr marL="54864" marR="54864" marT="22860" marB="22860" anchor="ctr">
                    <a:lnL w="9525">
                      <a:solidFill>
                        <a:srgbClr val="000000"/>
                      </a:solidFill>
                    </a:lnL>
                    <a:lnR w="9525">
                      <a:solidFill>
                        <a:srgbClr val="000000"/>
                      </a:solidFill>
                    </a:lnR>
                    <a:lnT w="9525">
                      <a:solidFill>
                        <a:srgbClr val="000000"/>
                      </a:solidFill>
                    </a:lnT>
                    <a:lnB w="9525">
                      <a:solidFill>
                        <a:srgbClr val="000000"/>
                      </a:solidFill>
                    </a:lnB>
                    <a:solidFill>
                      <a:srgbClr val="8EA9DB"/>
                    </a:solidFill>
                  </a:tcPr>
                </a:tc>
                <a:tc>
                  <a:txBody>
                    <a:bodyPr wrap="square"/>
                    <a:lstStyle/>
                    <a:p>
                      <a:pPr algn="ctr"/>
                      <a:r>
                        <a:rPr sz="1150" b="1">
                          <a:solidFill>
                            <a:srgbClr val="111111"/>
                          </a:solidFill>
                          <a:latin typeface="Times New Roman"/>
                        </a:rPr>
                        <a:t>Size</a:t>
                      </a:r>
                    </a:p>
                  </a:txBody>
                  <a:tcPr marL="54864" marR="54864" marT="22860" marB="22860" anchor="ctr">
                    <a:lnL w="9525">
                      <a:solidFill>
                        <a:srgbClr val="000000"/>
                      </a:solidFill>
                    </a:lnL>
                    <a:lnR w="9525">
                      <a:solidFill>
                        <a:srgbClr val="000000"/>
                      </a:solidFill>
                    </a:lnR>
                    <a:lnT w="9525">
                      <a:solidFill>
                        <a:srgbClr val="000000"/>
                      </a:solidFill>
                    </a:lnT>
                    <a:lnB w="9525">
                      <a:solidFill>
                        <a:srgbClr val="000000"/>
                      </a:solidFill>
                    </a:lnB>
                    <a:solidFill>
                      <a:srgbClr val="8EA9DB"/>
                    </a:solidFill>
                  </a:tcPr>
                </a:tc>
                <a:tc>
                  <a:txBody>
                    <a:bodyPr wrap="square"/>
                    <a:lstStyle/>
                    <a:p>
                      <a:pPr algn="ctr"/>
                      <a:r>
                        <a:rPr sz="1150" b="1">
                          <a:solidFill>
                            <a:srgbClr val="111111"/>
                          </a:solidFill>
                          <a:latin typeface="Times New Roman"/>
                        </a:rPr>
                        <a:t>Used for</a:t>
                      </a:r>
                    </a:p>
                  </a:txBody>
                  <a:tcPr marL="54864" marR="54864" marT="22860" marB="22860" anchor="ctr">
                    <a:lnL w="9525">
                      <a:solidFill>
                        <a:srgbClr val="000000"/>
                      </a:solidFill>
                    </a:lnL>
                    <a:lnR w="9525">
                      <a:solidFill>
                        <a:srgbClr val="000000"/>
                      </a:solidFill>
                    </a:lnR>
                    <a:lnT w="9525">
                      <a:solidFill>
                        <a:srgbClr val="000000"/>
                      </a:solidFill>
                    </a:lnT>
                    <a:lnB w="9525">
                      <a:solidFill>
                        <a:srgbClr val="000000"/>
                      </a:solidFill>
                    </a:lnB>
                    <a:solidFill>
                      <a:srgbClr val="8EA9DB"/>
                    </a:solidFill>
                  </a:tcPr>
                </a:tc>
              </a:tr>
              <a:tr h="384048">
                <a:tc>
                  <a:txBody>
                    <a:bodyPr wrap="square"/>
                    <a:lstStyle/>
                    <a:p>
                      <a:pPr algn="l"/>
                      <a:r>
                        <a:rPr sz="1050" b="0">
                          <a:solidFill>
                            <a:srgbClr val="111111"/>
                          </a:solidFill>
                          <a:latin typeface="Times New Roman"/>
                        </a:rPr>
                        <a:t>City air quality (PM2.5, AQI)</a:t>
                      </a:r>
                    </a:p>
                  </a:txBody>
                  <a:tcPr marL="54864" marR="54864" marT="22860" marB="22860"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wrap="square"/>
                    <a:lstStyle/>
                    <a:p>
                      <a:pPr algn="l"/>
                      <a:r>
                        <a:rPr sz="1050" b="0">
                          <a:solidFill>
                            <a:srgbClr val="111111"/>
                          </a:solidFill>
                          <a:latin typeface="Times New Roman"/>
                        </a:rPr>
                        <a:t>Real</a:t>
                      </a:r>
                    </a:p>
                  </a:txBody>
                  <a:tcPr marL="54864" marR="54864" marT="22860" marB="22860" anchor="ctr">
                    <a:lnL w="9525">
                      <a:solidFill>
                        <a:srgbClr val="000000"/>
                      </a:solidFill>
                    </a:lnL>
                    <a:lnR w="9525">
                      <a:solidFill>
                        <a:srgbClr val="000000"/>
                      </a:solidFill>
                    </a:lnR>
                    <a:lnT w="9525">
                      <a:solidFill>
                        <a:srgbClr val="000000"/>
                      </a:solidFill>
                    </a:lnT>
                    <a:lnB w="9525">
                      <a:solidFill>
                        <a:srgbClr val="000000"/>
                      </a:solidFill>
                    </a:lnB>
                    <a:solidFill>
                      <a:srgbClr val="E2F0D9"/>
                    </a:solidFill>
                  </a:tcPr>
                </a:tc>
                <a:tc>
                  <a:txBody>
                    <a:bodyPr wrap="square"/>
                    <a:lstStyle/>
                    <a:p>
                      <a:pPr algn="l"/>
                      <a:r>
                        <a:rPr sz="1050" b="0">
                          <a:solidFill>
                            <a:srgbClr val="111111"/>
                          </a:solidFill>
                          <a:latin typeface="Times New Roman"/>
                        </a:rPr>
                        <a:t>2,928 city-days, 8 cities (CPCB)</a:t>
                      </a:r>
                    </a:p>
                  </a:txBody>
                  <a:tcPr marL="54864" marR="54864" marT="22860" marB="22860"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wrap="square"/>
                    <a:lstStyle/>
                    <a:p>
                      <a:pPr algn="l"/>
                      <a:r>
                        <a:rPr sz="1050" b="0">
                          <a:solidFill>
                            <a:srgbClr val="111111"/>
                          </a:solidFill>
                          <a:latin typeface="Times New Roman"/>
                        </a:rPr>
                        <a:t>Training + dashboard</a:t>
                      </a:r>
                    </a:p>
                  </a:txBody>
                  <a:tcPr marL="54864" marR="54864" marT="22860" marB="22860"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r>
              <a:tr h="384048">
                <a:tc>
                  <a:txBody>
                    <a:bodyPr wrap="square"/>
                    <a:lstStyle/>
                    <a:p>
                      <a:pPr algn="l"/>
                      <a:r>
                        <a:rPr sz="1050" b="0">
                          <a:solidFill>
                            <a:srgbClr val="111111"/>
                          </a:solidFill>
                          <a:latin typeface="Times New Roman"/>
                        </a:rPr>
                        <a:t>Weather (temperature, humidity)</a:t>
                      </a:r>
                    </a:p>
                  </a:txBody>
                  <a:tcPr marL="54864" marR="54864" marT="22860" marB="22860"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wrap="square"/>
                    <a:lstStyle/>
                    <a:p>
                      <a:pPr algn="l"/>
                      <a:r>
                        <a:rPr sz="1050" b="0">
                          <a:solidFill>
                            <a:srgbClr val="111111"/>
                          </a:solidFill>
                          <a:latin typeface="Times New Roman"/>
                        </a:rPr>
                        <a:t>Real</a:t>
                      </a:r>
                    </a:p>
                  </a:txBody>
                  <a:tcPr marL="54864" marR="54864" marT="22860" marB="22860" anchor="ctr">
                    <a:lnL w="9525">
                      <a:solidFill>
                        <a:srgbClr val="000000"/>
                      </a:solidFill>
                    </a:lnL>
                    <a:lnR w="9525">
                      <a:solidFill>
                        <a:srgbClr val="000000"/>
                      </a:solidFill>
                    </a:lnR>
                    <a:lnT w="9525">
                      <a:solidFill>
                        <a:srgbClr val="000000"/>
                      </a:solidFill>
                    </a:lnT>
                    <a:lnB w="9525">
                      <a:solidFill>
                        <a:srgbClr val="000000"/>
                      </a:solidFill>
                    </a:lnB>
                    <a:solidFill>
                      <a:srgbClr val="E2F0D9"/>
                    </a:solidFill>
                  </a:tcPr>
                </a:tc>
                <a:tc>
                  <a:txBody>
                    <a:bodyPr wrap="square"/>
                    <a:lstStyle/>
                    <a:p>
                      <a:pPr algn="l"/>
                      <a:r>
                        <a:rPr sz="1050" b="0">
                          <a:solidFill>
                            <a:srgbClr val="111111"/>
                          </a:solidFill>
                          <a:latin typeface="Times New Roman"/>
                        </a:rPr>
                        <a:t>2,928 city-days (Open-Meteo)</a:t>
                      </a:r>
                    </a:p>
                  </a:txBody>
                  <a:tcPr marL="54864" marR="54864" marT="22860" marB="22860"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wrap="square"/>
                    <a:lstStyle/>
                    <a:p>
                      <a:pPr algn="l"/>
                      <a:r>
                        <a:rPr sz="1050" b="0">
                          <a:solidFill>
                            <a:srgbClr val="111111"/>
                          </a:solidFill>
                          <a:latin typeface="Times New Roman"/>
                        </a:rPr>
                        <a:t>Training + dashboard</a:t>
                      </a:r>
                    </a:p>
                  </a:txBody>
                  <a:tcPr marL="54864" marR="54864" marT="22860" marB="22860"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r>
              <a:tr h="384048">
                <a:tc>
                  <a:txBody>
                    <a:bodyPr wrap="square"/>
                    <a:lstStyle/>
                    <a:p>
                      <a:pPr algn="l"/>
                      <a:r>
                        <a:rPr sz="1050" b="0">
                          <a:solidFill>
                            <a:srgbClr val="111111"/>
                          </a:solidFill>
                          <a:latin typeface="Times New Roman"/>
                        </a:rPr>
                        <a:t>Health records</a:t>
                      </a:r>
                    </a:p>
                  </a:txBody>
                  <a:tcPr marL="54864" marR="54864" marT="22860" marB="22860"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wrap="square"/>
                    <a:lstStyle/>
                    <a:p>
                      <a:pPr algn="l"/>
                      <a:r>
                        <a:rPr sz="1050" b="0">
                          <a:solidFill>
                            <a:srgbClr val="111111"/>
                          </a:solidFill>
                          <a:latin typeface="Times New Roman"/>
                        </a:rPr>
                        <a:t>Synthetic</a:t>
                      </a:r>
                    </a:p>
                  </a:txBody>
                  <a:tcPr marL="54864" marR="54864" marT="22860" marB="22860" anchor="ctr">
                    <a:lnL w="9525">
                      <a:solidFill>
                        <a:srgbClr val="000000"/>
                      </a:solidFill>
                    </a:lnL>
                    <a:lnR w="9525">
                      <a:solidFill>
                        <a:srgbClr val="000000"/>
                      </a:solidFill>
                    </a:lnR>
                    <a:lnT w="9525">
                      <a:solidFill>
                        <a:srgbClr val="000000"/>
                      </a:solidFill>
                    </a:lnT>
                    <a:lnB w="9525">
                      <a:solidFill>
                        <a:srgbClr val="000000"/>
                      </a:solidFill>
                    </a:lnB>
                    <a:solidFill>
                      <a:srgbClr val="FCE4D6"/>
                    </a:solidFill>
                  </a:tcPr>
                </a:tc>
                <a:tc>
                  <a:txBody>
                    <a:bodyPr wrap="square"/>
                    <a:lstStyle/>
                    <a:p>
                      <a:pPr algn="l"/>
                      <a:r>
                        <a:rPr sz="1050" b="0">
                          <a:solidFill>
                            <a:srgbClr val="111111"/>
                          </a:solidFill>
                          <a:latin typeface="Times New Roman"/>
                        </a:rPr>
                        <a:t>400 patients (Synthea + India overlay)</a:t>
                      </a:r>
                    </a:p>
                  </a:txBody>
                  <a:tcPr marL="54864" marR="54864" marT="22860" marB="22860"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wrap="square"/>
                    <a:lstStyle/>
                    <a:p>
                      <a:pPr algn="l"/>
                      <a:r>
                        <a:rPr sz="1050" b="0">
                          <a:solidFill>
                            <a:srgbClr val="111111"/>
                          </a:solidFill>
                          <a:latin typeface="Times New Roman"/>
                        </a:rPr>
                        <a:t>Training + dashboard</a:t>
                      </a:r>
                    </a:p>
                  </a:txBody>
                  <a:tcPr marL="54864" marR="54864" marT="22860" marB="22860"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r>
              <a:tr h="384048">
                <a:tc>
                  <a:txBody>
                    <a:bodyPr wrap="square"/>
                    <a:lstStyle/>
                    <a:p>
                      <a:pPr algn="l"/>
                      <a:r>
                        <a:rPr sz="1050" b="0">
                          <a:solidFill>
                            <a:srgbClr val="111111"/>
                          </a:solidFill>
                          <a:latin typeface="Times New Roman"/>
                        </a:rPr>
                        <a:t>Watch, oximeter, inhaler readings</a:t>
                      </a:r>
                    </a:p>
                  </a:txBody>
                  <a:tcPr marL="54864" marR="54864" marT="22860" marB="22860"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wrap="square"/>
                    <a:lstStyle/>
                    <a:p>
                      <a:pPr algn="l"/>
                      <a:r>
                        <a:rPr sz="1050" b="0">
                          <a:solidFill>
                            <a:srgbClr val="111111"/>
                          </a:solidFill>
                          <a:latin typeface="Times New Roman"/>
                        </a:rPr>
                        <a:t>Synthetic</a:t>
                      </a:r>
                    </a:p>
                  </a:txBody>
                  <a:tcPr marL="54864" marR="54864" marT="22860" marB="22860" anchor="ctr">
                    <a:lnL w="9525">
                      <a:solidFill>
                        <a:srgbClr val="000000"/>
                      </a:solidFill>
                    </a:lnL>
                    <a:lnR w="9525">
                      <a:solidFill>
                        <a:srgbClr val="000000"/>
                      </a:solidFill>
                    </a:lnR>
                    <a:lnT w="9525">
                      <a:solidFill>
                        <a:srgbClr val="000000"/>
                      </a:solidFill>
                    </a:lnT>
                    <a:lnB w="9525">
                      <a:solidFill>
                        <a:srgbClr val="000000"/>
                      </a:solidFill>
                    </a:lnB>
                    <a:solidFill>
                      <a:srgbClr val="FCE4D6"/>
                    </a:solidFill>
                  </a:tcPr>
                </a:tc>
                <a:tc>
                  <a:txBody>
                    <a:bodyPr wrap="square"/>
                    <a:lstStyle/>
                    <a:p>
                      <a:pPr algn="l"/>
                      <a:r>
                        <a:rPr sz="1050" b="0">
                          <a:solidFill>
                            <a:srgbClr val="111111"/>
                          </a:solidFill>
                          <a:latin typeface="Times New Roman"/>
                        </a:rPr>
                        <a:t>146,400 patient-days, from studies</a:t>
                      </a:r>
                    </a:p>
                  </a:txBody>
                  <a:tcPr marL="54864" marR="54864" marT="22860" marB="22860"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wrap="square"/>
                    <a:lstStyle/>
                    <a:p>
                      <a:pPr algn="l"/>
                      <a:r>
                        <a:rPr sz="1050" b="0">
                          <a:solidFill>
                            <a:srgbClr val="111111"/>
                          </a:solidFill>
                          <a:latin typeface="Times New Roman"/>
                        </a:rPr>
                        <a:t>Training + dashboard</a:t>
                      </a:r>
                    </a:p>
                  </a:txBody>
                  <a:tcPr marL="54864" marR="54864" marT="22860" marB="22860"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r>
              <a:tr h="384048">
                <a:tc>
                  <a:txBody>
                    <a:bodyPr wrap="square"/>
                    <a:lstStyle/>
                    <a:p>
                      <a:pPr algn="l"/>
                      <a:r>
                        <a:rPr sz="1050" b="0">
                          <a:solidFill>
                            <a:srgbClr val="111111"/>
                          </a:solidFill>
                          <a:latin typeface="Times New Roman"/>
                        </a:rPr>
                        <a:t>Flare-ups</a:t>
                      </a:r>
                    </a:p>
                  </a:txBody>
                  <a:tcPr marL="54864" marR="54864" marT="22860" marB="22860"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wrap="square"/>
                    <a:lstStyle/>
                    <a:p>
                      <a:pPr algn="l"/>
                      <a:r>
                        <a:rPr sz="1050" b="0">
                          <a:solidFill>
                            <a:srgbClr val="111111"/>
                          </a:solidFill>
                          <a:latin typeface="Times New Roman"/>
                        </a:rPr>
                        <a:t>Synthetic</a:t>
                      </a:r>
                    </a:p>
                  </a:txBody>
                  <a:tcPr marL="54864" marR="54864" marT="22860" marB="22860" anchor="ctr">
                    <a:lnL w="9525">
                      <a:solidFill>
                        <a:srgbClr val="000000"/>
                      </a:solidFill>
                    </a:lnL>
                    <a:lnR w="9525">
                      <a:solidFill>
                        <a:srgbClr val="000000"/>
                      </a:solidFill>
                    </a:lnR>
                    <a:lnT w="9525">
                      <a:solidFill>
                        <a:srgbClr val="000000"/>
                      </a:solidFill>
                    </a:lnT>
                    <a:lnB w="9525">
                      <a:solidFill>
                        <a:srgbClr val="000000"/>
                      </a:solidFill>
                    </a:lnB>
                    <a:solidFill>
                      <a:srgbClr val="FCE4D6"/>
                    </a:solidFill>
                  </a:tcPr>
                </a:tc>
                <a:tc>
                  <a:txBody>
                    <a:bodyPr wrap="square"/>
                    <a:lstStyle/>
                    <a:p>
                      <a:pPr algn="l"/>
                      <a:r>
                        <a:rPr sz="1050" b="0">
                          <a:solidFill>
                            <a:srgbClr val="111111"/>
                          </a:solidFill>
                          <a:latin typeface="Times New Roman"/>
                        </a:rPr>
                        <a:t>473 simulated events</a:t>
                      </a:r>
                    </a:p>
                  </a:txBody>
                  <a:tcPr marL="54864" marR="54864" marT="22860" marB="22860"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wrap="square"/>
                    <a:lstStyle/>
                    <a:p>
                      <a:pPr algn="l"/>
                      <a:r>
                        <a:rPr sz="1050" b="0">
                          <a:solidFill>
                            <a:srgbClr val="111111"/>
                          </a:solidFill>
                          <a:latin typeface="Times New Roman"/>
                        </a:rPr>
                        <a:t>Training labels</a:t>
                      </a:r>
                    </a:p>
                  </a:txBody>
                  <a:tcPr marL="54864" marR="54864" marT="22860" marB="22860"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r>
              <a:tr h="384048">
                <a:tc>
                  <a:txBody>
                    <a:bodyPr wrap="square"/>
                    <a:lstStyle/>
                    <a:p>
                      <a:pPr algn="l"/>
                      <a:r>
                        <a:rPr sz="1050" b="0">
                          <a:solidFill>
                            <a:srgbClr val="111111"/>
                          </a:solidFill>
                          <a:latin typeface="Times New Roman"/>
                        </a:rPr>
                        <a:t>Real hospital patients (stress test)</a:t>
                      </a:r>
                    </a:p>
                  </a:txBody>
                  <a:tcPr marL="54864" marR="54864" marT="22860" marB="22860"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wrap="square"/>
                    <a:lstStyle/>
                    <a:p>
                      <a:pPr algn="l"/>
                      <a:r>
                        <a:rPr sz="1050" b="0">
                          <a:solidFill>
                            <a:srgbClr val="111111"/>
                          </a:solidFill>
                          <a:latin typeface="Times New Roman"/>
                        </a:rPr>
                        <a:t>Real</a:t>
                      </a:r>
                    </a:p>
                  </a:txBody>
                  <a:tcPr marL="54864" marR="54864" marT="22860" marB="22860" anchor="ctr">
                    <a:lnL w="9525">
                      <a:solidFill>
                        <a:srgbClr val="000000"/>
                      </a:solidFill>
                    </a:lnL>
                    <a:lnR w="9525">
                      <a:solidFill>
                        <a:srgbClr val="000000"/>
                      </a:solidFill>
                    </a:lnR>
                    <a:lnT w="9525">
                      <a:solidFill>
                        <a:srgbClr val="000000"/>
                      </a:solidFill>
                    </a:lnT>
                    <a:lnB w="9525">
                      <a:solidFill>
                        <a:srgbClr val="000000"/>
                      </a:solidFill>
                    </a:lnB>
                    <a:solidFill>
                      <a:srgbClr val="E2F0D9"/>
                    </a:solidFill>
                  </a:tcPr>
                </a:tc>
                <a:tc>
                  <a:txBody>
                    <a:bodyPr wrap="square"/>
                    <a:lstStyle/>
                    <a:p>
                      <a:pPr algn="l"/>
                      <a:r>
                        <a:rPr sz="1050" b="0">
                          <a:solidFill>
                            <a:srgbClr val="111111"/>
                          </a:solidFill>
                          <a:latin typeface="Times New Roman"/>
                        </a:rPr>
                        <a:t>100 patients, 47,214 vital readings</a:t>
                      </a:r>
                    </a:p>
                  </a:txBody>
                  <a:tcPr marL="54864" marR="54864" marT="22860" marB="22860"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wrap="square"/>
                    <a:lstStyle/>
                    <a:p>
                      <a:pPr algn="l"/>
                      <a:r>
                        <a:rPr sz="1050" b="0">
                          <a:solidFill>
                            <a:srgbClr val="111111"/>
                          </a:solidFill>
                          <a:latin typeface="Times New Roman"/>
                        </a:rPr>
                        <a:t>Testing only</a:t>
                      </a:r>
                    </a:p>
                  </a:txBody>
                  <a:tcPr marL="54864" marR="54864" marT="22860" marB="22860"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r>
              <a:tr h="384048">
                <a:tc>
                  <a:txBody>
                    <a:bodyPr wrap="square"/>
                    <a:lstStyle/>
                    <a:p>
                      <a:pPr algn="l"/>
                      <a:r>
                        <a:rPr sz="1050" b="0">
                          <a:solidFill>
                            <a:srgbClr val="111111"/>
                          </a:solidFill>
                          <a:latin typeface="Times New Roman"/>
                        </a:rPr>
                        <a:t>Real COPD records (check)</a:t>
                      </a:r>
                    </a:p>
                  </a:txBody>
                  <a:tcPr marL="54864" marR="54864" marT="22860" marB="22860"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wrap="square"/>
                    <a:lstStyle/>
                    <a:p>
                      <a:pPr algn="l"/>
                      <a:r>
                        <a:rPr sz="1050" b="0">
                          <a:solidFill>
                            <a:srgbClr val="111111"/>
                          </a:solidFill>
                          <a:latin typeface="Times New Roman"/>
                        </a:rPr>
                        <a:t>Real</a:t>
                      </a:r>
                    </a:p>
                  </a:txBody>
                  <a:tcPr marL="54864" marR="54864" marT="22860" marB="22860" anchor="ctr">
                    <a:lnL w="9525">
                      <a:solidFill>
                        <a:srgbClr val="000000"/>
                      </a:solidFill>
                    </a:lnL>
                    <a:lnR w="9525">
                      <a:solidFill>
                        <a:srgbClr val="000000"/>
                      </a:solidFill>
                    </a:lnR>
                    <a:lnT w="9525">
                      <a:solidFill>
                        <a:srgbClr val="000000"/>
                      </a:solidFill>
                    </a:lnT>
                    <a:lnB w="9525">
                      <a:solidFill>
                        <a:srgbClr val="000000"/>
                      </a:solidFill>
                    </a:lnB>
                    <a:solidFill>
                      <a:srgbClr val="E2F0D9"/>
                    </a:solidFill>
                  </a:tcPr>
                </a:tc>
                <a:tc>
                  <a:txBody>
                    <a:bodyPr wrap="square"/>
                    <a:lstStyle/>
                    <a:p>
                      <a:pPr algn="l"/>
                      <a:r>
                        <a:rPr sz="1050" b="0">
                          <a:solidFill>
                            <a:srgbClr val="111111"/>
                          </a:solidFill>
                          <a:latin typeface="Times New Roman"/>
                        </a:rPr>
                        <a:t>14 COPD patients (MIMIC-IV demo)</a:t>
                      </a:r>
                    </a:p>
                  </a:txBody>
                  <a:tcPr marL="54864" marR="54864" marT="22860" marB="22860"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wrap="square"/>
                    <a:lstStyle/>
                    <a:p>
                      <a:pPr algn="l"/>
                      <a:r>
                        <a:rPr sz="1050" b="0">
                          <a:solidFill>
                            <a:srgbClr val="111111"/>
                          </a:solidFill>
                          <a:latin typeface="Times New Roman"/>
                        </a:rPr>
                        <a:t>Testing only</a:t>
                      </a:r>
                    </a:p>
                  </a:txBody>
                  <a:tcPr marL="54864" marR="54864" marT="22860" marB="22860"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r>
            </a:tbl>
          </a:graphicData>
        </a:graphic>
      </p:graphicFrame>
      <p:sp>
        <p:nvSpPr>
          <p:cNvPr id="10" name="KPI of air and weather data"/>
          <p:cNvSpPr/>
          <p:nvPr/>
        </p:nvSpPr>
        <p:spPr>
          <a:xfrm>
            <a:off x="8275320" y="2011680"/>
            <a:ext cx="3200400" cy="1097280"/>
          </a:xfrm>
          <a:prstGeom prst="rect">
            <a:avLst/>
          </a:prstGeom>
          <a:solidFill>
            <a:srgbClr val="FFE699"/>
          </a:solidFill>
          <a:ln w="12700">
            <a:solidFill>
              <a:srgbClr val="F4B183"/>
            </a:solid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3400" b="1" i="0">
                <a:solidFill>
                  <a:srgbClr val="0B2A78"/>
                </a:solidFill>
                <a:latin typeface="Times New Roman"/>
              </a:rPr>
              <a:t>100%</a:t>
            </a:r>
          </a:p>
          <a:p>
            <a:pPr algn="ctr"/>
            <a:r>
              <a:rPr sz="1300" b="1" i="0">
                <a:solidFill>
                  <a:srgbClr val="111111"/>
                </a:solidFill>
                <a:latin typeface="Times New Roman"/>
              </a:rPr>
              <a:t>of air and weather data</a:t>
            </a:r>
          </a:p>
          <a:p>
            <a:pPr algn="ctr"/>
            <a:r>
              <a:rPr sz="1100" b="0" i="1">
                <a:solidFill>
                  <a:srgbClr val="111111"/>
                </a:solidFill>
                <a:latin typeface="Times New Roman"/>
              </a:rPr>
              <a:t>is real (CPCB, Open-Meteo)</a:t>
            </a:r>
          </a:p>
        </p:txBody>
      </p:sp>
      <p:sp>
        <p:nvSpPr>
          <p:cNvPr id="10" name="KPI of all training values"/>
          <p:cNvSpPr/>
          <p:nvPr/>
        </p:nvSpPr>
        <p:spPr>
          <a:xfrm>
            <a:off x="8275320" y="3246120"/>
            <a:ext cx="3200400" cy="1097280"/>
          </a:xfrm>
          <a:prstGeom prst="rect">
            <a:avLst/>
          </a:prstGeom>
          <a:solidFill>
            <a:srgbClr val="FFE699"/>
          </a:solidFill>
          <a:ln w="12700">
            <a:solidFill>
              <a:srgbClr val="F4B183"/>
            </a:solid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3400" b="1" i="0">
                <a:solidFill>
                  <a:srgbClr val="0B2A78"/>
                </a:solidFill>
                <a:latin typeface="Times New Roman"/>
              </a:rPr>
              <a:t>~1%</a:t>
            </a:r>
          </a:p>
          <a:p>
            <a:pPr algn="ctr"/>
            <a:r>
              <a:rPr sz="1300" b="1" i="0">
                <a:solidFill>
                  <a:srgbClr val="111111"/>
                </a:solidFill>
                <a:latin typeface="Times New Roman"/>
              </a:rPr>
              <a:t>of all training values</a:t>
            </a:r>
          </a:p>
          <a:p>
            <a:pPr algn="ctr"/>
            <a:r>
              <a:rPr sz="1100" b="0" i="1">
                <a:solidFill>
                  <a:srgbClr val="111111"/>
                </a:solidFill>
                <a:latin typeface="Times New Roman"/>
              </a:rPr>
              <a:t>are real; patient data is simulated</a:t>
            </a:r>
          </a:p>
        </p:txBody>
      </p:sp>
      <p:sp>
        <p:nvSpPr>
          <p:cNvPr id="10" name="KPI real patients, 55 women, 45 men"/>
          <p:cNvSpPr/>
          <p:nvPr/>
        </p:nvSpPr>
        <p:spPr>
          <a:xfrm>
            <a:off x="8275320" y="4480560"/>
            <a:ext cx="3200400" cy="1097280"/>
          </a:xfrm>
          <a:prstGeom prst="rect">
            <a:avLst/>
          </a:prstGeom>
          <a:solidFill>
            <a:srgbClr val="FFE699"/>
          </a:solidFill>
          <a:ln w="12700">
            <a:solidFill>
              <a:srgbClr val="F4B183"/>
            </a:solid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3400" b="1" i="0">
                <a:solidFill>
                  <a:srgbClr val="0B2A78"/>
                </a:solidFill>
                <a:latin typeface="Times New Roman"/>
              </a:rPr>
              <a:t>100</a:t>
            </a:r>
          </a:p>
          <a:p>
            <a:pPr algn="ctr"/>
            <a:r>
              <a:rPr sz="1300" b="1" i="0">
                <a:solidFill>
                  <a:srgbClr val="111111"/>
                </a:solidFill>
                <a:latin typeface="Times New Roman"/>
              </a:rPr>
              <a:t>real patients, 55 women, 45 men</a:t>
            </a:r>
          </a:p>
          <a:p>
            <a:pPr algn="ctr"/>
            <a:r>
              <a:rPr sz="1100" b="0" i="1">
                <a:solidFill>
                  <a:srgbClr val="111111"/>
                </a:solidFill>
                <a:latin typeface="Times New Roman"/>
              </a:rPr>
              <a:t>aged 18 to 90, used to stress-test</a:t>
            </a:r>
          </a:p>
        </p:txBody>
      </p:sp>
      <p:sp>
        <p:nvSpPr>
          <p:cNvPr id="24" name="Takeaway banner"/>
          <p:cNvSpPr/>
          <p:nvPr/>
        </p:nvSpPr>
        <p:spPr>
          <a:xfrm>
            <a:off x="731520" y="5870448"/>
            <a:ext cx="10744200" cy="658368"/>
          </a:xfrm>
          <a:prstGeom prst="rect">
            <a:avLst/>
          </a:prstGeom>
          <a:solidFill>
            <a:srgbClr val="FFE699"/>
          </a:solidFill>
          <a:ln w="12700">
            <a:solidFill>
              <a:srgbClr val="F4B183"/>
            </a:solid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1700" b="1" i="0">
                <a:solidFill>
                  <a:srgbClr val="111111"/>
                </a:solidFill>
                <a:latin typeface="Times New Roman"/>
              </a:rPr>
              <a:t>Why simulate patients at all?</a:t>
            </a:r>
          </a:p>
          <a:p>
            <a:pPr algn="ctr"/>
            <a:r>
              <a:rPr sz="1500" b="0" i="1">
                <a:solidFill>
                  <a:srgbClr val="111111"/>
                </a:solidFill>
                <a:latin typeface="Times New Roman"/>
              </a:rPr>
              <a:t>No open dataset links COPD wearable data to labelled flare-ups, so we simulate from published studies and test on real people.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descr="bg_content.jpg"/>
          <p:cNvPicPr>
            <a:picLocks noChangeAspect="1"/>
          </p:cNvPicPr>
          <p:nvPr/>
        </p:nvPicPr>
        <p:blipFill>
          <a:blip r:embed="rId2"/>
          <a:stretch>
            <a:fillRect/>
          </a:stretch>
        </p:blipFill>
        <p:spPr>
          <a:xfrm>
            <a:off x="0" y="0"/>
            <a:ext cx="12191695" cy="6858000"/>
          </a:xfrm>
          <a:prstGeom prst="rect">
            <a:avLst/>
          </a:prstGeom>
        </p:spPr>
      </p:pic>
      <p:sp>
        <p:nvSpPr>
          <p:cNvPr id="3" name="BreatheTwin logo"/>
          <p:cNvSpPr/>
          <p:nvPr/>
        </p:nvSpPr>
        <p:spPr>
          <a:xfrm>
            <a:off x="411480" y="201168"/>
            <a:ext cx="3794760" cy="603504"/>
          </a:xfrm>
          <a:prstGeom prst="rect">
            <a:avLst/>
          </a:prstGeom>
          <a:solidFill>
            <a:srgbClr val="0B2A78"/>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Logo mark"/>
          <p:cNvSpPr/>
          <p:nvPr/>
        </p:nvSpPr>
        <p:spPr>
          <a:xfrm>
            <a:off x="475488" y="256032"/>
            <a:ext cx="493776" cy="4937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900" b="1">
                <a:solidFill>
                  <a:srgbClr val="B23A2E"/>
                </a:solidFill>
                <a:latin typeface="Arial"/>
              </a:rPr>
              <a:t>BT</a:t>
            </a:r>
          </a:p>
        </p:txBody>
      </p:sp>
      <p:sp>
        <p:nvSpPr>
          <p:cNvPr id="5" name="Logo text"/>
          <p:cNvSpPr txBox="1"/>
          <p:nvPr/>
        </p:nvSpPr>
        <p:spPr>
          <a:xfrm>
            <a:off x="1024128" y="182880"/>
            <a:ext cx="3154680" cy="457200"/>
          </a:xfrm>
          <a:prstGeom prst="rect">
            <a:avLst/>
          </a:prstGeom>
          <a:noFill/>
        </p:spPr>
        <p:txBody>
          <a:bodyPr wrap="none" lIns="0" tIns="0" bIns="0">
            <a:spAutoFit/>
          </a:bodyPr>
          <a:lstStyle/>
          <a:p>
            <a:r>
              <a:rPr sz="2500" b="1">
                <a:solidFill>
                  <a:srgbClr val="FFFFFF"/>
                </a:solidFill>
                <a:latin typeface="Arial"/>
              </a:rPr>
              <a:t>BREATHETWIN</a:t>
            </a:r>
          </a:p>
        </p:txBody>
      </p:sp>
      <p:sp>
        <p:nvSpPr>
          <p:cNvPr id="6" name="Logo sub"/>
          <p:cNvSpPr txBox="1"/>
          <p:nvPr/>
        </p:nvSpPr>
        <p:spPr>
          <a:xfrm>
            <a:off x="1024128" y="585216"/>
            <a:ext cx="3108960" cy="219456"/>
          </a:xfrm>
          <a:prstGeom prst="rect">
            <a:avLst/>
          </a:prstGeom>
          <a:noFill/>
        </p:spPr>
        <p:txBody>
          <a:bodyPr wrap="none" lIns="0" tIns="0" bIns="0" rIns="0">
            <a:spAutoFit/>
          </a:bodyPr>
          <a:lstStyle/>
          <a:p>
            <a:pPr algn="r"/>
            <a:r>
              <a:rPr sz="900" b="1">
                <a:solidFill>
                  <a:srgbClr val="FFFFFF"/>
                </a:solidFill>
                <a:latin typeface="Arial"/>
              </a:rPr>
              <a:t>TEAM MOMENTUM</a:t>
            </a:r>
          </a:p>
        </p:txBody>
      </p:sp>
      <p:sp>
        <p:nvSpPr>
          <p:cNvPr id="7" name="Logo tagline"/>
          <p:cNvSpPr txBox="1"/>
          <p:nvPr/>
        </p:nvSpPr>
        <p:spPr>
          <a:xfrm>
            <a:off x="566928" y="822960"/>
            <a:ext cx="4023360" cy="274320"/>
          </a:xfrm>
          <a:prstGeom prst="rect">
            <a:avLst/>
          </a:prstGeom>
          <a:noFill/>
        </p:spPr>
        <p:txBody>
          <a:bodyPr wrap="none" lIns="0" tIns="0" bIns="0">
            <a:spAutoFit/>
          </a:bodyPr>
          <a:lstStyle/>
          <a:p>
            <a:r>
              <a:rPr sz="1300" b="1" i="1">
                <a:solidFill>
                  <a:srgbClr val="FFFFFF"/>
                </a:solidFill>
                <a:latin typeface="Arial"/>
              </a:rPr>
              <a:t>EARLY WARNING. EASIER BREATHING.</a:t>
            </a:r>
          </a:p>
        </p:txBody>
      </p:sp>
      <p:sp>
        <p:nvSpPr>
          <p:cNvPr id="8" name="Content panel"/>
          <p:cNvSpPr/>
          <p:nvPr/>
        </p:nvSpPr>
        <p:spPr>
          <a:xfrm>
            <a:off x="502920" y="1115568"/>
            <a:ext cx="11201400" cy="5559552"/>
          </a:xfrm>
          <a:prstGeom prst="rect">
            <a:avLst/>
          </a:prstGeom>
          <a:solidFill>
            <a:srgbClr val="FFFFFF"/>
          </a:solidFill>
          <a:ln w="12700">
            <a:solidFill>
              <a:srgbClr val="F4B18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itle box"/>
          <p:cNvSpPr/>
          <p:nvPr/>
        </p:nvSpPr>
        <p:spPr>
          <a:xfrm>
            <a:off x="731520" y="1225296"/>
            <a:ext cx="10744200" cy="658368"/>
          </a:xfrm>
          <a:prstGeom prst="rect">
            <a:avLst/>
          </a:prstGeom>
          <a:solidFill>
            <a:srgbClr val="FFFFFF"/>
          </a:solidFill>
          <a:ln w="12700">
            <a:solidFill>
              <a:srgbClr val="40404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i="0">
                <a:solidFill>
                  <a:srgbClr val="111111"/>
                </a:solidFill>
                <a:latin typeface="Times New Roman"/>
              </a:rPr>
              <a:t>AI model: learn the body, borrow published science for the air</a:t>
            </a:r>
          </a:p>
        </p:txBody>
      </p:sp>
      <p:sp>
        <p:nvSpPr>
          <p:cNvPr id="10" name="Tag: What the Model Looks At"/>
          <p:cNvSpPr/>
          <p:nvPr/>
        </p:nvSpPr>
        <p:spPr>
          <a:xfrm>
            <a:off x="731520" y="2011680"/>
            <a:ext cx="5486400" cy="411480"/>
          </a:xfrm>
          <a:prstGeom prst="rect">
            <a:avLst/>
          </a:prstGeom>
          <a:solidFill>
            <a:srgbClr val="FFE699"/>
          </a:solidFill>
          <a:ln w="12700">
            <a:solidFill>
              <a:srgbClr val="F4B183"/>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600" b="1" i="0">
                <a:solidFill>
                  <a:srgbClr val="111111"/>
                </a:solidFill>
                <a:latin typeface="Times New Roman"/>
              </a:rPr>
              <a:t>What the Model Looks At</a:t>
            </a:r>
          </a:p>
        </p:txBody>
      </p:sp>
      <p:graphicFrame>
        <p:nvGraphicFramePr>
          <p:cNvPr id="11" name="Inputs table"/>
          <p:cNvGraphicFramePr>
            <a:graphicFrameLocks noGrp="1"/>
          </p:cNvGraphicFramePr>
          <p:nvPr/>
        </p:nvGraphicFramePr>
        <p:xfrm>
          <a:off x="731520" y="2542032"/>
          <a:ext cx="5486400" cy="3008376"/>
        </p:xfrm>
        <a:graphic>
          <a:graphicData uri="http://schemas.openxmlformats.org/drawingml/2006/table">
            <a:tbl>
              <a:tblPr firstRow="0" bandRow="0">
                <a:tableStyleId>{5940675A-B579-460E-94D1-54222C63F5DA}</a:tableStyleId>
              </a:tblPr>
              <a:tblGrid>
                <a:gridCol w="1783080"/>
                <a:gridCol w="3703320"/>
              </a:tblGrid>
              <a:tr h="429768">
                <a:tc>
                  <a:txBody>
                    <a:bodyPr wrap="square"/>
                    <a:lstStyle/>
                    <a:p>
                      <a:pPr algn="ctr"/>
                      <a:r>
                        <a:rPr sz="1250" b="1" i="0">
                          <a:solidFill>
                            <a:srgbClr val="111111"/>
                          </a:solidFill>
                          <a:latin typeface="Times New Roman"/>
                        </a:rPr>
                        <a:t>Data input</a:t>
                      </a:r>
                    </a:p>
                  </a:txBody>
                  <a:tcPr marL="54864" marR="54864" marT="22860" marB="22860" anchor="ctr">
                    <a:solidFill>
                      <a:srgbClr val="8EA9DB"/>
                    </a:solidFill>
                    <a:lnL w="9525">
                      <a:solidFill>
                        <a:srgbClr val="000000"/>
                      </a:solidFill>
                    </a:lnL>
                    <a:lnR w="9525">
                      <a:solidFill>
                        <a:srgbClr val="000000"/>
                      </a:solidFill>
                    </a:lnR>
                    <a:lnT w="9525">
                      <a:solidFill>
                        <a:srgbClr val="000000"/>
                      </a:solidFill>
                    </a:lnT>
                    <a:lnB w="9525">
                      <a:solidFill>
                        <a:srgbClr val="000000"/>
                      </a:solidFill>
                    </a:lnB>
                  </a:tcPr>
                </a:tc>
                <a:tc>
                  <a:txBody>
                    <a:bodyPr wrap="square"/>
                    <a:lstStyle/>
                    <a:p>
                      <a:pPr algn="ctr"/>
                      <a:r>
                        <a:rPr sz="1250" b="1" i="0">
                          <a:solidFill>
                            <a:srgbClr val="111111"/>
                          </a:solidFill>
                          <a:latin typeface="Times New Roman"/>
                        </a:rPr>
                        <a:t>Signal the twin uses</a:t>
                      </a:r>
                    </a:p>
                  </a:txBody>
                  <a:tcPr marL="54864" marR="54864" marT="22860" marB="22860" anchor="ctr">
                    <a:solidFill>
                      <a:srgbClr val="8EA9DB"/>
                    </a:solidFill>
                    <a:lnL w="9525">
                      <a:solidFill>
                        <a:srgbClr val="000000"/>
                      </a:solidFill>
                    </a:lnL>
                    <a:lnR w="9525">
                      <a:solidFill>
                        <a:srgbClr val="000000"/>
                      </a:solidFill>
                    </a:lnR>
                    <a:lnT w="9525">
                      <a:solidFill>
                        <a:srgbClr val="000000"/>
                      </a:solidFill>
                    </a:lnT>
                    <a:lnB w="9525">
                      <a:solidFill>
                        <a:srgbClr val="000000"/>
                      </a:solidFill>
                    </a:lnB>
                  </a:tcPr>
                </a:tc>
              </a:tr>
              <a:tr h="429768">
                <a:tc>
                  <a:txBody>
                    <a:bodyPr wrap="square"/>
                    <a:lstStyle/>
                    <a:p>
                      <a:pPr algn="l"/>
                      <a:r>
                        <a:rPr sz="1150" b="0" i="0">
                          <a:solidFill>
                            <a:srgbClr val="111111"/>
                          </a:solidFill>
                          <a:latin typeface="Times New Roman"/>
                        </a:rPr>
                        <a:t>Breathing, oxygen, heart rate</a:t>
                      </a:r>
                    </a:p>
                  </a:txBody>
                  <a:tcPr marL="54864" marR="54864" marT="22860" marB="22860" anchor="ctr">
                    <a:solidFill>
                      <a:srgbClr val="FFFFFF"/>
                    </a:solidFill>
                    <a:lnL w="9525">
                      <a:solidFill>
                        <a:srgbClr val="000000"/>
                      </a:solidFill>
                    </a:lnL>
                    <a:lnR w="9525">
                      <a:solidFill>
                        <a:srgbClr val="000000"/>
                      </a:solidFill>
                    </a:lnR>
                    <a:lnT w="9525">
                      <a:solidFill>
                        <a:srgbClr val="000000"/>
                      </a:solidFill>
                    </a:lnT>
                    <a:lnB w="9525">
                      <a:solidFill>
                        <a:srgbClr val="000000"/>
                      </a:solidFill>
                    </a:lnB>
                  </a:tcPr>
                </a:tc>
                <a:tc>
                  <a:txBody>
                    <a:bodyPr wrap="square"/>
                    <a:lstStyle/>
                    <a:p>
                      <a:pPr algn="l"/>
                      <a:r>
                        <a:rPr sz="1150" b="0" i="0">
                          <a:solidFill>
                            <a:srgbClr val="111111"/>
                          </a:solidFill>
                          <a:latin typeface="Times New Roman"/>
                        </a:rPr>
                        <a:t>Change vs </a:t>
                      </a:r>
                      <a:r>
                        <a:rPr sz="1150" b="1" i="0">
                          <a:solidFill>
                            <a:srgbClr val="111111"/>
                          </a:solidFill>
                          <a:latin typeface="Times New Roman"/>
                        </a:rPr>
                        <a:t>own normal</a:t>
                      </a:r>
                      <a:r>
                        <a:rPr sz="1150" b="0" i="0">
                          <a:solidFill>
                            <a:srgbClr val="111111"/>
                          </a:solidFill>
                          <a:latin typeface="Times New Roman"/>
                        </a:rPr>
                        <a:t> (today, 3-day average, how unusual)</a:t>
                      </a:r>
                    </a:p>
                  </a:txBody>
                  <a:tcPr marL="54864" marR="54864" marT="22860" marB="22860" anchor="ctr">
                    <a:solidFill>
                      <a:srgbClr val="FFFFFF"/>
                    </a:solidFill>
                    <a:lnL w="9525">
                      <a:solidFill>
                        <a:srgbClr val="000000"/>
                      </a:solidFill>
                    </a:lnL>
                    <a:lnR w="9525">
                      <a:solidFill>
                        <a:srgbClr val="000000"/>
                      </a:solidFill>
                    </a:lnR>
                    <a:lnT w="9525">
                      <a:solidFill>
                        <a:srgbClr val="000000"/>
                      </a:solidFill>
                    </a:lnT>
                    <a:lnB w="9525">
                      <a:solidFill>
                        <a:srgbClr val="000000"/>
                      </a:solidFill>
                    </a:lnB>
                  </a:tcPr>
                </a:tc>
              </a:tr>
              <a:tr h="429768">
                <a:tc>
                  <a:txBody>
                    <a:bodyPr wrap="square"/>
                    <a:lstStyle/>
                    <a:p>
                      <a:pPr algn="l"/>
                      <a:r>
                        <a:rPr sz="1150" b="0" i="0">
                          <a:solidFill>
                            <a:srgbClr val="111111"/>
                          </a:solidFill>
                          <a:latin typeface="Times New Roman"/>
                        </a:rPr>
                        <a:t>Steps and sleep</a:t>
                      </a:r>
                    </a:p>
                  </a:txBody>
                  <a:tcPr marL="54864" marR="54864" marT="22860" marB="22860" anchor="ctr">
                    <a:solidFill>
                      <a:srgbClr val="FFFFFF"/>
                    </a:solidFill>
                    <a:lnL w="9525">
                      <a:solidFill>
                        <a:srgbClr val="000000"/>
                      </a:solidFill>
                    </a:lnL>
                    <a:lnR w="9525">
                      <a:solidFill>
                        <a:srgbClr val="000000"/>
                      </a:solidFill>
                    </a:lnR>
                    <a:lnT w="9525">
                      <a:solidFill>
                        <a:srgbClr val="000000"/>
                      </a:solidFill>
                    </a:lnT>
                    <a:lnB w="9525">
                      <a:solidFill>
                        <a:srgbClr val="000000"/>
                      </a:solidFill>
                    </a:lnB>
                  </a:tcPr>
                </a:tc>
                <a:tc>
                  <a:txBody>
                    <a:bodyPr wrap="square"/>
                    <a:lstStyle/>
                    <a:p>
                      <a:pPr algn="l"/>
                      <a:r>
                        <a:rPr sz="1150" b="0" i="0">
                          <a:solidFill>
                            <a:srgbClr val="111111"/>
                          </a:solidFill>
                          <a:latin typeface="Times New Roman"/>
                        </a:rPr>
                        <a:t>Drop vs own normal</a:t>
                      </a:r>
                    </a:p>
                  </a:txBody>
                  <a:tcPr marL="54864" marR="54864" marT="22860" marB="22860" anchor="ctr">
                    <a:solidFill>
                      <a:srgbClr val="FFFFFF"/>
                    </a:solidFill>
                    <a:lnL w="9525">
                      <a:solidFill>
                        <a:srgbClr val="000000"/>
                      </a:solidFill>
                    </a:lnL>
                    <a:lnR w="9525">
                      <a:solidFill>
                        <a:srgbClr val="000000"/>
                      </a:solidFill>
                    </a:lnR>
                    <a:lnT w="9525">
                      <a:solidFill>
                        <a:srgbClr val="000000"/>
                      </a:solidFill>
                    </a:lnT>
                    <a:lnB w="9525">
                      <a:solidFill>
                        <a:srgbClr val="000000"/>
                      </a:solidFill>
                    </a:lnB>
                  </a:tcPr>
                </a:tc>
              </a:tr>
              <a:tr h="429768">
                <a:tc>
                  <a:txBody>
                    <a:bodyPr wrap="square"/>
                    <a:lstStyle/>
                    <a:p>
                      <a:pPr algn="l"/>
                      <a:r>
                        <a:rPr sz="1150" b="0" i="0">
                          <a:solidFill>
                            <a:srgbClr val="111111"/>
                          </a:solidFill>
                          <a:latin typeface="Times New Roman"/>
                        </a:rPr>
                        <a:t>Inhalers</a:t>
                      </a:r>
                    </a:p>
                  </a:txBody>
                  <a:tcPr marL="54864" marR="54864" marT="22860" marB="22860" anchor="ctr">
                    <a:solidFill>
                      <a:srgbClr val="FFFFFF"/>
                    </a:solidFill>
                    <a:lnL w="9525">
                      <a:solidFill>
                        <a:srgbClr val="000000"/>
                      </a:solidFill>
                    </a:lnL>
                    <a:lnR w="9525">
                      <a:solidFill>
                        <a:srgbClr val="000000"/>
                      </a:solidFill>
                    </a:lnR>
                    <a:lnT w="9525">
                      <a:solidFill>
                        <a:srgbClr val="000000"/>
                      </a:solidFill>
                    </a:lnT>
                    <a:lnB w="9525">
                      <a:solidFill>
                        <a:srgbClr val="000000"/>
                      </a:solidFill>
                    </a:lnB>
                  </a:tcPr>
                </a:tc>
                <a:tc>
                  <a:txBody>
                    <a:bodyPr wrap="square"/>
                    <a:lstStyle/>
                    <a:p>
                      <a:pPr algn="l"/>
                      <a:r>
                        <a:rPr sz="1150" b="0" i="0">
                          <a:solidFill>
                            <a:srgbClr val="111111"/>
                          </a:solidFill>
                          <a:latin typeface="Times New Roman"/>
                        </a:rPr>
                        <a:t>Extra rescue puffs; % of daily doses taken this week</a:t>
                      </a:r>
                    </a:p>
                  </a:txBody>
                  <a:tcPr marL="54864" marR="54864" marT="22860" marB="22860" anchor="ctr">
                    <a:solidFill>
                      <a:srgbClr val="FFFFFF"/>
                    </a:solidFill>
                    <a:lnL w="9525">
                      <a:solidFill>
                        <a:srgbClr val="000000"/>
                      </a:solidFill>
                    </a:lnL>
                    <a:lnR w="9525">
                      <a:solidFill>
                        <a:srgbClr val="000000"/>
                      </a:solidFill>
                    </a:lnR>
                    <a:lnT w="9525">
                      <a:solidFill>
                        <a:srgbClr val="000000"/>
                      </a:solidFill>
                    </a:lnT>
                    <a:lnB w="9525">
                      <a:solidFill>
                        <a:srgbClr val="000000"/>
                      </a:solidFill>
                    </a:lnB>
                  </a:tcPr>
                </a:tc>
              </a:tr>
              <a:tr h="429768">
                <a:tc>
                  <a:txBody>
                    <a:bodyPr wrap="square"/>
                    <a:lstStyle/>
                    <a:p>
                      <a:pPr algn="l"/>
                      <a:r>
                        <a:rPr sz="1150" b="0" i="0">
                          <a:solidFill>
                            <a:srgbClr val="111111"/>
                          </a:solidFill>
                          <a:latin typeface="Times New Roman"/>
                        </a:rPr>
                        <a:t>Weather</a:t>
                      </a:r>
                    </a:p>
                  </a:txBody>
                  <a:tcPr marL="54864" marR="54864" marT="22860" marB="22860" anchor="ctr">
                    <a:solidFill>
                      <a:srgbClr val="FFFFFF"/>
                    </a:solidFill>
                    <a:lnL w="9525">
                      <a:solidFill>
                        <a:srgbClr val="000000"/>
                      </a:solidFill>
                    </a:lnL>
                    <a:lnR w="9525">
                      <a:solidFill>
                        <a:srgbClr val="000000"/>
                      </a:solidFill>
                    </a:lnR>
                    <a:lnT w="9525">
                      <a:solidFill>
                        <a:srgbClr val="000000"/>
                      </a:solidFill>
                    </a:lnT>
                    <a:lnB w="9525">
                      <a:solidFill>
                        <a:srgbClr val="000000"/>
                      </a:solidFill>
                    </a:lnB>
                  </a:tcPr>
                </a:tc>
                <a:tc>
                  <a:txBody>
                    <a:bodyPr wrap="square"/>
                    <a:lstStyle/>
                    <a:p>
                      <a:pPr algn="l"/>
                      <a:r>
                        <a:rPr sz="1150" b="0" i="0">
                          <a:solidFill>
                            <a:srgbClr val="111111"/>
                          </a:solidFill>
                          <a:latin typeface="Times New Roman"/>
                        </a:rPr>
                        <a:t>3-week temperature drop, night low, humid heat</a:t>
                      </a:r>
                    </a:p>
                  </a:txBody>
                  <a:tcPr marL="54864" marR="54864" marT="22860" marB="22860" anchor="ctr">
                    <a:solidFill>
                      <a:srgbClr val="FFFFFF"/>
                    </a:solidFill>
                    <a:lnL w="9525">
                      <a:solidFill>
                        <a:srgbClr val="000000"/>
                      </a:solidFill>
                    </a:lnL>
                    <a:lnR w="9525">
                      <a:solidFill>
                        <a:srgbClr val="000000"/>
                      </a:solidFill>
                    </a:lnR>
                    <a:lnT w="9525">
                      <a:solidFill>
                        <a:srgbClr val="000000"/>
                      </a:solidFill>
                    </a:lnT>
                    <a:lnB w="9525">
                      <a:solidFill>
                        <a:srgbClr val="000000"/>
                      </a:solidFill>
                    </a:lnB>
                  </a:tcPr>
                </a:tc>
              </a:tr>
              <a:tr h="429768">
                <a:tc>
                  <a:txBody>
                    <a:bodyPr wrap="square"/>
                    <a:lstStyle/>
                    <a:p>
                      <a:pPr algn="l"/>
                      <a:r>
                        <a:rPr sz="1150" b="0" i="0">
                          <a:solidFill>
                            <a:srgbClr val="111111"/>
                          </a:solidFill>
                          <a:latin typeface="Times New Roman"/>
                        </a:rPr>
                        <a:t>Health record</a:t>
                      </a:r>
                    </a:p>
                  </a:txBody>
                  <a:tcPr marL="54864" marR="54864" marT="22860" marB="22860" anchor="ctr">
                    <a:solidFill>
                      <a:srgbClr val="FFFFFF"/>
                    </a:solidFill>
                    <a:lnL w="9525">
                      <a:solidFill>
                        <a:srgbClr val="000000"/>
                      </a:solidFill>
                    </a:lnL>
                    <a:lnR w="9525">
                      <a:solidFill>
                        <a:srgbClr val="000000"/>
                      </a:solidFill>
                    </a:lnR>
                    <a:lnT w="9525">
                      <a:solidFill>
                        <a:srgbClr val="000000"/>
                      </a:solidFill>
                    </a:lnT>
                    <a:lnB w="9525">
                      <a:solidFill>
                        <a:srgbClr val="000000"/>
                      </a:solidFill>
                    </a:lnB>
                  </a:tcPr>
                </a:tc>
                <a:tc>
                  <a:txBody>
                    <a:bodyPr wrap="square"/>
                    <a:lstStyle/>
                    <a:p>
                      <a:pPr algn="l"/>
                      <a:r>
                        <a:rPr sz="1150" b="0" i="0">
                          <a:solidFill>
                            <a:srgbClr val="111111"/>
                          </a:solidFill>
                          <a:latin typeface="Times New Roman"/>
                        </a:rPr>
                        <a:t>Age, GOLD stage, past flare-ups, smoking, cooking smoke, eosinophils, other illnesses, BMI, flu vaccine, home oxygen</a:t>
                      </a:r>
                    </a:p>
                  </a:txBody>
                  <a:tcPr marL="54864" marR="54864" marT="22860" marB="22860" anchor="ctr">
                    <a:solidFill>
                      <a:srgbClr val="FFFFFF"/>
                    </a:solidFill>
                    <a:lnL w="9525">
                      <a:solidFill>
                        <a:srgbClr val="000000"/>
                      </a:solidFill>
                    </a:lnL>
                    <a:lnR w="9525">
                      <a:solidFill>
                        <a:srgbClr val="000000"/>
                      </a:solidFill>
                    </a:lnR>
                    <a:lnT w="9525">
                      <a:solidFill>
                        <a:srgbClr val="000000"/>
                      </a:solidFill>
                    </a:lnT>
                    <a:lnB w="9525">
                      <a:solidFill>
                        <a:srgbClr val="000000"/>
                      </a:solidFill>
                    </a:lnB>
                  </a:tcPr>
                </a:tc>
              </a:tr>
              <a:tr h="429768">
                <a:tc>
                  <a:txBody>
                    <a:bodyPr wrap="square"/>
                    <a:lstStyle/>
                    <a:p>
                      <a:pPr algn="l"/>
                      <a:r>
                        <a:rPr sz="1150" b="0" i="0">
                          <a:solidFill>
                            <a:srgbClr val="111111"/>
                          </a:solidFill>
                          <a:latin typeface="Times New Roman"/>
                        </a:rPr>
                        <a:t>Air (PM2.5)</a:t>
                      </a:r>
                    </a:p>
                  </a:txBody>
                  <a:tcPr marL="54864" marR="54864" marT="22860" marB="22860" anchor="ctr">
                    <a:solidFill>
                      <a:srgbClr val="FFFFFF"/>
                    </a:solidFill>
                    <a:lnL w="9525">
                      <a:solidFill>
                        <a:srgbClr val="000000"/>
                      </a:solidFill>
                    </a:lnL>
                    <a:lnR w="9525">
                      <a:solidFill>
                        <a:srgbClr val="000000"/>
                      </a:solidFill>
                    </a:lnR>
                    <a:lnT w="9525">
                      <a:solidFill>
                        <a:srgbClr val="000000"/>
                      </a:solidFill>
                    </a:lnT>
                    <a:lnB w="9525">
                      <a:solidFill>
                        <a:srgbClr val="000000"/>
                      </a:solidFill>
                    </a:lnB>
                  </a:tcPr>
                </a:tc>
                <a:tc>
                  <a:txBody>
                    <a:bodyPr wrap="square"/>
                    <a:lstStyle/>
                    <a:p>
                      <a:pPr algn="l"/>
                      <a:r>
                        <a:rPr sz="1150" b="0" i="0">
                          <a:solidFill>
                            <a:srgbClr val="111111"/>
                          </a:solidFill>
                          <a:latin typeface="Times New Roman"/>
                        </a:rPr>
                        <a:t>Published dose-response, </a:t>
                      </a:r>
                      <a:r>
                        <a:rPr sz="1150" b="1" i="0">
                          <a:solidFill>
                            <a:srgbClr val="111111"/>
                          </a:solidFill>
                          <a:latin typeface="Times New Roman"/>
                        </a:rPr>
                        <a:t>not learned</a:t>
                      </a:r>
                      <a:r>
                        <a:rPr sz="1150" b="0" i="0">
                          <a:solidFill>
                            <a:srgbClr val="111111"/>
                          </a:solidFill>
                          <a:latin typeface="Times New Roman"/>
                        </a:rPr>
                        <a:t>: +2.5% risk per 10 µg/m³</a:t>
                      </a:r>
                    </a:p>
                  </a:txBody>
                  <a:tcPr marL="54864" marR="54864" marT="22860" marB="22860" anchor="ctr">
                    <a:solidFill>
                      <a:srgbClr val="FFFFFF"/>
                    </a:solidFill>
                    <a:lnL w="9525">
                      <a:solidFill>
                        <a:srgbClr val="000000"/>
                      </a:solidFill>
                    </a:lnL>
                    <a:lnR w="9525">
                      <a:solidFill>
                        <a:srgbClr val="000000"/>
                      </a:solidFill>
                    </a:lnR>
                    <a:lnT w="9525">
                      <a:solidFill>
                        <a:srgbClr val="000000"/>
                      </a:solidFill>
                    </a:lnT>
                    <a:lnB w="9525">
                      <a:solidFill>
                        <a:srgbClr val="000000"/>
                      </a:solidFill>
                    </a:lnB>
                  </a:tcPr>
                </a:tc>
              </a:tr>
            </a:tbl>
          </a:graphicData>
        </a:graphic>
      </p:graphicFrame>
      <p:sp>
        <p:nvSpPr>
          <p:cNvPr id="12" name="Tag: Model Details"/>
          <p:cNvSpPr/>
          <p:nvPr/>
        </p:nvSpPr>
        <p:spPr>
          <a:xfrm>
            <a:off x="6446520" y="2011680"/>
            <a:ext cx="5029200" cy="411480"/>
          </a:xfrm>
          <a:prstGeom prst="rect">
            <a:avLst/>
          </a:prstGeom>
          <a:solidFill>
            <a:srgbClr val="FFE699"/>
          </a:solidFill>
          <a:ln w="12700">
            <a:solidFill>
              <a:srgbClr val="F4B183"/>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600" b="1" i="0">
                <a:solidFill>
                  <a:srgbClr val="111111"/>
                </a:solidFill>
                <a:latin typeface="Times New Roman"/>
              </a:rPr>
              <a:t>Model Details</a:t>
            </a:r>
          </a:p>
        </p:txBody>
      </p:sp>
      <p:graphicFrame>
        <p:nvGraphicFramePr>
          <p:cNvPr id="13" name="Model table"/>
          <p:cNvGraphicFramePr>
            <a:graphicFrameLocks noGrp="1"/>
          </p:cNvGraphicFramePr>
          <p:nvPr/>
        </p:nvGraphicFramePr>
        <p:xfrm>
          <a:off x="6446520" y="2542032"/>
          <a:ext cx="5029200" cy="1965960"/>
        </p:xfrm>
        <a:graphic>
          <a:graphicData uri="http://schemas.openxmlformats.org/drawingml/2006/table">
            <a:tbl>
              <a:tblPr firstRow="0" bandRow="0">
                <a:tableStyleId>{5940675A-B579-460E-94D1-54222C63F5DA}</a:tableStyleId>
              </a:tblPr>
              <a:tblGrid>
                <a:gridCol w="1234440"/>
                <a:gridCol w="3794760"/>
              </a:tblGrid>
              <a:tr h="393192">
                <a:tc>
                  <a:txBody>
                    <a:bodyPr wrap="square"/>
                    <a:lstStyle/>
                    <a:p>
                      <a:pPr algn="l"/>
                      <a:r>
                        <a:rPr sz="1150" b="1" i="0">
                          <a:solidFill>
                            <a:srgbClr val="111111"/>
                          </a:solidFill>
                          <a:latin typeface="Times New Roman"/>
                        </a:rPr>
                        <a:t>Algorithm</a:t>
                      </a:r>
                    </a:p>
                  </a:txBody>
                  <a:tcPr marL="54864" marR="54864" marT="22860" marB="22860" anchor="ctr">
                    <a:solidFill>
                      <a:srgbClr val="FFFFFF"/>
                    </a:solidFill>
                    <a:lnL w="9525">
                      <a:solidFill>
                        <a:srgbClr val="000000"/>
                      </a:solidFill>
                    </a:lnL>
                    <a:lnR w="9525">
                      <a:solidFill>
                        <a:srgbClr val="000000"/>
                      </a:solidFill>
                    </a:lnR>
                    <a:lnT w="9525">
                      <a:solidFill>
                        <a:srgbClr val="000000"/>
                      </a:solidFill>
                    </a:lnT>
                    <a:lnB w="9525">
                      <a:solidFill>
                        <a:srgbClr val="000000"/>
                      </a:solidFill>
                    </a:lnB>
                  </a:tcPr>
                </a:tc>
                <a:tc>
                  <a:txBody>
                    <a:bodyPr wrap="square"/>
                    <a:lstStyle/>
                    <a:p>
                      <a:pPr algn="l"/>
                      <a:r>
                        <a:rPr sz="1150" b="0" i="0">
                          <a:solidFill>
                            <a:srgbClr val="111111"/>
                          </a:solidFill>
                          <a:latin typeface="Times New Roman"/>
                        </a:rPr>
                        <a:t>LightGBM (gradient-boosted decision trees)</a:t>
                      </a:r>
                    </a:p>
                  </a:txBody>
                  <a:tcPr marL="54864" marR="54864" marT="22860" marB="22860" anchor="ctr">
                    <a:solidFill>
                      <a:srgbClr val="FFFFFF"/>
                    </a:solidFill>
                    <a:lnL w="9525">
                      <a:solidFill>
                        <a:srgbClr val="000000"/>
                      </a:solidFill>
                    </a:lnL>
                    <a:lnR w="9525">
                      <a:solidFill>
                        <a:srgbClr val="000000"/>
                      </a:solidFill>
                    </a:lnR>
                    <a:lnT w="9525">
                      <a:solidFill>
                        <a:srgbClr val="000000"/>
                      </a:solidFill>
                    </a:lnT>
                    <a:lnB w="9525">
                      <a:solidFill>
                        <a:srgbClr val="000000"/>
                      </a:solidFill>
                    </a:lnB>
                  </a:tcPr>
                </a:tc>
              </a:tr>
              <a:tr h="393192">
                <a:tc>
                  <a:txBody>
                    <a:bodyPr wrap="square"/>
                    <a:lstStyle/>
                    <a:p>
                      <a:pPr algn="l"/>
                      <a:r>
                        <a:rPr sz="1150" b="1" i="0">
                          <a:solidFill>
                            <a:srgbClr val="111111"/>
                          </a:solidFill>
                          <a:latin typeface="Times New Roman"/>
                        </a:rPr>
                        <a:t>Predicts</a:t>
                      </a:r>
                    </a:p>
                  </a:txBody>
                  <a:tcPr marL="54864" marR="54864" marT="22860" marB="22860" anchor="ctr">
                    <a:solidFill>
                      <a:srgbClr val="FFFFFF"/>
                    </a:solidFill>
                    <a:lnL w="9525">
                      <a:solidFill>
                        <a:srgbClr val="000000"/>
                      </a:solidFill>
                    </a:lnL>
                    <a:lnR w="9525">
                      <a:solidFill>
                        <a:srgbClr val="000000"/>
                      </a:solidFill>
                    </a:lnR>
                    <a:lnT w="9525">
                      <a:solidFill>
                        <a:srgbClr val="000000"/>
                      </a:solidFill>
                    </a:lnT>
                    <a:lnB w="9525">
                      <a:solidFill>
                        <a:srgbClr val="000000"/>
                      </a:solidFill>
                    </a:lnB>
                  </a:tcPr>
                </a:tc>
                <a:tc>
                  <a:txBody>
                    <a:bodyPr wrap="square"/>
                    <a:lstStyle/>
                    <a:p>
                      <a:pPr algn="l"/>
                      <a:r>
                        <a:rPr sz="1150" b="0" i="0">
                          <a:solidFill>
                            <a:srgbClr val="111111"/>
                          </a:solidFill>
                          <a:latin typeface="Times New Roman"/>
                        </a:rPr>
                        <a:t>Will a flare-up start in the next 1 to 3 days?</a:t>
                      </a:r>
                    </a:p>
                  </a:txBody>
                  <a:tcPr marL="54864" marR="54864" marT="22860" marB="22860" anchor="ctr">
                    <a:solidFill>
                      <a:srgbClr val="FFFFFF"/>
                    </a:solidFill>
                    <a:lnL w="9525">
                      <a:solidFill>
                        <a:srgbClr val="000000"/>
                      </a:solidFill>
                    </a:lnL>
                    <a:lnR w="9525">
                      <a:solidFill>
                        <a:srgbClr val="000000"/>
                      </a:solidFill>
                    </a:lnR>
                    <a:lnT w="9525">
                      <a:solidFill>
                        <a:srgbClr val="000000"/>
                      </a:solidFill>
                    </a:lnT>
                    <a:lnB w="9525">
                      <a:solidFill>
                        <a:srgbClr val="000000"/>
                      </a:solidFill>
                    </a:lnB>
                  </a:tcPr>
                </a:tc>
              </a:tr>
              <a:tr h="393192">
                <a:tc>
                  <a:txBody>
                    <a:bodyPr wrap="square"/>
                    <a:lstStyle/>
                    <a:p>
                      <a:pPr algn="l"/>
                      <a:r>
                        <a:rPr sz="1150" b="1" i="0">
                          <a:solidFill>
                            <a:srgbClr val="111111"/>
                          </a:solidFill>
                          <a:latin typeface="Times New Roman"/>
                        </a:rPr>
                        <a:t>Tested on</a:t>
                      </a:r>
                    </a:p>
                  </a:txBody>
                  <a:tcPr marL="54864" marR="54864" marT="22860" marB="22860" anchor="ctr">
                    <a:solidFill>
                      <a:srgbClr val="FFFFFF"/>
                    </a:solidFill>
                    <a:lnL w="9525">
                      <a:solidFill>
                        <a:srgbClr val="000000"/>
                      </a:solidFill>
                    </a:lnL>
                    <a:lnR w="9525">
                      <a:solidFill>
                        <a:srgbClr val="000000"/>
                      </a:solidFill>
                    </a:lnR>
                    <a:lnT w="9525">
                      <a:solidFill>
                        <a:srgbClr val="000000"/>
                      </a:solidFill>
                    </a:lnT>
                    <a:lnB w="9525">
                      <a:solidFill>
                        <a:srgbClr val="000000"/>
                      </a:solidFill>
                    </a:lnB>
                  </a:tcPr>
                </a:tc>
                <a:tc>
                  <a:txBody>
                    <a:bodyPr wrap="square"/>
                    <a:lstStyle/>
                    <a:p>
                      <a:pPr algn="l"/>
                      <a:r>
                        <a:rPr sz="1150" b="0" i="0">
                          <a:solidFill>
                            <a:srgbClr val="111111"/>
                          </a:solidFill>
                          <a:latin typeface="Times New Roman"/>
                        </a:rPr>
                        <a:t>120 patients never seen in training (280 trained)</a:t>
                      </a:r>
                    </a:p>
                  </a:txBody>
                  <a:tcPr marL="54864" marR="54864" marT="22860" marB="22860" anchor="ctr">
                    <a:solidFill>
                      <a:srgbClr val="FFFFFF"/>
                    </a:solidFill>
                    <a:lnL w="9525">
                      <a:solidFill>
                        <a:srgbClr val="000000"/>
                      </a:solidFill>
                    </a:lnL>
                    <a:lnR w="9525">
                      <a:solidFill>
                        <a:srgbClr val="000000"/>
                      </a:solidFill>
                    </a:lnR>
                    <a:lnT w="9525">
                      <a:solidFill>
                        <a:srgbClr val="000000"/>
                      </a:solidFill>
                    </a:lnT>
                    <a:lnB w="9525">
                      <a:solidFill>
                        <a:srgbClr val="000000"/>
                      </a:solidFill>
                    </a:lnB>
                  </a:tcPr>
                </a:tc>
              </a:tr>
              <a:tr h="393192">
                <a:tc>
                  <a:txBody>
                    <a:bodyPr wrap="square"/>
                    <a:lstStyle/>
                    <a:p>
                      <a:pPr algn="l"/>
                      <a:r>
                        <a:rPr sz="1150" b="1" i="0">
                          <a:solidFill>
                            <a:srgbClr val="111111"/>
                          </a:solidFill>
                          <a:latin typeface="Times New Roman"/>
                        </a:rPr>
                        <a:t>Safety rules</a:t>
                      </a:r>
                    </a:p>
                  </a:txBody>
                  <a:tcPr marL="54864" marR="54864" marT="22860" marB="22860" anchor="ctr">
                    <a:solidFill>
                      <a:srgbClr val="FFFFFF"/>
                    </a:solidFill>
                    <a:lnL w="9525">
                      <a:solidFill>
                        <a:srgbClr val="000000"/>
                      </a:solidFill>
                    </a:lnL>
                    <a:lnR w="9525">
                      <a:solidFill>
                        <a:srgbClr val="000000"/>
                      </a:solidFill>
                    </a:lnR>
                    <a:lnT w="9525">
                      <a:solidFill>
                        <a:srgbClr val="000000"/>
                      </a:solidFill>
                    </a:lnT>
                    <a:lnB w="9525">
                      <a:solidFill>
                        <a:srgbClr val="000000"/>
                      </a:solidFill>
                    </a:lnB>
                  </a:tcPr>
                </a:tc>
                <a:tc>
                  <a:txBody>
                    <a:bodyPr wrap="square"/>
                    <a:lstStyle/>
                    <a:p>
                      <a:pPr algn="l"/>
                      <a:r>
                        <a:rPr sz="1150" b="0" i="0">
                          <a:solidFill>
                            <a:srgbClr val="111111"/>
                          </a:solidFill>
                          <a:latin typeface="Times New Roman"/>
                        </a:rPr>
                        <a:t>Warning signs can never lower risk; more inhaler doses can never raise it</a:t>
                      </a:r>
                    </a:p>
                  </a:txBody>
                  <a:tcPr marL="54864" marR="54864" marT="22860" marB="22860" anchor="ctr">
                    <a:solidFill>
                      <a:srgbClr val="FFFFFF"/>
                    </a:solidFill>
                    <a:lnL w="9525">
                      <a:solidFill>
                        <a:srgbClr val="000000"/>
                      </a:solidFill>
                    </a:lnL>
                    <a:lnR w="9525">
                      <a:solidFill>
                        <a:srgbClr val="000000"/>
                      </a:solidFill>
                    </a:lnR>
                    <a:lnT w="9525">
                      <a:solidFill>
                        <a:srgbClr val="000000"/>
                      </a:solidFill>
                    </a:lnT>
                    <a:lnB w="9525">
                      <a:solidFill>
                        <a:srgbClr val="000000"/>
                      </a:solidFill>
                    </a:lnB>
                  </a:tcPr>
                </a:tc>
              </a:tr>
              <a:tr h="393192">
                <a:tc>
                  <a:txBody>
                    <a:bodyPr wrap="square"/>
                    <a:lstStyle/>
                    <a:p>
                      <a:pPr algn="l"/>
                      <a:r>
                        <a:rPr sz="1150" b="1" i="0">
                          <a:solidFill>
                            <a:srgbClr val="111111"/>
                          </a:solidFill>
                          <a:latin typeface="Times New Roman"/>
                        </a:rPr>
                        <a:t>Explanations</a:t>
                      </a:r>
                    </a:p>
                  </a:txBody>
                  <a:tcPr marL="54864" marR="54864" marT="22860" marB="22860" anchor="ctr">
                    <a:solidFill>
                      <a:srgbClr val="FFFFFF"/>
                    </a:solidFill>
                    <a:lnL w="9525">
                      <a:solidFill>
                        <a:srgbClr val="000000"/>
                      </a:solidFill>
                    </a:lnL>
                    <a:lnR w="9525">
                      <a:solidFill>
                        <a:srgbClr val="000000"/>
                      </a:solidFill>
                    </a:lnR>
                    <a:lnT w="9525">
                      <a:solidFill>
                        <a:srgbClr val="000000"/>
                      </a:solidFill>
                    </a:lnT>
                    <a:lnB w="9525">
                      <a:solidFill>
                        <a:srgbClr val="000000"/>
                      </a:solidFill>
                    </a:lnB>
                  </a:tcPr>
                </a:tc>
                <a:tc>
                  <a:txBody>
                    <a:bodyPr wrap="square"/>
                    <a:lstStyle/>
                    <a:p>
                      <a:pPr algn="l"/>
                      <a:r>
                        <a:rPr sz="1150" b="0" i="0">
                          <a:solidFill>
                            <a:srgbClr val="111111"/>
                          </a:solidFill>
                          <a:latin typeface="Times New Roman"/>
                        </a:rPr>
                        <a:t>Per-factor contributions (SHAP values): "what is pushing the risk"</a:t>
                      </a:r>
                    </a:p>
                  </a:txBody>
                  <a:tcPr marL="54864" marR="54864" marT="22860" marB="22860" anchor="ctr">
                    <a:solidFill>
                      <a:srgbClr val="FFFFFF"/>
                    </a:solidFill>
                    <a:lnL w="9525">
                      <a:solidFill>
                        <a:srgbClr val="000000"/>
                      </a:solidFill>
                    </a:lnL>
                    <a:lnR w="9525">
                      <a:solidFill>
                        <a:srgbClr val="000000"/>
                      </a:solidFill>
                    </a:lnR>
                    <a:lnT w="9525">
                      <a:solidFill>
                        <a:srgbClr val="000000"/>
                      </a:solidFill>
                    </a:lnT>
                    <a:lnB w="9525">
                      <a:solidFill>
                        <a:srgbClr val="000000"/>
                      </a:solidFill>
                    </a:lnB>
                  </a:tcPr>
                </a:tc>
              </a:tr>
            </a:tbl>
          </a:graphicData>
        </a:graphic>
      </p:graphicFrame>
      <p:sp>
        <p:nvSpPr>
          <p:cNvPr id="14" name="Sources box"/>
          <p:cNvSpPr/>
          <p:nvPr/>
        </p:nvSpPr>
        <p:spPr>
          <a:xfrm>
            <a:off x="6446520" y="4645152"/>
            <a:ext cx="5029200" cy="1828800"/>
          </a:xfrm>
          <a:prstGeom prst="roundRect">
            <a:avLst>
              <a:gd name="adj" fmla="val 10000"/>
            </a:avLst>
          </a:prstGeom>
          <a:solidFill>
            <a:srgbClr val="FFFFFF"/>
          </a:solidFill>
          <a:ln w="12700">
            <a:solidFill>
              <a:srgbClr val="40404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Sources text"/>
          <p:cNvSpPr txBox="1"/>
          <p:nvPr/>
        </p:nvSpPr>
        <p:spPr>
          <a:xfrm>
            <a:off x="6537960" y="4681728"/>
            <a:ext cx="4892040" cy="1783080"/>
          </a:xfrm>
          <a:prstGeom prst="rect">
            <a:avLst/>
          </a:prstGeom>
          <a:noFill/>
        </p:spPr>
        <p:txBody>
          <a:bodyPr wrap="square" anchor="t" lIns="54864" rIns="54864" tIns="27432" bIns="27432">
            <a:spAutoFit/>
          </a:bodyPr>
          <a:lstStyle/>
          <a:p>
            <a:pPr algn="l">
              <a:spcAft>
                <a:spcPts val="400"/>
              </a:spcAft>
              <a:buNone/>
            </a:pPr>
            <a:r>
              <a:rPr sz="1350" b="1" i="0">
                <a:solidFill>
                  <a:srgbClr val="111111"/>
                </a:solidFill>
                <a:latin typeface="Times New Roman"/>
              </a:rPr>
              <a:t>Every number has a source</a:t>
            </a:r>
          </a:p>
          <a:p>
            <a:pPr algn="l" marL="164592" indent="-164592">
              <a:spcAft>
                <a:spcPts val="400"/>
              </a:spcAft>
              <a:buChar char="•"/>
            </a:pPr>
            <a:r>
              <a:rPr sz="1250" b="0" i="0">
                <a:solidFill>
                  <a:srgbClr val="111111"/>
                </a:solidFill>
                <a:latin typeface="Times New Roman"/>
              </a:rPr>
              <a:t>Breathing rise before flare-ups: </a:t>
            </a:r>
            <a:r>
              <a:rPr sz="1250" b="0" i="1">
                <a:solidFill>
                  <a:srgbClr val="111111"/>
                </a:solidFill>
                <a:latin typeface="Times New Roman"/>
              </a:rPr>
              <a:t>Yañez 2012</a:t>
            </a:r>
          </a:p>
          <a:p>
            <a:pPr algn="l" marL="164592" indent="-164592">
              <a:spcAft>
                <a:spcPts val="400"/>
              </a:spcAft>
              <a:buChar char="•"/>
            </a:pPr>
            <a:r>
              <a:rPr sz="1250" b="0" i="0">
                <a:solidFill>
                  <a:srgbClr val="111111"/>
                </a:solidFill>
                <a:latin typeface="Times New Roman"/>
              </a:rPr>
              <a:t>Flare-up rates by severity: </a:t>
            </a:r>
            <a:r>
              <a:rPr sz="1250" b="0" i="1">
                <a:solidFill>
                  <a:srgbClr val="111111"/>
                </a:solidFill>
                <a:latin typeface="Times New Roman"/>
              </a:rPr>
              <a:t>ECLIPSE, Hurst 2010</a:t>
            </a:r>
          </a:p>
          <a:p>
            <a:pPr algn="l" marL="164592" indent="-164592">
              <a:spcAft>
                <a:spcPts val="400"/>
              </a:spcAft>
              <a:buChar char="•"/>
            </a:pPr>
            <a:r>
              <a:rPr sz="1250" b="0" i="0">
                <a:solidFill>
                  <a:srgbClr val="111111"/>
                </a:solidFill>
                <a:latin typeface="Times New Roman"/>
              </a:rPr>
              <a:t>Eosinophils ≥340/µL: </a:t>
            </a:r>
            <a:r>
              <a:rPr sz="1250" b="1" i="0">
                <a:solidFill>
                  <a:srgbClr val="111111"/>
                </a:solidFill>
                <a:latin typeface="Times New Roman"/>
              </a:rPr>
              <a:t>1.76×</a:t>
            </a:r>
            <a:r>
              <a:rPr sz="1250" b="0" i="0">
                <a:solidFill>
                  <a:srgbClr val="111111"/>
                </a:solidFill>
                <a:latin typeface="Times New Roman"/>
              </a:rPr>
              <a:t> flare-ups </a:t>
            </a:r>
            <a:r>
              <a:rPr sz="1250" b="0" i="1">
                <a:solidFill>
                  <a:srgbClr val="111111"/>
                </a:solidFill>
                <a:latin typeface="Times New Roman"/>
              </a:rPr>
              <a:t>(Vedel-Krogh 2016)</a:t>
            </a:r>
          </a:p>
          <a:p>
            <a:pPr algn="l" marL="164592" indent="-164592">
              <a:spcAft>
                <a:spcPts val="400"/>
              </a:spcAft>
              <a:buChar char="•"/>
            </a:pPr>
            <a:r>
              <a:rPr sz="1250" b="0" i="0">
                <a:solidFill>
                  <a:srgbClr val="111111"/>
                </a:solidFill>
                <a:latin typeface="Times New Roman"/>
              </a:rPr>
              <a:t>Still smoking: </a:t>
            </a:r>
            <a:r>
              <a:rPr sz="1250" b="1" i="0">
                <a:solidFill>
                  <a:srgbClr val="111111"/>
                </a:solidFill>
                <a:latin typeface="Times New Roman"/>
              </a:rPr>
              <a:t>1.28×</a:t>
            </a:r>
            <a:r>
              <a:rPr sz="1250" b="0" i="0">
                <a:solidFill>
                  <a:srgbClr val="111111"/>
                </a:solidFill>
                <a:latin typeface="Times New Roman"/>
              </a:rPr>
              <a:t> </a:t>
            </a:r>
            <a:r>
              <a:rPr sz="1250" b="0" i="1">
                <a:solidFill>
                  <a:srgbClr val="111111"/>
                </a:solidFill>
                <a:latin typeface="Times New Roman"/>
              </a:rPr>
              <a:t>(Au 2009)</a:t>
            </a:r>
            <a:r>
              <a:rPr sz="1250" b="0" i="0">
                <a:solidFill>
                  <a:srgbClr val="111111"/>
                </a:solidFill>
                <a:latin typeface="Times New Roman"/>
              </a:rPr>
              <a:t> · PM2.5: </a:t>
            </a:r>
            <a:r>
              <a:rPr sz="1250" b="0" i="1">
                <a:solidFill>
                  <a:srgbClr val="111111"/>
                </a:solidFill>
                <a:latin typeface="Times New Roman"/>
              </a:rPr>
              <a:t>DeVries 2017</a:t>
            </a:r>
          </a:p>
          <a:p>
            <a:pPr algn="l" marL="164592" indent="-164592">
              <a:spcAft>
                <a:spcPts val="400"/>
              </a:spcAft>
              <a:buChar char="•"/>
            </a:pPr>
            <a:r>
              <a:rPr sz="1250" b="0" i="0">
                <a:solidFill>
                  <a:srgbClr val="111111"/>
                </a:solidFill>
                <a:latin typeface="Times New Roman"/>
              </a:rPr>
              <a:t>Anything unsourced is labelled </a:t>
            </a:r>
            <a:r>
              <a:rPr sz="1250" b="1" i="0">
                <a:solidFill>
                  <a:srgbClr val="111111"/>
                </a:solidFill>
                <a:latin typeface="Times New Roman"/>
              </a:rPr>
              <a:t>ASSUMPTION</a:t>
            </a:r>
            <a:r>
              <a:rPr sz="1250" b="0" i="0">
                <a:solidFill>
                  <a:srgbClr val="111111"/>
                </a:solidFill>
                <a:latin typeface="Times New Roman"/>
              </a:rPr>
              <a:t> in the code</a:t>
            </a:r>
          </a:p>
        </p:txBody>
      </p:sp>
      <p:sp>
        <p:nvSpPr>
          <p:cNvPr id="16" name="Tech stack box"/>
          <p:cNvSpPr/>
          <p:nvPr/>
        </p:nvSpPr>
        <p:spPr>
          <a:xfrm>
            <a:off x="731520" y="5650992"/>
            <a:ext cx="5486400" cy="822960"/>
          </a:xfrm>
          <a:prstGeom prst="roundRect">
            <a:avLst>
              <a:gd name="adj" fmla="val 20000"/>
            </a:avLst>
          </a:prstGeom>
          <a:solidFill>
            <a:srgbClr val="FFFFFF"/>
          </a:solidFill>
          <a:ln w="12700">
            <a:solidFill>
              <a:srgbClr val="40404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22960" y="5669280"/>
            <a:ext cx="5349240" cy="786384"/>
          </a:xfrm>
          <a:prstGeom prst="rect">
            <a:avLst/>
          </a:prstGeom>
          <a:noFill/>
        </p:spPr>
        <p:txBody>
          <a:bodyPr wrap="square" anchor="ctr" lIns="54864" rIns="54864" tIns="27432" bIns="27432">
            <a:spAutoFit/>
          </a:bodyPr>
          <a:lstStyle/>
          <a:p>
            <a:pPr algn="l">
              <a:spcAft>
                <a:spcPts val="200"/>
              </a:spcAft>
              <a:buNone/>
            </a:pPr>
            <a:r>
              <a:rPr sz="1150" b="1" i="0">
                <a:solidFill>
                  <a:srgbClr val="111111"/>
                </a:solidFill>
                <a:latin typeface="Times New Roman"/>
              </a:rPr>
              <a:t>Tech stack:</a:t>
            </a:r>
            <a:r>
              <a:rPr sz="1150" b="0" i="0">
                <a:solidFill>
                  <a:srgbClr val="111111"/>
                </a:solidFill>
                <a:latin typeface="Times New Roman"/>
              </a:rPr>
              <a:t> Python · pandas · LightGBM · scikit-learn · Streamlit · Plotly · Synthea (Java)</a:t>
            </a:r>
          </a:p>
          <a:p>
            <a:pPr algn="l">
              <a:spcAft>
                <a:spcPts val="200"/>
              </a:spcAft>
              <a:buNone/>
            </a:pPr>
            <a:r>
              <a:rPr sz="1150" b="1" i="0">
                <a:solidFill>
                  <a:srgbClr val="111111"/>
                </a:solidFill>
                <a:latin typeface="Times New Roman"/>
              </a:rPr>
              <a:t>Open source:</a:t>
            </a:r>
            <a:r>
              <a:rPr sz="1150" b="0" i="0">
                <a:solidFill>
                  <a:srgbClr val="111111"/>
                </a:solidFill>
                <a:latin typeface="Times New Roman"/>
              </a:rPr>
              <a:t> MIT licence; whole pipeline rebuilds with one command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descr="bg_content.jpg"/>
          <p:cNvPicPr>
            <a:picLocks noChangeAspect="1"/>
          </p:cNvPicPr>
          <p:nvPr/>
        </p:nvPicPr>
        <p:blipFill>
          <a:blip r:embed="rId2"/>
          <a:stretch>
            <a:fillRect/>
          </a:stretch>
        </p:blipFill>
        <p:spPr>
          <a:xfrm>
            <a:off x="0" y="0"/>
            <a:ext cx="12191695" cy="6858000"/>
          </a:xfrm>
          <a:prstGeom prst="rect">
            <a:avLst/>
          </a:prstGeom>
        </p:spPr>
      </p:pic>
      <p:sp>
        <p:nvSpPr>
          <p:cNvPr id="3" name="BreatheTwin logo"/>
          <p:cNvSpPr/>
          <p:nvPr/>
        </p:nvSpPr>
        <p:spPr>
          <a:xfrm>
            <a:off x="411480" y="201168"/>
            <a:ext cx="3794760" cy="603504"/>
          </a:xfrm>
          <a:prstGeom prst="rect">
            <a:avLst/>
          </a:prstGeom>
          <a:solidFill>
            <a:srgbClr val="0B2A78"/>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Logo mark"/>
          <p:cNvSpPr/>
          <p:nvPr/>
        </p:nvSpPr>
        <p:spPr>
          <a:xfrm>
            <a:off x="475488" y="256032"/>
            <a:ext cx="493776" cy="4937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900" b="1">
                <a:solidFill>
                  <a:srgbClr val="B23A2E"/>
                </a:solidFill>
                <a:latin typeface="Arial"/>
              </a:rPr>
              <a:t>BT</a:t>
            </a:r>
          </a:p>
        </p:txBody>
      </p:sp>
      <p:sp>
        <p:nvSpPr>
          <p:cNvPr id="5" name="Logo text"/>
          <p:cNvSpPr txBox="1"/>
          <p:nvPr/>
        </p:nvSpPr>
        <p:spPr>
          <a:xfrm>
            <a:off x="1024128" y="182880"/>
            <a:ext cx="3154680" cy="457200"/>
          </a:xfrm>
          <a:prstGeom prst="rect">
            <a:avLst/>
          </a:prstGeom>
          <a:noFill/>
        </p:spPr>
        <p:txBody>
          <a:bodyPr wrap="none" lIns="0" tIns="0" bIns="0">
            <a:spAutoFit/>
          </a:bodyPr>
          <a:lstStyle/>
          <a:p>
            <a:r>
              <a:rPr sz="2500" b="1">
                <a:solidFill>
                  <a:srgbClr val="FFFFFF"/>
                </a:solidFill>
                <a:latin typeface="Arial"/>
              </a:rPr>
              <a:t>BREATHETWIN</a:t>
            </a:r>
          </a:p>
        </p:txBody>
      </p:sp>
      <p:sp>
        <p:nvSpPr>
          <p:cNvPr id="6" name="Logo sub"/>
          <p:cNvSpPr txBox="1"/>
          <p:nvPr/>
        </p:nvSpPr>
        <p:spPr>
          <a:xfrm>
            <a:off x="1024128" y="585216"/>
            <a:ext cx="3108960" cy="219456"/>
          </a:xfrm>
          <a:prstGeom prst="rect">
            <a:avLst/>
          </a:prstGeom>
          <a:noFill/>
        </p:spPr>
        <p:txBody>
          <a:bodyPr wrap="none" lIns="0" tIns="0" bIns="0" rIns="0">
            <a:spAutoFit/>
          </a:bodyPr>
          <a:lstStyle/>
          <a:p>
            <a:pPr algn="r"/>
            <a:r>
              <a:rPr sz="900" b="1">
                <a:solidFill>
                  <a:srgbClr val="FFFFFF"/>
                </a:solidFill>
                <a:latin typeface="Arial"/>
              </a:rPr>
              <a:t>TEAM MOMENTUM</a:t>
            </a:r>
          </a:p>
        </p:txBody>
      </p:sp>
      <p:sp>
        <p:nvSpPr>
          <p:cNvPr id="7" name="Logo tagline"/>
          <p:cNvSpPr txBox="1"/>
          <p:nvPr/>
        </p:nvSpPr>
        <p:spPr>
          <a:xfrm>
            <a:off x="566928" y="822960"/>
            <a:ext cx="4023360" cy="274320"/>
          </a:xfrm>
          <a:prstGeom prst="rect">
            <a:avLst/>
          </a:prstGeom>
          <a:noFill/>
        </p:spPr>
        <p:txBody>
          <a:bodyPr wrap="none" lIns="0" tIns="0" bIns="0">
            <a:spAutoFit/>
          </a:bodyPr>
          <a:lstStyle/>
          <a:p>
            <a:r>
              <a:rPr sz="1300" b="1" i="1">
                <a:solidFill>
                  <a:srgbClr val="FFFFFF"/>
                </a:solidFill>
                <a:latin typeface="Arial"/>
              </a:rPr>
              <a:t>EARLY WARNING. EASIER BREATHING.</a:t>
            </a:r>
          </a:p>
        </p:txBody>
      </p:sp>
      <p:sp>
        <p:nvSpPr>
          <p:cNvPr id="8" name="Content panel"/>
          <p:cNvSpPr/>
          <p:nvPr/>
        </p:nvSpPr>
        <p:spPr>
          <a:xfrm>
            <a:off x="502920" y="1115568"/>
            <a:ext cx="11201400" cy="5559552"/>
          </a:xfrm>
          <a:prstGeom prst="rect">
            <a:avLst/>
          </a:prstGeom>
          <a:solidFill>
            <a:srgbClr val="FFFFFF"/>
          </a:solidFill>
          <a:ln w="12700">
            <a:solidFill>
              <a:srgbClr val="F4B18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itle box"/>
          <p:cNvSpPr/>
          <p:nvPr/>
        </p:nvSpPr>
        <p:spPr>
          <a:xfrm>
            <a:off x="731520" y="1225296"/>
            <a:ext cx="10744200" cy="658368"/>
          </a:xfrm>
          <a:prstGeom prst="rect">
            <a:avLst/>
          </a:prstGeom>
          <a:solidFill>
            <a:srgbClr val="FFFFFF"/>
          </a:solidFill>
          <a:ln w="12700">
            <a:solidFill>
              <a:srgbClr val="40404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i="0">
                <a:solidFill>
                  <a:srgbClr val="111111"/>
                </a:solidFill>
                <a:latin typeface="Times New Roman"/>
              </a:rPr>
              <a:t>Results: 2 in 3 flare-ups flagged 1 to 3 days ahead</a:t>
            </a:r>
          </a:p>
        </p:txBody>
      </p:sp>
      <p:sp>
        <p:nvSpPr>
          <p:cNvPr id="10" name="KPI Accuracy score (AUROC)"/>
          <p:cNvSpPr/>
          <p:nvPr/>
        </p:nvSpPr>
        <p:spPr>
          <a:xfrm>
            <a:off x="731520" y="2011680"/>
            <a:ext cx="2560320" cy="1143000"/>
          </a:xfrm>
          <a:prstGeom prst="rect">
            <a:avLst/>
          </a:prstGeom>
          <a:solidFill>
            <a:srgbClr val="FFE699"/>
          </a:solidFill>
          <a:ln w="12700">
            <a:solidFill>
              <a:srgbClr val="F4B183"/>
            </a:solid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3400" b="1" i="0">
                <a:solidFill>
                  <a:srgbClr val="0B2A78"/>
                </a:solidFill>
                <a:latin typeface="Times New Roman"/>
              </a:rPr>
              <a:t>0.80</a:t>
            </a:r>
          </a:p>
          <a:p>
            <a:pPr algn="ctr"/>
            <a:r>
              <a:rPr sz="1300" b="1" i="0">
                <a:solidFill>
                  <a:srgbClr val="111111"/>
                </a:solidFill>
                <a:latin typeface="Times New Roman"/>
              </a:rPr>
              <a:t>Accuracy score (AUROC)</a:t>
            </a:r>
          </a:p>
          <a:p>
            <a:pPr algn="ctr"/>
            <a:r>
              <a:rPr sz="1100" b="0" i="1">
                <a:solidFill>
                  <a:srgbClr val="111111"/>
                </a:solidFill>
                <a:latin typeface="Times New Roman"/>
              </a:rPr>
              <a:t>published tools: 0.68 to 0.85</a:t>
            </a:r>
          </a:p>
        </p:txBody>
      </p:sp>
      <p:sp>
        <p:nvSpPr>
          <p:cNvPr id="11" name="KPI Flare-ups warned"/>
          <p:cNvSpPr/>
          <p:nvPr/>
        </p:nvSpPr>
        <p:spPr>
          <a:xfrm>
            <a:off x="3447288" y="2011680"/>
            <a:ext cx="2560320" cy="1143000"/>
          </a:xfrm>
          <a:prstGeom prst="rect">
            <a:avLst/>
          </a:prstGeom>
          <a:solidFill>
            <a:srgbClr val="FFE699"/>
          </a:solidFill>
          <a:ln w="12700">
            <a:solidFill>
              <a:srgbClr val="F4B183"/>
            </a:solid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3400" b="1" i="0">
                <a:solidFill>
                  <a:srgbClr val="0B2A78"/>
                </a:solidFill>
                <a:latin typeface="Times New Roman"/>
              </a:rPr>
              <a:t>66%</a:t>
            </a:r>
          </a:p>
          <a:p>
            <a:pPr algn="ctr"/>
            <a:r>
              <a:rPr sz="1300" b="1" i="0">
                <a:solidFill>
                  <a:srgbClr val="111111"/>
                </a:solidFill>
                <a:latin typeface="Times New Roman"/>
              </a:rPr>
              <a:t>Flare-ups warned</a:t>
            </a:r>
          </a:p>
          <a:p>
            <a:pPr algn="ctr"/>
            <a:r>
              <a:rPr sz="1100" b="0" i="1">
                <a:solidFill>
                  <a:srgbClr val="111111"/>
                </a:solidFill>
                <a:latin typeface="Times New Roman"/>
              </a:rPr>
              <a:t>1 to 3 days ahead</a:t>
            </a:r>
          </a:p>
        </p:txBody>
      </p:sp>
      <p:sp>
        <p:nvSpPr>
          <p:cNvPr id="12" name="KPI False alerts"/>
          <p:cNvSpPr/>
          <p:nvPr/>
        </p:nvSpPr>
        <p:spPr>
          <a:xfrm>
            <a:off x="6163056" y="2011680"/>
            <a:ext cx="2560320" cy="1143000"/>
          </a:xfrm>
          <a:prstGeom prst="rect">
            <a:avLst/>
          </a:prstGeom>
          <a:solidFill>
            <a:srgbClr val="FFE699"/>
          </a:solidFill>
          <a:ln w="12700">
            <a:solidFill>
              <a:srgbClr val="F4B183"/>
            </a:solid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3400" b="1" i="0">
                <a:solidFill>
                  <a:srgbClr val="0B2A78"/>
                </a:solidFill>
                <a:latin typeface="Times New Roman"/>
              </a:rPr>
              <a:t>0.8</a:t>
            </a:r>
          </a:p>
          <a:p>
            <a:pPr algn="ctr"/>
            <a:r>
              <a:rPr sz="1300" b="1" i="0">
                <a:solidFill>
                  <a:srgbClr val="111111"/>
                </a:solidFill>
                <a:latin typeface="Times New Roman"/>
              </a:rPr>
              <a:t>False alerts</a:t>
            </a:r>
          </a:p>
          <a:p>
            <a:pPr algn="ctr"/>
            <a:r>
              <a:rPr sz="1100" b="0" i="1">
                <a:solidFill>
                  <a:srgbClr val="111111"/>
                </a:solidFill>
                <a:latin typeface="Times New Roman"/>
              </a:rPr>
              <a:t>per patient per month</a:t>
            </a:r>
          </a:p>
        </p:txBody>
      </p:sp>
      <p:sp>
        <p:nvSpPr>
          <p:cNvPr id="13" name="KPI Unseen test patients"/>
          <p:cNvSpPr/>
          <p:nvPr/>
        </p:nvSpPr>
        <p:spPr>
          <a:xfrm>
            <a:off x="8878824" y="2011680"/>
            <a:ext cx="2560320" cy="1143000"/>
          </a:xfrm>
          <a:prstGeom prst="rect">
            <a:avLst/>
          </a:prstGeom>
          <a:solidFill>
            <a:srgbClr val="FFE699"/>
          </a:solidFill>
          <a:ln w="12700">
            <a:solidFill>
              <a:srgbClr val="F4B183"/>
            </a:solid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3400" b="1" i="0">
                <a:solidFill>
                  <a:srgbClr val="0B2A78"/>
                </a:solidFill>
                <a:latin typeface="Times New Roman"/>
              </a:rPr>
              <a:t>120</a:t>
            </a:r>
          </a:p>
          <a:p>
            <a:pPr algn="ctr"/>
            <a:r>
              <a:rPr sz="1300" b="1" i="0">
                <a:solidFill>
                  <a:srgbClr val="111111"/>
                </a:solidFill>
                <a:latin typeface="Times New Roman"/>
              </a:rPr>
              <a:t>Unseen test patients</a:t>
            </a:r>
          </a:p>
          <a:p>
            <a:pPr algn="ctr"/>
            <a:r>
              <a:rPr sz="1100" b="0" i="1">
                <a:solidFill>
                  <a:srgbClr val="111111"/>
                </a:solidFill>
                <a:latin typeface="Times New Roman"/>
              </a:rPr>
              <a:t>never used in training</a:t>
            </a:r>
          </a:p>
        </p:txBody>
      </p:sp>
      <p:graphicFrame>
        <p:nvGraphicFramePr>
          <p:cNvPr id="14" name="Streams chart"/>
          <p:cNvGraphicFramePr>
            <a:graphicFrameLocks noGrp="1"/>
          </p:cNvGraphicFramePr>
          <p:nvPr/>
        </p:nvGraphicFramePr>
        <p:xfrm>
          <a:off x="731520" y="3291840"/>
          <a:ext cx="5120640" cy="2487168"/>
        </p:xfrm>
        <a:graphic>
          <a:graphicData uri="http://schemas.openxmlformats.org/drawingml/2006/chart">
            <c:chart xmlns:c="http://schemas.openxmlformats.org/drawingml/2006/chart" r:id="rId4"/>
          </a:graphicData>
        </a:graphic>
      </p:graphicFrame>
      <p:graphicFrame>
        <p:nvGraphicFramePr>
          <p:cNvPr id="15" name="Factors chart"/>
          <p:cNvGraphicFramePr>
            <a:graphicFrameLocks noGrp="1"/>
          </p:cNvGraphicFramePr>
          <p:nvPr/>
        </p:nvGraphicFramePr>
        <p:xfrm>
          <a:off x="6035040" y="3291840"/>
          <a:ext cx="5440680" cy="2487168"/>
        </p:xfrm>
        <a:graphic>
          <a:graphicData uri="http://schemas.openxmlformats.org/drawingml/2006/chart">
            <c:chart xmlns:c="http://schemas.openxmlformats.org/drawingml/2006/chart" r:id="rId5"/>
          </a:graphicData>
        </a:graphic>
      </p:graphicFrame>
      <p:sp>
        <p:nvSpPr>
          <p:cNvPr id="16" name="Takeaway banner"/>
          <p:cNvSpPr/>
          <p:nvPr/>
        </p:nvSpPr>
        <p:spPr>
          <a:xfrm>
            <a:off x="731520" y="5870448"/>
            <a:ext cx="10744200" cy="658368"/>
          </a:xfrm>
          <a:prstGeom prst="rect">
            <a:avLst/>
          </a:prstGeom>
          <a:solidFill>
            <a:srgbClr val="FFE699"/>
          </a:solidFill>
          <a:ln w="12700">
            <a:solidFill>
              <a:srgbClr val="F4B183"/>
            </a:solid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1700" b="1" i="0">
                <a:solidFill>
                  <a:srgbClr val="111111"/>
                </a:solidFill>
                <a:latin typeface="Times New Roman"/>
              </a:rPr>
              <a:t>What this means:</a:t>
            </a:r>
          </a:p>
          <a:p>
            <a:pPr algn="ctr"/>
            <a:r>
              <a:rPr sz="1500" b="0" i="1">
                <a:solidFill>
                  <a:srgbClr val="111111"/>
                </a:solidFill>
                <a:latin typeface="Times New Roman"/>
              </a:rPr>
              <a:t>Body signals carry the early warning; the health record sets each person's starting risk; air and weather explain the seasons.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descr="bg_content.jpg"/>
          <p:cNvPicPr>
            <a:picLocks noChangeAspect="1"/>
          </p:cNvPicPr>
          <p:nvPr/>
        </p:nvPicPr>
        <p:blipFill>
          <a:blip r:embed="rId2"/>
          <a:stretch>
            <a:fillRect/>
          </a:stretch>
        </p:blipFill>
        <p:spPr>
          <a:xfrm>
            <a:off x="0" y="0"/>
            <a:ext cx="12191695" cy="6858000"/>
          </a:xfrm>
          <a:prstGeom prst="rect">
            <a:avLst/>
          </a:prstGeom>
        </p:spPr>
      </p:pic>
      <p:sp>
        <p:nvSpPr>
          <p:cNvPr id="3" name="BreatheTwin logo"/>
          <p:cNvSpPr/>
          <p:nvPr/>
        </p:nvSpPr>
        <p:spPr>
          <a:xfrm>
            <a:off x="411480" y="201168"/>
            <a:ext cx="3794760" cy="603504"/>
          </a:xfrm>
          <a:prstGeom prst="rect">
            <a:avLst/>
          </a:prstGeom>
          <a:solidFill>
            <a:srgbClr val="0B2A78"/>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Logo mark"/>
          <p:cNvSpPr/>
          <p:nvPr/>
        </p:nvSpPr>
        <p:spPr>
          <a:xfrm>
            <a:off x="475488" y="256032"/>
            <a:ext cx="493776" cy="4937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900" b="1">
                <a:solidFill>
                  <a:srgbClr val="B23A2E"/>
                </a:solidFill>
                <a:latin typeface="Arial"/>
              </a:rPr>
              <a:t>BT</a:t>
            </a:r>
          </a:p>
        </p:txBody>
      </p:sp>
      <p:sp>
        <p:nvSpPr>
          <p:cNvPr id="5" name="Logo text"/>
          <p:cNvSpPr txBox="1"/>
          <p:nvPr/>
        </p:nvSpPr>
        <p:spPr>
          <a:xfrm>
            <a:off x="1024128" y="182880"/>
            <a:ext cx="3154680" cy="457200"/>
          </a:xfrm>
          <a:prstGeom prst="rect">
            <a:avLst/>
          </a:prstGeom>
          <a:noFill/>
        </p:spPr>
        <p:txBody>
          <a:bodyPr wrap="none" lIns="0" tIns="0" bIns="0">
            <a:spAutoFit/>
          </a:bodyPr>
          <a:lstStyle/>
          <a:p>
            <a:r>
              <a:rPr sz="2500" b="1">
                <a:solidFill>
                  <a:srgbClr val="FFFFFF"/>
                </a:solidFill>
                <a:latin typeface="Arial"/>
              </a:rPr>
              <a:t>BREATHETWIN</a:t>
            </a:r>
          </a:p>
        </p:txBody>
      </p:sp>
      <p:sp>
        <p:nvSpPr>
          <p:cNvPr id="6" name="Logo sub"/>
          <p:cNvSpPr txBox="1"/>
          <p:nvPr/>
        </p:nvSpPr>
        <p:spPr>
          <a:xfrm>
            <a:off x="1024128" y="585216"/>
            <a:ext cx="3108960" cy="219456"/>
          </a:xfrm>
          <a:prstGeom prst="rect">
            <a:avLst/>
          </a:prstGeom>
          <a:noFill/>
        </p:spPr>
        <p:txBody>
          <a:bodyPr wrap="none" lIns="0" tIns="0" bIns="0" rIns="0">
            <a:spAutoFit/>
          </a:bodyPr>
          <a:lstStyle/>
          <a:p>
            <a:pPr algn="r"/>
            <a:r>
              <a:rPr sz="900" b="1">
                <a:solidFill>
                  <a:srgbClr val="FFFFFF"/>
                </a:solidFill>
                <a:latin typeface="Arial"/>
              </a:rPr>
              <a:t>TEAM MOMENTUM</a:t>
            </a:r>
          </a:p>
        </p:txBody>
      </p:sp>
      <p:sp>
        <p:nvSpPr>
          <p:cNvPr id="7" name="Logo tagline"/>
          <p:cNvSpPr txBox="1"/>
          <p:nvPr/>
        </p:nvSpPr>
        <p:spPr>
          <a:xfrm>
            <a:off x="566928" y="822960"/>
            <a:ext cx="4023360" cy="274320"/>
          </a:xfrm>
          <a:prstGeom prst="rect">
            <a:avLst/>
          </a:prstGeom>
          <a:noFill/>
        </p:spPr>
        <p:txBody>
          <a:bodyPr wrap="none" lIns="0" tIns="0" bIns="0">
            <a:spAutoFit/>
          </a:bodyPr>
          <a:lstStyle/>
          <a:p>
            <a:r>
              <a:rPr sz="1300" b="1" i="1">
                <a:solidFill>
                  <a:srgbClr val="FFFFFF"/>
                </a:solidFill>
                <a:latin typeface="Arial"/>
              </a:rPr>
              <a:t>EARLY WARNING. EASIER BREATHING.</a:t>
            </a:r>
          </a:p>
        </p:txBody>
      </p:sp>
      <p:sp>
        <p:nvSpPr>
          <p:cNvPr id="8" name="Content panel"/>
          <p:cNvSpPr/>
          <p:nvPr/>
        </p:nvSpPr>
        <p:spPr>
          <a:xfrm>
            <a:off x="502920" y="1115568"/>
            <a:ext cx="11201400" cy="5559552"/>
          </a:xfrm>
          <a:prstGeom prst="rect">
            <a:avLst/>
          </a:prstGeom>
          <a:solidFill>
            <a:srgbClr val="FFFFFF"/>
          </a:solidFill>
          <a:ln w="12700">
            <a:solidFill>
              <a:srgbClr val="F4B18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itle box"/>
          <p:cNvSpPr/>
          <p:nvPr/>
        </p:nvSpPr>
        <p:spPr>
          <a:xfrm>
            <a:off x="731520" y="1225296"/>
            <a:ext cx="10744200" cy="658368"/>
          </a:xfrm>
          <a:prstGeom prst="rect">
            <a:avLst/>
          </a:prstGeom>
          <a:solidFill>
            <a:srgbClr val="FFFFFF"/>
          </a:solidFill>
          <a:ln w="12700">
            <a:solidFill>
              <a:srgbClr val="40404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i="0">
                <a:solidFill>
                  <a:srgbClr val="111111"/>
                </a:solidFill>
                <a:latin typeface="Times New Roman"/>
              </a:rPr>
              <a:t>Stress test on 100 real patients: robust, fair, right direction</a:t>
            </a:r>
          </a:p>
        </p:txBody>
      </p:sp>
      <p:sp>
        <p:nvSpPr>
          <p:cNvPr id="10" name="KPI real patients assessed"/>
          <p:cNvSpPr/>
          <p:nvPr/>
        </p:nvSpPr>
        <p:spPr>
          <a:xfrm>
            <a:off x="731520" y="2011680"/>
            <a:ext cx="2560320" cy="960120"/>
          </a:xfrm>
          <a:prstGeom prst="rect">
            <a:avLst/>
          </a:prstGeom>
          <a:solidFill>
            <a:srgbClr val="FFE699"/>
          </a:solidFill>
          <a:ln w="12700">
            <a:solidFill>
              <a:srgbClr val="F4B183"/>
            </a:solid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3400" b="1" i="0">
                <a:solidFill>
                  <a:srgbClr val="0B2A78"/>
                </a:solidFill>
                <a:latin typeface="Times New Roman"/>
              </a:rPr>
              <a:t>75/100</a:t>
            </a:r>
          </a:p>
          <a:p>
            <a:pPr algn="ctr"/>
            <a:r>
              <a:rPr sz="1300" b="1" i="0">
                <a:solidFill>
                  <a:srgbClr val="111111"/>
                </a:solidFill>
                <a:latin typeface="Times New Roman"/>
              </a:rPr>
              <a:t>real patients assessed</a:t>
            </a:r>
          </a:p>
          <a:p>
            <a:pPr algn="ctr"/>
            <a:r>
              <a:rPr sz="1100" b="0" i="1">
                <a:solidFill>
                  <a:srgbClr val="111111"/>
                </a:solidFill>
                <a:latin typeface="Times New Roman"/>
              </a:rPr>
              <a:t>25 had under 48 h of vitals</a:t>
            </a:r>
          </a:p>
        </p:txBody>
      </p:sp>
      <p:sp>
        <p:nvSpPr>
          <p:cNvPr id="10" name="KPI crashes or invalid risks"/>
          <p:cNvSpPr/>
          <p:nvPr/>
        </p:nvSpPr>
        <p:spPr>
          <a:xfrm>
            <a:off x="3447288" y="2011680"/>
            <a:ext cx="2560320" cy="960120"/>
          </a:xfrm>
          <a:prstGeom prst="rect">
            <a:avLst/>
          </a:prstGeom>
          <a:solidFill>
            <a:srgbClr val="FFE699"/>
          </a:solidFill>
          <a:ln w="12700">
            <a:solidFill>
              <a:srgbClr val="F4B183"/>
            </a:solid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3400" b="1" i="0">
                <a:solidFill>
                  <a:srgbClr val="0B2A78"/>
                </a:solidFill>
                <a:latin typeface="Times New Roman"/>
              </a:rPr>
              <a:t>0</a:t>
            </a:r>
          </a:p>
          <a:p>
            <a:pPr algn="ctr"/>
            <a:r>
              <a:rPr sz="1300" b="1" i="0">
                <a:solidFill>
                  <a:srgbClr val="111111"/>
                </a:solidFill>
                <a:latin typeface="Times New Roman"/>
              </a:rPr>
              <a:t>crashes or invalid risks</a:t>
            </a:r>
          </a:p>
          <a:p>
            <a:pPr algn="ctr"/>
            <a:r>
              <a:rPr sz="1100" b="0" i="1">
                <a:solidFill>
                  <a:srgbClr val="111111"/>
                </a:solidFill>
                <a:latin typeface="Times New Roman"/>
              </a:rPr>
              <a:t>incl. missing oxygen sensor</a:t>
            </a:r>
          </a:p>
        </p:txBody>
      </p:sp>
      <p:sp>
        <p:nvSpPr>
          <p:cNvPr id="10" name="KPI risk vs real worsening"/>
          <p:cNvSpPr/>
          <p:nvPr/>
        </p:nvSpPr>
        <p:spPr>
          <a:xfrm>
            <a:off x="6163056" y="2011680"/>
            <a:ext cx="2560320" cy="960120"/>
          </a:xfrm>
          <a:prstGeom prst="rect">
            <a:avLst/>
          </a:prstGeom>
          <a:solidFill>
            <a:srgbClr val="FFE699"/>
          </a:solidFill>
          <a:ln w="12700">
            <a:solidFill>
              <a:srgbClr val="F4B183"/>
            </a:solid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3400" b="1" i="0">
                <a:solidFill>
                  <a:srgbClr val="0B2A78"/>
                </a:solidFill>
                <a:latin typeface="Times New Roman"/>
              </a:rPr>
              <a:t>0.71</a:t>
            </a:r>
          </a:p>
          <a:p>
            <a:pPr algn="ctr"/>
            <a:r>
              <a:rPr sz="1300" b="1" i="0">
                <a:solidFill>
                  <a:srgbClr val="111111"/>
                </a:solidFill>
                <a:latin typeface="Times New Roman"/>
              </a:rPr>
              <a:t>risk vs real worsening</a:t>
            </a:r>
          </a:p>
          <a:p>
            <a:pPr algn="ctr"/>
            <a:r>
              <a:rPr sz="1100" b="0" i="1">
                <a:solidFill>
                  <a:srgbClr val="111111"/>
                </a:solidFill>
                <a:latin typeface="Times New Roman"/>
              </a:rPr>
              <a:t>rank correlation</a:t>
            </a:r>
          </a:p>
        </p:txBody>
      </p:sp>
      <p:sp>
        <p:nvSpPr>
          <p:cNvPr id="10" name="KPI worse readings raise risk"/>
          <p:cNvSpPr/>
          <p:nvPr/>
        </p:nvSpPr>
        <p:spPr>
          <a:xfrm>
            <a:off x="8878824" y="2011680"/>
            <a:ext cx="2560320" cy="960120"/>
          </a:xfrm>
          <a:prstGeom prst="rect">
            <a:avLst/>
          </a:prstGeom>
          <a:solidFill>
            <a:srgbClr val="FFE699"/>
          </a:solidFill>
          <a:ln w="12700">
            <a:solidFill>
              <a:srgbClr val="F4B183"/>
            </a:solid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3400" b="1" i="0">
                <a:solidFill>
                  <a:srgbClr val="0B2A78"/>
                </a:solidFill>
                <a:latin typeface="Times New Roman"/>
              </a:rPr>
              <a:t>Pass</a:t>
            </a:r>
          </a:p>
          <a:p>
            <a:pPr algn="ctr"/>
            <a:r>
              <a:rPr sz="1300" b="1" i="0">
                <a:solidFill>
                  <a:srgbClr val="111111"/>
                </a:solidFill>
                <a:latin typeface="Times New Roman"/>
              </a:rPr>
              <a:t>worse readings raise risk</a:t>
            </a:r>
          </a:p>
          <a:p>
            <a:pPr algn="ctr"/>
            <a:r>
              <a:rPr sz="1100" b="0" i="1">
                <a:solidFill>
                  <a:srgbClr val="111111"/>
                </a:solidFill>
                <a:latin typeface="Times New Roman"/>
              </a:rPr>
              <a:t>8-case edge suite</a:t>
            </a:r>
          </a:p>
        </p:txBody>
      </p:sp>
      <p:sp>
        <p:nvSpPr>
          <p:cNvPr id="10" name="Tag: By sex and age group"/>
          <p:cNvSpPr/>
          <p:nvPr/>
        </p:nvSpPr>
        <p:spPr>
          <a:xfrm>
            <a:off x="731520" y="3108960"/>
            <a:ext cx="5120640" cy="411480"/>
          </a:xfrm>
          <a:prstGeom prst="rect">
            <a:avLst/>
          </a:prstGeom>
          <a:solidFill>
            <a:srgbClr val="FFE699"/>
          </a:solidFill>
          <a:ln w="12700">
            <a:solidFill>
              <a:srgbClr val="F4B183"/>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600" b="1" i="0">
                <a:solidFill>
                  <a:srgbClr val="111111"/>
                </a:solidFill>
                <a:latin typeface="Times New Roman"/>
              </a:rPr>
              <a:t>By sex and age group</a:t>
            </a:r>
          </a:p>
        </p:txBody>
      </p:sp>
      <p:graphicFrame>
        <p:nvGraphicFramePr>
          <p:cNvPr id="11" name="Fairness table"/>
          <p:cNvGraphicFramePr>
            <a:graphicFrameLocks noGrp="1"/>
          </p:cNvGraphicFramePr>
          <p:nvPr/>
        </p:nvGraphicFramePr>
        <p:xfrm>
          <a:off x="731520" y="3584448"/>
          <a:ext cx="5120640" cy="2139696"/>
        </p:xfrm>
        <a:graphic>
          <a:graphicData uri="http://schemas.openxmlformats.org/drawingml/2006/table">
            <a:tbl>
              <a:tblPr>
                <a:tableStyleId>{5C22544A-7EE6-4342-B048-85BDC9FD1C3A}</a:tableStyleId>
              </a:tblPr>
              <a:tblGrid>
                <a:gridCol w="1463040"/>
                <a:gridCol w="1097280"/>
                <a:gridCol w="1280160"/>
                <a:gridCol w="1280160"/>
              </a:tblGrid>
              <a:tr h="237744">
                <a:tc>
                  <a:txBody>
                    <a:bodyPr wrap="square"/>
                    <a:lstStyle/>
                    <a:p>
                      <a:pPr algn="ctr"/>
                      <a:r>
                        <a:rPr sz="1050" b="1">
                          <a:solidFill>
                            <a:srgbClr val="111111"/>
                          </a:solidFill>
                          <a:latin typeface="Times New Roman"/>
                        </a:rPr>
                        <a:t>Group</a:t>
                      </a:r>
                    </a:p>
                  </a:txBody>
                  <a:tcPr marL="54864" marR="54864" marT="22860" marB="22860" anchor="ctr">
                    <a:lnL w="9525">
                      <a:solidFill>
                        <a:srgbClr val="000000"/>
                      </a:solidFill>
                    </a:lnL>
                    <a:lnR w="9525">
                      <a:solidFill>
                        <a:srgbClr val="000000"/>
                      </a:solidFill>
                    </a:lnR>
                    <a:lnT w="9525">
                      <a:solidFill>
                        <a:srgbClr val="000000"/>
                      </a:solidFill>
                    </a:lnT>
                    <a:lnB w="9525">
                      <a:solidFill>
                        <a:srgbClr val="000000"/>
                      </a:solidFill>
                    </a:lnB>
                    <a:solidFill>
                      <a:srgbClr val="8EA9DB"/>
                    </a:solidFill>
                  </a:tcPr>
                </a:tc>
                <a:tc>
                  <a:txBody>
                    <a:bodyPr wrap="square"/>
                    <a:lstStyle/>
                    <a:p>
                      <a:pPr algn="ctr"/>
                      <a:r>
                        <a:rPr sz="1050" b="1">
                          <a:solidFill>
                            <a:srgbClr val="111111"/>
                          </a:solidFill>
                          <a:latin typeface="Times New Roman"/>
                        </a:rPr>
                        <a:t>Patients</a:t>
                      </a:r>
                    </a:p>
                  </a:txBody>
                  <a:tcPr marL="54864" marR="54864" marT="22860" marB="22860" anchor="ctr">
                    <a:lnL w="9525">
                      <a:solidFill>
                        <a:srgbClr val="000000"/>
                      </a:solidFill>
                    </a:lnL>
                    <a:lnR w="9525">
                      <a:solidFill>
                        <a:srgbClr val="000000"/>
                      </a:solidFill>
                    </a:lnR>
                    <a:lnT w="9525">
                      <a:solidFill>
                        <a:srgbClr val="000000"/>
                      </a:solidFill>
                    </a:lnT>
                    <a:lnB w="9525">
                      <a:solidFill>
                        <a:srgbClr val="000000"/>
                      </a:solidFill>
                    </a:lnB>
                    <a:solidFill>
                      <a:srgbClr val="8EA9DB"/>
                    </a:solidFill>
                  </a:tcPr>
                </a:tc>
                <a:tc>
                  <a:txBody>
                    <a:bodyPr wrap="square"/>
                    <a:lstStyle/>
                    <a:p>
                      <a:pPr algn="ctr"/>
                      <a:r>
                        <a:rPr sz="1050" b="1">
                          <a:solidFill>
                            <a:srgbClr val="111111"/>
                          </a:solidFill>
                          <a:latin typeface="Times New Roman"/>
                        </a:rPr>
                        <a:t>Median risk</a:t>
                      </a:r>
                    </a:p>
                  </a:txBody>
                  <a:tcPr marL="54864" marR="54864" marT="22860" marB="22860" anchor="ctr">
                    <a:lnL w="9525">
                      <a:solidFill>
                        <a:srgbClr val="000000"/>
                      </a:solidFill>
                    </a:lnL>
                    <a:lnR w="9525">
                      <a:solidFill>
                        <a:srgbClr val="000000"/>
                      </a:solidFill>
                    </a:lnR>
                    <a:lnT w="9525">
                      <a:solidFill>
                        <a:srgbClr val="000000"/>
                      </a:solidFill>
                    </a:lnT>
                    <a:lnB w="9525">
                      <a:solidFill>
                        <a:srgbClr val="000000"/>
                      </a:solidFill>
                    </a:lnB>
                    <a:solidFill>
                      <a:srgbClr val="8EA9DB"/>
                    </a:solidFill>
                  </a:tcPr>
                </a:tc>
                <a:tc>
                  <a:txBody>
                    <a:bodyPr wrap="square"/>
                    <a:lstStyle/>
                    <a:p>
                      <a:pPr algn="ctr"/>
                      <a:r>
                        <a:rPr sz="1050" b="1">
                          <a:solidFill>
                            <a:srgbClr val="111111"/>
                          </a:solidFill>
                          <a:latin typeface="Times New Roman"/>
                        </a:rPr>
                        <a:t>Alerted</a:t>
                      </a:r>
                    </a:p>
                  </a:txBody>
                  <a:tcPr marL="54864" marR="54864" marT="22860" marB="22860" anchor="ctr">
                    <a:lnL w="9525">
                      <a:solidFill>
                        <a:srgbClr val="000000"/>
                      </a:solidFill>
                    </a:lnL>
                    <a:lnR w="9525">
                      <a:solidFill>
                        <a:srgbClr val="000000"/>
                      </a:solidFill>
                    </a:lnR>
                    <a:lnT w="9525">
                      <a:solidFill>
                        <a:srgbClr val="000000"/>
                      </a:solidFill>
                    </a:lnT>
                    <a:lnB w="9525">
                      <a:solidFill>
                        <a:srgbClr val="000000"/>
                      </a:solidFill>
                    </a:lnB>
                    <a:solidFill>
                      <a:srgbClr val="8EA9DB"/>
                    </a:solidFill>
                  </a:tcPr>
                </a:tc>
              </a:tr>
              <a:tr h="237744">
                <a:tc>
                  <a:txBody>
                    <a:bodyPr wrap="square"/>
                    <a:lstStyle/>
                    <a:p>
                      <a:pPr algn="l"/>
                      <a:r>
                        <a:rPr sz="1000" b="0">
                          <a:solidFill>
                            <a:srgbClr val="111111"/>
                          </a:solidFill>
                          <a:latin typeface="Times New Roman"/>
                        </a:rPr>
                        <a:t>Female</a:t>
                      </a:r>
                    </a:p>
                  </a:txBody>
                  <a:tcPr marL="54864" marR="54864" marT="22860" marB="22860"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wrap="square"/>
                    <a:lstStyle/>
                    <a:p>
                      <a:pPr algn="l"/>
                      <a:r>
                        <a:rPr sz="1000" b="0">
                          <a:solidFill>
                            <a:srgbClr val="111111"/>
                          </a:solidFill>
                          <a:latin typeface="Times New Roman"/>
                        </a:rPr>
                        <a:t>44</a:t>
                      </a:r>
                    </a:p>
                  </a:txBody>
                  <a:tcPr marL="54864" marR="54864" marT="22860" marB="22860"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wrap="square"/>
                    <a:lstStyle/>
                    <a:p>
                      <a:pPr algn="l"/>
                      <a:r>
                        <a:rPr sz="1000" b="0">
                          <a:solidFill>
                            <a:srgbClr val="111111"/>
                          </a:solidFill>
                          <a:latin typeface="Times New Roman"/>
                        </a:rPr>
                        <a:t>0.9%</a:t>
                      </a:r>
                    </a:p>
                  </a:txBody>
                  <a:tcPr marL="54864" marR="54864" marT="22860" marB="22860"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wrap="square"/>
                    <a:lstStyle/>
                    <a:p>
                      <a:pPr algn="l"/>
                      <a:r>
                        <a:rPr sz="1000" b="0">
                          <a:solidFill>
                            <a:srgbClr val="111111"/>
                          </a:solidFill>
                          <a:latin typeface="Times New Roman"/>
                        </a:rPr>
                        <a:t>30%</a:t>
                      </a:r>
                    </a:p>
                  </a:txBody>
                  <a:tcPr marL="54864" marR="54864" marT="22860" marB="22860"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r>
              <a:tr h="237744">
                <a:tc>
                  <a:txBody>
                    <a:bodyPr wrap="square"/>
                    <a:lstStyle/>
                    <a:p>
                      <a:pPr algn="l"/>
                      <a:r>
                        <a:rPr sz="1000" b="0">
                          <a:solidFill>
                            <a:srgbClr val="111111"/>
                          </a:solidFill>
                          <a:latin typeface="Times New Roman"/>
                        </a:rPr>
                        <a:t>Male</a:t>
                      </a:r>
                    </a:p>
                  </a:txBody>
                  <a:tcPr marL="54864" marR="54864" marT="22860" marB="22860"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wrap="square"/>
                    <a:lstStyle/>
                    <a:p>
                      <a:pPr algn="l"/>
                      <a:r>
                        <a:rPr sz="1000" b="0">
                          <a:solidFill>
                            <a:srgbClr val="111111"/>
                          </a:solidFill>
                          <a:latin typeface="Times New Roman"/>
                        </a:rPr>
                        <a:t>31</a:t>
                      </a:r>
                    </a:p>
                  </a:txBody>
                  <a:tcPr marL="54864" marR="54864" marT="22860" marB="22860"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wrap="square"/>
                    <a:lstStyle/>
                    <a:p>
                      <a:pPr algn="l"/>
                      <a:r>
                        <a:rPr sz="1000" b="0">
                          <a:solidFill>
                            <a:srgbClr val="111111"/>
                          </a:solidFill>
                          <a:latin typeface="Times New Roman"/>
                        </a:rPr>
                        <a:t>0.6%</a:t>
                      </a:r>
                    </a:p>
                  </a:txBody>
                  <a:tcPr marL="54864" marR="54864" marT="22860" marB="22860"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wrap="square"/>
                    <a:lstStyle/>
                    <a:p>
                      <a:pPr algn="l"/>
                      <a:r>
                        <a:rPr sz="1000" b="0">
                          <a:solidFill>
                            <a:srgbClr val="111111"/>
                          </a:solidFill>
                          <a:latin typeface="Times New Roman"/>
                        </a:rPr>
                        <a:t>19%</a:t>
                      </a:r>
                    </a:p>
                  </a:txBody>
                  <a:tcPr marL="54864" marR="54864" marT="22860" marB="22860"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r>
              <a:tr h="237744">
                <a:tc>
                  <a:txBody>
                    <a:bodyPr wrap="square"/>
                    <a:lstStyle/>
                    <a:p>
                      <a:pPr algn="l"/>
                      <a:r>
                        <a:rPr sz="1000" b="0">
                          <a:solidFill>
                            <a:srgbClr val="111111"/>
                          </a:solidFill>
                          <a:latin typeface="Times New Roman"/>
                        </a:rPr>
                        <a:t>18-39</a:t>
                      </a:r>
                    </a:p>
                  </a:txBody>
                  <a:tcPr marL="54864" marR="54864" marT="22860" marB="22860"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wrap="square"/>
                    <a:lstStyle/>
                    <a:p>
                      <a:pPr algn="l"/>
                      <a:r>
                        <a:rPr sz="1000" b="0">
                          <a:solidFill>
                            <a:srgbClr val="111111"/>
                          </a:solidFill>
                          <a:latin typeface="Times New Roman"/>
                        </a:rPr>
                        <a:t>2</a:t>
                      </a:r>
                    </a:p>
                  </a:txBody>
                  <a:tcPr marL="54864" marR="54864" marT="22860" marB="22860"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wrap="square"/>
                    <a:lstStyle/>
                    <a:p>
                      <a:pPr algn="l"/>
                      <a:r>
                        <a:rPr sz="1000" b="0">
                          <a:solidFill>
                            <a:srgbClr val="111111"/>
                          </a:solidFill>
                          <a:latin typeface="Times New Roman"/>
                        </a:rPr>
                        <a:t>20.2%</a:t>
                      </a:r>
                    </a:p>
                  </a:txBody>
                  <a:tcPr marL="54864" marR="54864" marT="22860" marB="22860"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wrap="square"/>
                    <a:lstStyle/>
                    <a:p>
                      <a:pPr algn="l"/>
                      <a:r>
                        <a:rPr sz="1000" b="0">
                          <a:solidFill>
                            <a:srgbClr val="111111"/>
                          </a:solidFill>
                          <a:latin typeface="Times New Roman"/>
                        </a:rPr>
                        <a:t>50%</a:t>
                      </a:r>
                    </a:p>
                  </a:txBody>
                  <a:tcPr marL="54864" marR="54864" marT="22860" marB="22860"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r>
              <a:tr h="237744">
                <a:tc>
                  <a:txBody>
                    <a:bodyPr wrap="square"/>
                    <a:lstStyle/>
                    <a:p>
                      <a:pPr algn="l"/>
                      <a:r>
                        <a:rPr sz="1000" b="0">
                          <a:solidFill>
                            <a:srgbClr val="111111"/>
                          </a:solidFill>
                          <a:latin typeface="Times New Roman"/>
                        </a:rPr>
                        <a:t>40-49</a:t>
                      </a:r>
                    </a:p>
                  </a:txBody>
                  <a:tcPr marL="54864" marR="54864" marT="22860" marB="22860"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wrap="square"/>
                    <a:lstStyle/>
                    <a:p>
                      <a:pPr algn="l"/>
                      <a:r>
                        <a:rPr sz="1000" b="0">
                          <a:solidFill>
                            <a:srgbClr val="111111"/>
                          </a:solidFill>
                          <a:latin typeface="Times New Roman"/>
                        </a:rPr>
                        <a:t>6</a:t>
                      </a:r>
                    </a:p>
                  </a:txBody>
                  <a:tcPr marL="54864" marR="54864" marT="22860" marB="22860"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wrap="square"/>
                    <a:lstStyle/>
                    <a:p>
                      <a:pPr algn="l"/>
                      <a:r>
                        <a:rPr sz="1000" b="0">
                          <a:solidFill>
                            <a:srgbClr val="111111"/>
                          </a:solidFill>
                          <a:latin typeface="Times New Roman"/>
                        </a:rPr>
                        <a:t>0.6%</a:t>
                      </a:r>
                    </a:p>
                  </a:txBody>
                  <a:tcPr marL="54864" marR="54864" marT="22860" marB="22860"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wrap="square"/>
                    <a:lstStyle/>
                    <a:p>
                      <a:pPr algn="l"/>
                      <a:r>
                        <a:rPr sz="1000" b="0">
                          <a:solidFill>
                            <a:srgbClr val="111111"/>
                          </a:solidFill>
                          <a:latin typeface="Times New Roman"/>
                        </a:rPr>
                        <a:t>17%</a:t>
                      </a:r>
                    </a:p>
                  </a:txBody>
                  <a:tcPr marL="54864" marR="54864" marT="22860" marB="22860"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r>
              <a:tr h="237744">
                <a:tc>
                  <a:txBody>
                    <a:bodyPr wrap="square"/>
                    <a:lstStyle/>
                    <a:p>
                      <a:pPr algn="l"/>
                      <a:r>
                        <a:rPr sz="1000" b="0">
                          <a:solidFill>
                            <a:srgbClr val="111111"/>
                          </a:solidFill>
                          <a:latin typeface="Times New Roman"/>
                        </a:rPr>
                        <a:t>50-59</a:t>
                      </a:r>
                    </a:p>
                  </a:txBody>
                  <a:tcPr marL="54864" marR="54864" marT="22860" marB="22860"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wrap="square"/>
                    <a:lstStyle/>
                    <a:p>
                      <a:pPr algn="l"/>
                      <a:r>
                        <a:rPr sz="1000" b="0">
                          <a:solidFill>
                            <a:srgbClr val="111111"/>
                          </a:solidFill>
                          <a:latin typeface="Times New Roman"/>
                        </a:rPr>
                        <a:t>7</a:t>
                      </a:r>
                    </a:p>
                  </a:txBody>
                  <a:tcPr marL="54864" marR="54864" marT="22860" marB="22860"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wrap="square"/>
                    <a:lstStyle/>
                    <a:p>
                      <a:pPr algn="l"/>
                      <a:r>
                        <a:rPr sz="1000" b="0">
                          <a:solidFill>
                            <a:srgbClr val="111111"/>
                          </a:solidFill>
                          <a:latin typeface="Times New Roman"/>
                        </a:rPr>
                        <a:t>0.6%</a:t>
                      </a:r>
                    </a:p>
                  </a:txBody>
                  <a:tcPr marL="54864" marR="54864" marT="22860" marB="22860"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wrap="square"/>
                    <a:lstStyle/>
                    <a:p>
                      <a:pPr algn="l"/>
                      <a:r>
                        <a:rPr sz="1000" b="0">
                          <a:solidFill>
                            <a:srgbClr val="111111"/>
                          </a:solidFill>
                          <a:latin typeface="Times New Roman"/>
                        </a:rPr>
                        <a:t>29%</a:t>
                      </a:r>
                    </a:p>
                  </a:txBody>
                  <a:tcPr marL="54864" marR="54864" marT="22860" marB="22860"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r>
              <a:tr h="237744">
                <a:tc>
                  <a:txBody>
                    <a:bodyPr wrap="square"/>
                    <a:lstStyle/>
                    <a:p>
                      <a:pPr algn="l"/>
                      <a:r>
                        <a:rPr sz="1000" b="0">
                          <a:solidFill>
                            <a:srgbClr val="111111"/>
                          </a:solidFill>
                          <a:latin typeface="Times New Roman"/>
                        </a:rPr>
                        <a:t>60-69</a:t>
                      </a:r>
                    </a:p>
                  </a:txBody>
                  <a:tcPr marL="54864" marR="54864" marT="22860" marB="22860"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wrap="square"/>
                    <a:lstStyle/>
                    <a:p>
                      <a:pPr algn="l"/>
                      <a:r>
                        <a:rPr sz="1000" b="0">
                          <a:solidFill>
                            <a:srgbClr val="111111"/>
                          </a:solidFill>
                          <a:latin typeface="Times New Roman"/>
                        </a:rPr>
                        <a:t>9</a:t>
                      </a:r>
                    </a:p>
                  </a:txBody>
                  <a:tcPr marL="54864" marR="54864" marT="22860" marB="22860"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wrap="square"/>
                    <a:lstStyle/>
                    <a:p>
                      <a:pPr algn="l"/>
                      <a:r>
                        <a:rPr sz="1000" b="0">
                          <a:solidFill>
                            <a:srgbClr val="111111"/>
                          </a:solidFill>
                          <a:latin typeface="Times New Roman"/>
                        </a:rPr>
                        <a:t>0.6%</a:t>
                      </a:r>
                    </a:p>
                  </a:txBody>
                  <a:tcPr marL="54864" marR="54864" marT="22860" marB="22860"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wrap="square"/>
                    <a:lstStyle/>
                    <a:p>
                      <a:pPr algn="l"/>
                      <a:r>
                        <a:rPr sz="1000" b="0">
                          <a:solidFill>
                            <a:srgbClr val="111111"/>
                          </a:solidFill>
                          <a:latin typeface="Times New Roman"/>
                        </a:rPr>
                        <a:t>0%</a:t>
                      </a:r>
                    </a:p>
                  </a:txBody>
                  <a:tcPr marL="54864" marR="54864" marT="22860" marB="22860"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r>
              <a:tr h="237744">
                <a:tc>
                  <a:txBody>
                    <a:bodyPr wrap="square"/>
                    <a:lstStyle/>
                    <a:p>
                      <a:pPr algn="l"/>
                      <a:r>
                        <a:rPr sz="1000" b="0">
                          <a:solidFill>
                            <a:srgbClr val="111111"/>
                          </a:solidFill>
                          <a:latin typeface="Times New Roman"/>
                        </a:rPr>
                        <a:t>70-79</a:t>
                      </a:r>
                    </a:p>
                  </a:txBody>
                  <a:tcPr marL="54864" marR="54864" marT="22860" marB="22860"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wrap="square"/>
                    <a:lstStyle/>
                    <a:p>
                      <a:pPr algn="l"/>
                      <a:r>
                        <a:rPr sz="1000" b="0">
                          <a:solidFill>
                            <a:srgbClr val="111111"/>
                          </a:solidFill>
                          <a:latin typeface="Times New Roman"/>
                        </a:rPr>
                        <a:t>18</a:t>
                      </a:r>
                    </a:p>
                  </a:txBody>
                  <a:tcPr marL="54864" marR="54864" marT="22860" marB="22860"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wrap="square"/>
                    <a:lstStyle/>
                    <a:p>
                      <a:pPr algn="l"/>
                      <a:r>
                        <a:rPr sz="1000" b="0">
                          <a:solidFill>
                            <a:srgbClr val="111111"/>
                          </a:solidFill>
                          <a:latin typeface="Times New Roman"/>
                        </a:rPr>
                        <a:t>0.6%</a:t>
                      </a:r>
                    </a:p>
                  </a:txBody>
                  <a:tcPr marL="54864" marR="54864" marT="22860" marB="22860"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wrap="square"/>
                    <a:lstStyle/>
                    <a:p>
                      <a:pPr algn="l"/>
                      <a:r>
                        <a:rPr sz="1000" b="0">
                          <a:solidFill>
                            <a:srgbClr val="111111"/>
                          </a:solidFill>
                          <a:latin typeface="Times New Roman"/>
                        </a:rPr>
                        <a:t>22%</a:t>
                      </a:r>
                    </a:p>
                  </a:txBody>
                  <a:tcPr marL="54864" marR="54864" marT="22860" marB="22860"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r>
              <a:tr h="237744">
                <a:tc>
                  <a:txBody>
                    <a:bodyPr wrap="square"/>
                    <a:lstStyle/>
                    <a:p>
                      <a:pPr algn="l"/>
                      <a:r>
                        <a:rPr sz="1000" b="0">
                          <a:solidFill>
                            <a:srgbClr val="111111"/>
                          </a:solidFill>
                          <a:latin typeface="Times New Roman"/>
                        </a:rPr>
                        <a:t>80+</a:t>
                      </a:r>
                    </a:p>
                  </a:txBody>
                  <a:tcPr marL="54864" marR="54864" marT="22860" marB="22860"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wrap="square"/>
                    <a:lstStyle/>
                    <a:p>
                      <a:pPr algn="l"/>
                      <a:r>
                        <a:rPr sz="1000" b="0">
                          <a:solidFill>
                            <a:srgbClr val="111111"/>
                          </a:solidFill>
                          <a:latin typeface="Times New Roman"/>
                        </a:rPr>
                        <a:t>32</a:t>
                      </a:r>
                    </a:p>
                  </a:txBody>
                  <a:tcPr marL="54864" marR="54864" marT="22860" marB="22860"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wrap="square"/>
                    <a:lstStyle/>
                    <a:p>
                      <a:pPr algn="l"/>
                      <a:r>
                        <a:rPr sz="1000" b="0">
                          <a:solidFill>
                            <a:srgbClr val="111111"/>
                          </a:solidFill>
                          <a:latin typeface="Times New Roman"/>
                        </a:rPr>
                        <a:t>0.8%</a:t>
                      </a:r>
                    </a:p>
                  </a:txBody>
                  <a:tcPr marL="54864" marR="54864" marT="22860" marB="22860"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wrap="square"/>
                    <a:lstStyle/>
                    <a:p>
                      <a:pPr algn="l"/>
                      <a:r>
                        <a:rPr sz="1000" b="0">
                          <a:solidFill>
                            <a:srgbClr val="111111"/>
                          </a:solidFill>
                          <a:latin typeface="Times New Roman"/>
                        </a:rPr>
                        <a:t>31%</a:t>
                      </a:r>
                    </a:p>
                  </a:txBody>
                  <a:tcPr marL="54864" marR="54864" marT="22860" marB="22860"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r>
            </a:tbl>
          </a:graphicData>
        </a:graphic>
      </p:graphicFrame>
      <p:sp>
        <p:nvSpPr>
          <p:cNvPr id="10" name="Tag: What we learned"/>
          <p:cNvSpPr/>
          <p:nvPr/>
        </p:nvSpPr>
        <p:spPr>
          <a:xfrm>
            <a:off x="6035040" y="3108960"/>
            <a:ext cx="5440680" cy="411480"/>
          </a:xfrm>
          <a:prstGeom prst="rect">
            <a:avLst/>
          </a:prstGeom>
          <a:solidFill>
            <a:srgbClr val="FFE699"/>
          </a:solidFill>
          <a:ln w="12700">
            <a:solidFill>
              <a:srgbClr val="F4B183"/>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600" b="1" i="0">
                <a:solidFill>
                  <a:srgbClr val="111111"/>
                </a:solidFill>
                <a:latin typeface="Times New Roman"/>
              </a:rPr>
              <a:t>What we learned</a:t>
            </a:r>
          </a:p>
        </p:txBody>
      </p:sp>
      <p:sp>
        <p:nvSpPr>
          <p:cNvPr id="12" name="Learned panel"/>
          <p:cNvSpPr/>
          <p:nvPr/>
        </p:nvSpPr>
        <p:spPr>
          <a:xfrm>
            <a:off x="6035040" y="3584448"/>
            <a:ext cx="5440680" cy="2139696"/>
          </a:xfrm>
          <a:prstGeom prst="rect">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Learned text"/>
          <p:cNvSpPr txBox="1"/>
          <p:nvPr/>
        </p:nvSpPr>
        <p:spPr>
          <a:xfrm>
            <a:off x="6108192" y="3639312"/>
            <a:ext cx="5303520" cy="2057400"/>
          </a:xfrm>
          <a:prstGeom prst="rect">
            <a:avLst/>
          </a:prstGeom>
          <a:noFill/>
        </p:spPr>
        <p:txBody>
          <a:bodyPr wrap="square" lIns="45720" rIns="45720">
            <a:spAutoFit/>
          </a:bodyPr>
          <a:lstStyle/>
          <a:p>
            <a:pPr>
              <a:spcAft>
                <a:spcPts val="500"/>
              </a:spcAft>
            </a:pPr>
            <a:r>
              <a:rPr b="1" sz="1150">
                <a:solidFill>
                  <a:srgbClr val="111111"/>
                </a:solidFill>
                <a:latin typeface="Times New Roman"/>
              </a:rPr>
              <a:t>Robust: </a:t>
            </a:r>
            <a:r>
              <a:rPr sz="1150">
                <a:solidFill>
                  <a:srgbClr val="111111"/>
                </a:solidFill>
                <a:latin typeface="Times New Roman"/>
              </a:rPr>
              <a:t>every real patient with 48 h of data was scored; no crash, no impossible risk.</a:t>
            </a:r>
          </a:p>
          <a:p>
            <a:pPr>
              <a:spcAft>
                <a:spcPts val="500"/>
              </a:spcAft>
            </a:pPr>
            <a:r>
              <a:rPr b="1" sz="1150">
                <a:solidFill>
                  <a:srgbClr val="111111"/>
                </a:solidFill>
                <a:latin typeface="Times New Roman"/>
              </a:rPr>
              <a:t>Right direction: </a:t>
            </a:r>
            <a:r>
              <a:rPr sz="1150">
                <a:solidFill>
                  <a:srgbClr val="111111"/>
                </a:solidFill>
                <a:latin typeface="Times New Roman"/>
              </a:rPr>
              <a:t>breathing up to 35/min gives High risk; all three signs worse gives 96%.</a:t>
            </a:r>
          </a:p>
          <a:p>
            <a:pPr>
              <a:spcAft>
                <a:spcPts val="500"/>
              </a:spcAft>
            </a:pPr>
            <a:r>
              <a:rPr b="1" sz="1150">
                <a:solidFill>
                  <a:srgbClr val="111111"/>
                </a:solidFill>
                <a:latin typeface="Times New Roman"/>
              </a:rPr>
              <a:t>Age and sex: </a:t>
            </a:r>
            <a:r>
              <a:rPr sz="1150">
                <a:solidFill>
                  <a:srgbClr val="111111"/>
                </a:solidFill>
                <a:latin typeface="Times New Roman"/>
              </a:rPr>
              <a:t>age 18 vs 90 and switching sex barely change risk; sex is not a model input.</a:t>
            </a:r>
          </a:p>
          <a:p>
            <a:pPr>
              <a:spcAft>
                <a:spcPts val="500"/>
              </a:spcAft>
            </a:pPr>
            <a:r>
              <a:rPr b="1" sz="1150">
                <a:solidFill>
                  <a:srgbClr val="111111"/>
                </a:solidFill>
                <a:latin typeface="Times New Roman"/>
              </a:rPr>
              <a:t>To fix: </a:t>
            </a:r>
            <a:r>
              <a:rPr sz="1150">
                <a:solidFill>
                  <a:srgbClr val="111111"/>
                </a:solidFill>
                <a:latin typeface="Times New Roman"/>
              </a:rPr>
              <a:t>an SpO2 drop alone barely moves the learned risk (the rule layer still flags it urgent).</a:t>
            </a:r>
          </a:p>
          <a:p>
            <a:pPr>
              <a:spcAft>
                <a:spcPts val="500"/>
              </a:spcAft>
            </a:pPr>
            <a:r>
              <a:rPr b="1" sz="1150">
                <a:solidFill>
                  <a:srgbClr val="111111"/>
                </a:solidFill>
                <a:latin typeface="Times New Roman"/>
              </a:rPr>
              <a:t>Limits: </a:t>
            </a:r>
            <a:r>
              <a:rPr sz="1150">
                <a:solidFill>
                  <a:srgbClr val="111111"/>
                </a:solidFill>
                <a:latin typeface="Times New Roman"/>
              </a:rPr>
              <a:t>no link with later in-hospital death (AUROC 0.49); women alerted more at equal signs, but groups are 5 to 19 people.</a:t>
            </a:r>
          </a:p>
        </p:txBody>
      </p:sp>
      <p:sp>
        <p:nvSpPr>
          <p:cNvPr id="24" name="Takeaway banner"/>
          <p:cNvSpPr/>
          <p:nvPr/>
        </p:nvSpPr>
        <p:spPr>
          <a:xfrm>
            <a:off x="731520" y="5870448"/>
            <a:ext cx="10744200" cy="658368"/>
          </a:xfrm>
          <a:prstGeom prst="rect">
            <a:avLst/>
          </a:prstGeom>
          <a:solidFill>
            <a:srgbClr val="FFE699"/>
          </a:solidFill>
          <a:ln w="12700">
            <a:solidFill>
              <a:srgbClr val="F4B183"/>
            </a:solid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1700" b="1" i="0">
                <a:solidFill>
                  <a:srgbClr val="111111"/>
                </a:solidFill>
                <a:latin typeface="Times New Roman"/>
              </a:rPr>
              <a:t>Real people, never used for training:</a:t>
            </a:r>
          </a:p>
          <a:p>
            <a:pPr algn="ctr"/>
            <a:r>
              <a:rPr sz="1500" b="0" i="1">
                <a:solidFill>
                  <a:srgbClr val="111111"/>
                </a:solidFill>
                <a:latin typeface="Times New Roman"/>
              </a:rPr>
              <a:t>MIMIC-III demo v1.4 (PhysioNet, ODbL). ICU patients are not a COPD home cohort: a stress test, not validation.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descr="bg_content.jpg"/>
          <p:cNvPicPr>
            <a:picLocks noChangeAspect="1"/>
          </p:cNvPicPr>
          <p:nvPr/>
        </p:nvPicPr>
        <p:blipFill>
          <a:blip r:embed="rId2"/>
          <a:stretch>
            <a:fillRect/>
          </a:stretch>
        </p:blipFill>
        <p:spPr>
          <a:xfrm>
            <a:off x="0" y="0"/>
            <a:ext cx="12191695" cy="6858000"/>
          </a:xfrm>
          <a:prstGeom prst="rect">
            <a:avLst/>
          </a:prstGeom>
        </p:spPr>
      </p:pic>
      <p:sp>
        <p:nvSpPr>
          <p:cNvPr id="3" name="BreatheTwin logo"/>
          <p:cNvSpPr/>
          <p:nvPr/>
        </p:nvSpPr>
        <p:spPr>
          <a:xfrm>
            <a:off x="411480" y="201168"/>
            <a:ext cx="3794760" cy="603504"/>
          </a:xfrm>
          <a:prstGeom prst="rect">
            <a:avLst/>
          </a:prstGeom>
          <a:solidFill>
            <a:srgbClr val="0B2A78"/>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Logo mark"/>
          <p:cNvSpPr/>
          <p:nvPr/>
        </p:nvSpPr>
        <p:spPr>
          <a:xfrm>
            <a:off x="475488" y="256032"/>
            <a:ext cx="493776" cy="4937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900" b="1">
                <a:solidFill>
                  <a:srgbClr val="B23A2E"/>
                </a:solidFill>
                <a:latin typeface="Arial"/>
              </a:rPr>
              <a:t>BT</a:t>
            </a:r>
          </a:p>
        </p:txBody>
      </p:sp>
      <p:sp>
        <p:nvSpPr>
          <p:cNvPr id="5" name="Logo text"/>
          <p:cNvSpPr txBox="1"/>
          <p:nvPr/>
        </p:nvSpPr>
        <p:spPr>
          <a:xfrm>
            <a:off x="1024128" y="182880"/>
            <a:ext cx="3154680" cy="457200"/>
          </a:xfrm>
          <a:prstGeom prst="rect">
            <a:avLst/>
          </a:prstGeom>
          <a:noFill/>
        </p:spPr>
        <p:txBody>
          <a:bodyPr wrap="none" lIns="0" tIns="0" bIns="0">
            <a:spAutoFit/>
          </a:bodyPr>
          <a:lstStyle/>
          <a:p>
            <a:r>
              <a:rPr sz="2500" b="1">
                <a:solidFill>
                  <a:srgbClr val="FFFFFF"/>
                </a:solidFill>
                <a:latin typeface="Arial"/>
              </a:rPr>
              <a:t>BREATHETWIN</a:t>
            </a:r>
          </a:p>
        </p:txBody>
      </p:sp>
      <p:sp>
        <p:nvSpPr>
          <p:cNvPr id="6" name="Logo sub"/>
          <p:cNvSpPr txBox="1"/>
          <p:nvPr/>
        </p:nvSpPr>
        <p:spPr>
          <a:xfrm>
            <a:off x="1024128" y="585216"/>
            <a:ext cx="3108960" cy="219456"/>
          </a:xfrm>
          <a:prstGeom prst="rect">
            <a:avLst/>
          </a:prstGeom>
          <a:noFill/>
        </p:spPr>
        <p:txBody>
          <a:bodyPr wrap="none" lIns="0" tIns="0" bIns="0" rIns="0">
            <a:spAutoFit/>
          </a:bodyPr>
          <a:lstStyle/>
          <a:p>
            <a:pPr algn="r"/>
            <a:r>
              <a:rPr sz="900" b="1">
                <a:solidFill>
                  <a:srgbClr val="FFFFFF"/>
                </a:solidFill>
                <a:latin typeface="Arial"/>
              </a:rPr>
              <a:t>TEAM MOMENTUM</a:t>
            </a:r>
          </a:p>
        </p:txBody>
      </p:sp>
      <p:sp>
        <p:nvSpPr>
          <p:cNvPr id="7" name="Logo tagline"/>
          <p:cNvSpPr txBox="1"/>
          <p:nvPr/>
        </p:nvSpPr>
        <p:spPr>
          <a:xfrm>
            <a:off x="566928" y="822960"/>
            <a:ext cx="4023360" cy="274320"/>
          </a:xfrm>
          <a:prstGeom prst="rect">
            <a:avLst/>
          </a:prstGeom>
          <a:noFill/>
        </p:spPr>
        <p:txBody>
          <a:bodyPr wrap="none" lIns="0" tIns="0" bIns="0">
            <a:spAutoFit/>
          </a:bodyPr>
          <a:lstStyle/>
          <a:p>
            <a:r>
              <a:rPr sz="1300" b="1" i="1">
                <a:solidFill>
                  <a:srgbClr val="FFFFFF"/>
                </a:solidFill>
                <a:latin typeface="Arial"/>
              </a:rPr>
              <a:t>EARLY WARNING. EASIER BREATHING.</a:t>
            </a:r>
          </a:p>
        </p:txBody>
      </p:sp>
      <p:sp>
        <p:nvSpPr>
          <p:cNvPr id="8" name="Content panel"/>
          <p:cNvSpPr/>
          <p:nvPr/>
        </p:nvSpPr>
        <p:spPr>
          <a:xfrm>
            <a:off x="502920" y="1115568"/>
            <a:ext cx="11201400" cy="5559552"/>
          </a:xfrm>
          <a:prstGeom prst="rect">
            <a:avLst/>
          </a:prstGeom>
          <a:solidFill>
            <a:srgbClr val="FFFFFF"/>
          </a:solidFill>
          <a:ln w="12700">
            <a:solidFill>
              <a:srgbClr val="F4B18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itle box"/>
          <p:cNvSpPr/>
          <p:nvPr/>
        </p:nvSpPr>
        <p:spPr>
          <a:xfrm>
            <a:off x="731520" y="1225296"/>
            <a:ext cx="10744200" cy="658368"/>
          </a:xfrm>
          <a:prstGeom prst="rect">
            <a:avLst/>
          </a:prstGeom>
          <a:solidFill>
            <a:srgbClr val="FFFFFF"/>
          </a:solidFill>
          <a:ln w="12700">
            <a:solidFill>
              <a:srgbClr val="40404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i="0">
                <a:solidFill>
                  <a:srgbClr val="111111"/>
                </a:solidFill>
                <a:latin typeface="Times New Roman"/>
              </a:rPr>
              <a:t>The doctor's dashboard: who to call today, and why</a:t>
            </a:r>
          </a:p>
        </p:txBody>
      </p:sp>
      <p:sp>
        <p:nvSpPr>
          <p:cNvPr id="10" name="Tag: Overview: all 400 patients"/>
          <p:cNvSpPr/>
          <p:nvPr/>
        </p:nvSpPr>
        <p:spPr>
          <a:xfrm>
            <a:off x="731520" y="2011680"/>
            <a:ext cx="5257800" cy="384048"/>
          </a:xfrm>
          <a:prstGeom prst="rect">
            <a:avLst/>
          </a:prstGeom>
          <a:solidFill>
            <a:srgbClr val="FFE699"/>
          </a:solidFill>
          <a:ln w="12700">
            <a:solidFill>
              <a:srgbClr val="F4B183"/>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600" b="1" i="0">
                <a:solidFill>
                  <a:srgbClr val="111111"/>
                </a:solidFill>
                <a:latin typeface="Times New Roman"/>
              </a:rPr>
              <a:t>Overview: all 400 patients</a:t>
            </a:r>
          </a:p>
        </p:txBody>
      </p:sp>
      <p:sp>
        <p:nvSpPr>
          <p:cNvPr id="11" name="Tag: One patient in detail"/>
          <p:cNvSpPr/>
          <p:nvPr/>
        </p:nvSpPr>
        <p:spPr>
          <a:xfrm>
            <a:off x="6217920" y="2011680"/>
            <a:ext cx="5257800" cy="384048"/>
          </a:xfrm>
          <a:prstGeom prst="rect">
            <a:avLst/>
          </a:prstGeom>
          <a:solidFill>
            <a:srgbClr val="FFE699"/>
          </a:solidFill>
          <a:ln w="12700">
            <a:solidFill>
              <a:srgbClr val="F4B183"/>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600" b="1" i="0">
                <a:solidFill>
                  <a:srgbClr val="111111"/>
                </a:solidFill>
                <a:latin typeface="Times New Roman"/>
              </a:rPr>
              <a:t>One patient in detail</a:t>
            </a:r>
          </a:p>
        </p:txBody>
      </p:sp>
      <p:pic>
        <p:nvPicPr>
          <p:cNvPr id="12" name="Overview screenshot" descr="overview.png"/>
          <p:cNvPicPr>
            <a:picLocks noChangeAspect="1"/>
          </p:cNvPicPr>
          <p:nvPr/>
        </p:nvPicPr>
        <p:blipFill>
          <a:blip r:embed="rId4"/>
          <a:stretch>
            <a:fillRect/>
          </a:stretch>
        </p:blipFill>
        <p:spPr>
          <a:xfrm>
            <a:off x="731520" y="2566576"/>
            <a:ext cx="5257800" cy="2767263"/>
          </a:xfrm>
          <a:prstGeom prst="rect">
            <a:avLst/>
          </a:prstGeom>
          <a:ln w="9525">
            <a:solidFill>
              <a:srgbClr val="BFBFBF"/>
            </a:solidFill>
          </a:ln>
        </p:spPr>
      </p:pic>
      <p:pic>
        <p:nvPicPr>
          <p:cNvPr id="13" name="Patient screenshot" descr="patient.png"/>
          <p:cNvPicPr>
            <a:picLocks noChangeAspect="1"/>
          </p:cNvPicPr>
          <p:nvPr/>
        </p:nvPicPr>
        <p:blipFill>
          <a:blip r:embed="rId5"/>
          <a:stretch>
            <a:fillRect/>
          </a:stretch>
        </p:blipFill>
        <p:spPr>
          <a:xfrm>
            <a:off x="6217920" y="2821779"/>
            <a:ext cx="5257800" cy="2256856"/>
          </a:xfrm>
          <a:prstGeom prst="rect">
            <a:avLst/>
          </a:prstGeom>
          <a:ln w="9525">
            <a:solidFill>
              <a:srgbClr val="BFBFBF"/>
            </a:solidFill>
          </a:ln>
        </p:spPr>
      </p:pic>
      <p:sp>
        <p:nvSpPr>
          <p:cNvPr id="14" name="Overview notes box"/>
          <p:cNvSpPr/>
          <p:nvPr/>
        </p:nvSpPr>
        <p:spPr>
          <a:xfrm>
            <a:off x="731520" y="5532120"/>
            <a:ext cx="5257800" cy="960120"/>
          </a:xfrm>
          <a:prstGeom prst="roundRect">
            <a:avLst>
              <a:gd name="adj" fmla="val 15000"/>
            </a:avLst>
          </a:prstGeom>
          <a:solidFill>
            <a:srgbClr val="FFFFFF"/>
          </a:solidFill>
          <a:ln w="12700">
            <a:solidFill>
              <a:srgbClr val="40404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22960" y="5559552"/>
            <a:ext cx="5120640" cy="914400"/>
          </a:xfrm>
          <a:prstGeom prst="rect">
            <a:avLst/>
          </a:prstGeom>
          <a:noFill/>
        </p:spPr>
        <p:txBody>
          <a:bodyPr wrap="square" anchor="t" lIns="54864" rIns="54864" tIns="27432" bIns="27432">
            <a:spAutoFit/>
          </a:bodyPr>
          <a:lstStyle/>
          <a:p>
            <a:pPr algn="l" marL="164592" indent="-164592">
              <a:spcAft>
                <a:spcPts val="200"/>
              </a:spcAft>
              <a:buChar char="•"/>
            </a:pPr>
            <a:r>
              <a:rPr sz="1200" b="1" i="0">
                <a:solidFill>
                  <a:srgbClr val="111111"/>
                </a:solidFill>
                <a:latin typeface="Times New Roman"/>
              </a:rPr>
              <a:t>Call these patients today</a:t>
            </a:r>
            <a:r>
              <a:rPr sz="1200" b="0" i="0">
                <a:solidFill>
                  <a:srgbClr val="111111"/>
                </a:solidFill>
                <a:latin typeface="Times New Roman"/>
              </a:rPr>
              <a:t>: ranked by risk, with the main reason and key record facts</a:t>
            </a:r>
          </a:p>
          <a:p>
            <a:pPr algn="l" marL="164592" indent="-164592">
              <a:spcAft>
                <a:spcPts val="200"/>
              </a:spcAft>
              <a:buChar char="•"/>
            </a:pPr>
            <a:r>
              <a:rPr sz="1200" b="0" i="0">
                <a:solidFill>
                  <a:srgbClr val="111111"/>
                </a:solidFill>
                <a:latin typeface="Times New Roman"/>
              </a:rPr>
              <a:t>India map of risk and air; filter by age group; plain-language guide on every page</a:t>
            </a:r>
          </a:p>
        </p:txBody>
      </p:sp>
      <p:sp>
        <p:nvSpPr>
          <p:cNvPr id="16" name="Patient notes box"/>
          <p:cNvSpPr/>
          <p:nvPr/>
        </p:nvSpPr>
        <p:spPr>
          <a:xfrm>
            <a:off x="6217920" y="5532120"/>
            <a:ext cx="5257800" cy="960120"/>
          </a:xfrm>
          <a:prstGeom prst="roundRect">
            <a:avLst>
              <a:gd name="adj" fmla="val 15000"/>
            </a:avLst>
          </a:prstGeom>
          <a:solidFill>
            <a:srgbClr val="FFFFFF"/>
          </a:solidFill>
          <a:ln w="12700">
            <a:solidFill>
              <a:srgbClr val="40404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309360" y="5559552"/>
            <a:ext cx="5120640" cy="914400"/>
          </a:xfrm>
          <a:prstGeom prst="rect">
            <a:avLst/>
          </a:prstGeom>
          <a:noFill/>
        </p:spPr>
        <p:txBody>
          <a:bodyPr wrap="square" anchor="t" lIns="54864" rIns="54864" tIns="27432" bIns="27432">
            <a:spAutoFit/>
          </a:bodyPr>
          <a:lstStyle/>
          <a:p>
            <a:pPr algn="l" marL="164592" indent="-164592">
              <a:spcAft>
                <a:spcPts val="200"/>
              </a:spcAft>
              <a:buChar char="•"/>
            </a:pPr>
            <a:r>
              <a:rPr sz="1200" b="0" i="0">
                <a:solidFill>
                  <a:srgbClr val="111111"/>
                </a:solidFill>
                <a:latin typeface="Times New Roman"/>
              </a:rPr>
              <a:t>Risk dial with the alert line and the change since yesterday</a:t>
            </a:r>
          </a:p>
          <a:p>
            <a:pPr algn="l" marL="164592" indent="-164592">
              <a:spcAft>
                <a:spcPts val="200"/>
              </a:spcAft>
              <a:buChar char="•"/>
            </a:pPr>
            <a:r>
              <a:rPr sz="1200" b="0" i="0">
                <a:solidFill>
                  <a:srgbClr val="111111"/>
                </a:solidFill>
                <a:latin typeface="Times New Roman"/>
              </a:rPr>
              <a:t>Today's readings vs </a:t>
            </a:r>
            <a:r>
              <a:rPr sz="1200" b="1" i="0">
                <a:solidFill>
                  <a:srgbClr val="111111"/>
                </a:solidFill>
                <a:latin typeface="Times New Roman"/>
              </a:rPr>
              <a:t>own normal</a:t>
            </a:r>
            <a:r>
              <a:rPr sz="1200" b="0" i="0">
                <a:solidFill>
                  <a:srgbClr val="111111"/>
                </a:solidFill>
                <a:latin typeface="Times New Roman"/>
              </a:rPr>
              <a:t>: red means worse than usual</a:t>
            </a:r>
          </a:p>
          <a:p>
            <a:pPr algn="l" marL="164592" indent="-164592">
              <a:spcAft>
                <a:spcPts val="200"/>
              </a:spcAft>
              <a:buChar char="•"/>
            </a:pPr>
            <a:r>
              <a:rPr sz="1200" b="1" i="0">
                <a:solidFill>
                  <a:srgbClr val="111111"/>
                </a:solidFill>
                <a:latin typeface="Times New Roman"/>
              </a:rPr>
              <a:t>What would lower the risk</a:t>
            </a:r>
            <a:r>
              <a:rPr sz="1200" b="0" i="0">
                <a:solidFill>
                  <a:srgbClr val="111111"/>
                </a:solidFill>
                <a:latin typeface="Times New Roman"/>
              </a:rPr>
              <a:t>: e.g. air purifier 49% → 43%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descr="bg_content.jpg"/>
          <p:cNvPicPr>
            <a:picLocks noChangeAspect="1"/>
          </p:cNvPicPr>
          <p:nvPr/>
        </p:nvPicPr>
        <p:blipFill>
          <a:blip r:embed="rId2"/>
          <a:stretch>
            <a:fillRect/>
          </a:stretch>
        </p:blipFill>
        <p:spPr>
          <a:xfrm>
            <a:off x="0" y="0"/>
            <a:ext cx="12191695" cy="6858000"/>
          </a:xfrm>
          <a:prstGeom prst="rect">
            <a:avLst/>
          </a:prstGeom>
        </p:spPr>
      </p:pic>
      <p:sp>
        <p:nvSpPr>
          <p:cNvPr id="3" name="BreatheTwin logo"/>
          <p:cNvSpPr/>
          <p:nvPr/>
        </p:nvSpPr>
        <p:spPr>
          <a:xfrm>
            <a:off x="411480" y="201168"/>
            <a:ext cx="3794760" cy="603504"/>
          </a:xfrm>
          <a:prstGeom prst="rect">
            <a:avLst/>
          </a:prstGeom>
          <a:solidFill>
            <a:srgbClr val="0B2A78"/>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Logo mark"/>
          <p:cNvSpPr/>
          <p:nvPr/>
        </p:nvSpPr>
        <p:spPr>
          <a:xfrm>
            <a:off x="475488" y="256032"/>
            <a:ext cx="493776" cy="4937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900" b="1">
                <a:solidFill>
                  <a:srgbClr val="B23A2E"/>
                </a:solidFill>
                <a:latin typeface="Arial"/>
              </a:rPr>
              <a:t>BT</a:t>
            </a:r>
          </a:p>
        </p:txBody>
      </p:sp>
      <p:sp>
        <p:nvSpPr>
          <p:cNvPr id="5" name="Logo text"/>
          <p:cNvSpPr txBox="1"/>
          <p:nvPr/>
        </p:nvSpPr>
        <p:spPr>
          <a:xfrm>
            <a:off x="1024128" y="182880"/>
            <a:ext cx="3154680" cy="457200"/>
          </a:xfrm>
          <a:prstGeom prst="rect">
            <a:avLst/>
          </a:prstGeom>
          <a:noFill/>
        </p:spPr>
        <p:txBody>
          <a:bodyPr wrap="none" lIns="0" tIns="0" bIns="0">
            <a:spAutoFit/>
          </a:bodyPr>
          <a:lstStyle/>
          <a:p>
            <a:r>
              <a:rPr sz="2500" b="1">
                <a:solidFill>
                  <a:srgbClr val="FFFFFF"/>
                </a:solidFill>
                <a:latin typeface="Arial"/>
              </a:rPr>
              <a:t>BREATHETWIN</a:t>
            </a:r>
          </a:p>
        </p:txBody>
      </p:sp>
      <p:sp>
        <p:nvSpPr>
          <p:cNvPr id="6" name="Logo sub"/>
          <p:cNvSpPr txBox="1"/>
          <p:nvPr/>
        </p:nvSpPr>
        <p:spPr>
          <a:xfrm>
            <a:off x="1024128" y="585216"/>
            <a:ext cx="3108960" cy="219456"/>
          </a:xfrm>
          <a:prstGeom prst="rect">
            <a:avLst/>
          </a:prstGeom>
          <a:noFill/>
        </p:spPr>
        <p:txBody>
          <a:bodyPr wrap="none" lIns="0" tIns="0" bIns="0" rIns="0">
            <a:spAutoFit/>
          </a:bodyPr>
          <a:lstStyle/>
          <a:p>
            <a:pPr algn="r"/>
            <a:r>
              <a:rPr sz="900" b="1">
                <a:solidFill>
                  <a:srgbClr val="FFFFFF"/>
                </a:solidFill>
                <a:latin typeface="Arial"/>
              </a:rPr>
              <a:t>TEAM MOMENTUM</a:t>
            </a:r>
          </a:p>
        </p:txBody>
      </p:sp>
      <p:sp>
        <p:nvSpPr>
          <p:cNvPr id="7" name="Logo tagline"/>
          <p:cNvSpPr txBox="1"/>
          <p:nvPr/>
        </p:nvSpPr>
        <p:spPr>
          <a:xfrm>
            <a:off x="566928" y="822960"/>
            <a:ext cx="4023360" cy="274320"/>
          </a:xfrm>
          <a:prstGeom prst="rect">
            <a:avLst/>
          </a:prstGeom>
          <a:noFill/>
        </p:spPr>
        <p:txBody>
          <a:bodyPr wrap="none" lIns="0" tIns="0" bIns="0">
            <a:spAutoFit/>
          </a:bodyPr>
          <a:lstStyle/>
          <a:p>
            <a:r>
              <a:rPr sz="1300" b="1" i="1">
                <a:solidFill>
                  <a:srgbClr val="FFFFFF"/>
                </a:solidFill>
                <a:latin typeface="Arial"/>
              </a:rPr>
              <a:t>EARLY WARNING. EASIER BREATHING.</a:t>
            </a:r>
          </a:p>
        </p:txBody>
      </p:sp>
      <p:sp>
        <p:nvSpPr>
          <p:cNvPr id="8" name="Content panel"/>
          <p:cNvSpPr/>
          <p:nvPr/>
        </p:nvSpPr>
        <p:spPr>
          <a:xfrm>
            <a:off x="502920" y="1115568"/>
            <a:ext cx="11201400" cy="5559552"/>
          </a:xfrm>
          <a:prstGeom prst="rect">
            <a:avLst/>
          </a:prstGeom>
          <a:solidFill>
            <a:srgbClr val="FFFFFF"/>
          </a:solidFill>
          <a:ln w="12700">
            <a:solidFill>
              <a:srgbClr val="F4B18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itle box"/>
          <p:cNvSpPr/>
          <p:nvPr/>
        </p:nvSpPr>
        <p:spPr>
          <a:xfrm>
            <a:off x="731520" y="1225296"/>
            <a:ext cx="10744200" cy="658368"/>
          </a:xfrm>
          <a:prstGeom prst="rect">
            <a:avLst/>
          </a:prstGeom>
          <a:solidFill>
            <a:srgbClr val="FFFFFF"/>
          </a:solidFill>
          <a:ln w="12700">
            <a:solidFill>
              <a:srgbClr val="40404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i="0">
                <a:solidFill>
                  <a:srgbClr val="111111"/>
                </a:solidFill>
                <a:latin typeface="Times New Roman"/>
              </a:rPr>
              <a:t>Health record in every view, and a lab to test advice before giving it</a:t>
            </a:r>
          </a:p>
        </p:txBody>
      </p:sp>
      <p:sp>
        <p:nvSpPr>
          <p:cNvPr id="10" name="Tag: Health Record (EHR)"/>
          <p:cNvSpPr/>
          <p:nvPr/>
        </p:nvSpPr>
        <p:spPr>
          <a:xfrm>
            <a:off x="731520" y="2011680"/>
            <a:ext cx="5120640" cy="384048"/>
          </a:xfrm>
          <a:prstGeom prst="rect">
            <a:avLst/>
          </a:prstGeom>
          <a:solidFill>
            <a:srgbClr val="FFE699"/>
          </a:solidFill>
          <a:ln w="12700">
            <a:solidFill>
              <a:srgbClr val="F4B183"/>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600" b="1" i="0">
                <a:solidFill>
                  <a:srgbClr val="111111"/>
                </a:solidFill>
                <a:latin typeface="Times New Roman"/>
              </a:rPr>
              <a:t>Health Record (EHR)</a:t>
            </a:r>
          </a:p>
        </p:txBody>
      </p:sp>
      <p:pic>
        <p:nvPicPr>
          <p:cNvPr id="11" name="EHR screenshot" descr="ehr.png"/>
          <p:cNvPicPr>
            <a:picLocks noChangeAspect="1"/>
          </p:cNvPicPr>
          <p:nvPr/>
        </p:nvPicPr>
        <p:blipFill>
          <a:blip r:embed="rId4"/>
          <a:stretch>
            <a:fillRect/>
          </a:stretch>
        </p:blipFill>
        <p:spPr>
          <a:xfrm>
            <a:off x="731520" y="2594152"/>
            <a:ext cx="5120640" cy="1843430"/>
          </a:xfrm>
          <a:prstGeom prst="rect">
            <a:avLst/>
          </a:prstGeom>
          <a:ln w="9525">
            <a:solidFill>
              <a:srgbClr val="BFBFBF"/>
            </a:solidFill>
          </a:ln>
        </p:spPr>
      </p:pic>
      <p:sp>
        <p:nvSpPr>
          <p:cNvPr id="12" name="EHR notes box"/>
          <p:cNvSpPr/>
          <p:nvPr/>
        </p:nvSpPr>
        <p:spPr>
          <a:xfrm>
            <a:off x="731520" y="4800600"/>
            <a:ext cx="5120640" cy="1664208"/>
          </a:xfrm>
          <a:prstGeom prst="roundRect">
            <a:avLst>
              <a:gd name="adj" fmla="val 12000"/>
            </a:avLst>
          </a:prstGeom>
          <a:solidFill>
            <a:srgbClr val="FFFFFF"/>
          </a:solidFill>
          <a:ln w="12700">
            <a:solidFill>
              <a:srgbClr val="40404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22960" y="4864608"/>
            <a:ext cx="4983480" cy="1572768"/>
          </a:xfrm>
          <a:prstGeom prst="rect">
            <a:avLst/>
          </a:prstGeom>
          <a:noFill/>
        </p:spPr>
        <p:txBody>
          <a:bodyPr wrap="square" anchor="t" lIns="54864" rIns="54864" tIns="27432" bIns="27432">
            <a:spAutoFit/>
          </a:bodyPr>
          <a:lstStyle/>
          <a:p>
            <a:pPr algn="l">
              <a:spcAft>
                <a:spcPts val="400"/>
              </a:spcAft>
              <a:buNone/>
            </a:pPr>
            <a:r>
              <a:rPr sz="1400" b="1" i="0">
                <a:solidFill>
                  <a:srgbClr val="111111"/>
                </a:solidFill>
                <a:latin typeface="Times New Roman"/>
              </a:rPr>
              <a:t>The fixed part of the twin</a:t>
            </a:r>
          </a:p>
          <a:p>
            <a:pPr algn="l" marL="164592" indent="-164592">
              <a:spcAft>
                <a:spcPts val="400"/>
              </a:spcAft>
              <a:buChar char="•"/>
            </a:pPr>
            <a:r>
              <a:rPr sz="1300" b="0" i="0">
                <a:solidFill>
                  <a:srgbClr val="111111"/>
                </a:solidFill>
                <a:latin typeface="Times New Roman"/>
              </a:rPr>
              <a:t>Diagnosis, risk factors, blood tests, other illnesses, medicines</a:t>
            </a:r>
          </a:p>
          <a:p>
            <a:pPr algn="l" marL="164592" indent="-164592">
              <a:spcAft>
                <a:spcPts val="400"/>
              </a:spcAft>
              <a:buChar char="•"/>
            </a:pPr>
            <a:r>
              <a:rPr sz="1300" b="0" i="0">
                <a:solidFill>
                  <a:srgbClr val="111111"/>
                </a:solidFill>
                <a:latin typeface="Times New Roman"/>
              </a:rPr>
              <a:t>Shows how much the record </a:t>
            </a:r>
            <a:r>
              <a:rPr sz="1300" b="1" i="0">
                <a:solidFill>
                  <a:srgbClr val="111111"/>
                </a:solidFill>
                <a:latin typeface="Times New Roman"/>
              </a:rPr>
              <a:t>raises or lowers</a:t>
            </a:r>
            <a:r>
              <a:rPr sz="1300" b="0" i="0">
                <a:solidFill>
                  <a:srgbClr val="111111"/>
                </a:solidFill>
                <a:latin typeface="Times New Roman"/>
              </a:rPr>
              <a:t> today's risk</a:t>
            </a:r>
          </a:p>
          <a:p>
            <a:pPr algn="l" marL="164592" indent="-164592">
              <a:spcAft>
                <a:spcPts val="400"/>
              </a:spcAft>
              <a:buChar char="•"/>
            </a:pPr>
            <a:r>
              <a:rPr sz="1300" b="0" i="0">
                <a:solidFill>
                  <a:srgbClr val="111111"/>
                </a:solidFill>
                <a:latin typeface="Times New Roman"/>
              </a:rPr>
              <a:t>Record facts also appear on the call list, what-if lab and new-person check</a:t>
            </a:r>
          </a:p>
        </p:txBody>
      </p:sp>
      <p:sp>
        <p:nvSpPr>
          <p:cNvPr id="14" name="Tag: What-if Lab"/>
          <p:cNvSpPr/>
          <p:nvPr/>
        </p:nvSpPr>
        <p:spPr>
          <a:xfrm>
            <a:off x="6080760" y="2011680"/>
            <a:ext cx="5394960" cy="384048"/>
          </a:xfrm>
          <a:prstGeom prst="rect">
            <a:avLst/>
          </a:prstGeom>
          <a:solidFill>
            <a:srgbClr val="FFE699"/>
          </a:solidFill>
          <a:ln w="12700">
            <a:solidFill>
              <a:srgbClr val="F4B183"/>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600" b="1" i="0">
                <a:solidFill>
                  <a:srgbClr val="111111"/>
                </a:solidFill>
                <a:latin typeface="Times New Roman"/>
              </a:rPr>
              <a:t>What-if Lab</a:t>
            </a:r>
          </a:p>
        </p:txBody>
      </p:sp>
      <p:pic>
        <p:nvPicPr>
          <p:cNvPr id="15" name="What-if screenshot" descr="whatif.png"/>
          <p:cNvPicPr>
            <a:picLocks noChangeAspect="1"/>
          </p:cNvPicPr>
          <p:nvPr/>
        </p:nvPicPr>
        <p:blipFill>
          <a:blip r:embed="rId5"/>
          <a:stretch>
            <a:fillRect/>
          </a:stretch>
        </p:blipFill>
        <p:spPr>
          <a:xfrm>
            <a:off x="6520420" y="2487168"/>
            <a:ext cx="4515638" cy="3063239"/>
          </a:xfrm>
          <a:prstGeom prst="rect">
            <a:avLst/>
          </a:prstGeom>
          <a:ln w="9525">
            <a:solidFill>
              <a:srgbClr val="BFBFBF"/>
            </a:solidFill>
          </a:ln>
        </p:spPr>
      </p:pic>
      <p:sp>
        <p:nvSpPr>
          <p:cNvPr id="16" name="TextBox 15"/>
          <p:cNvSpPr txBox="1"/>
          <p:nvPr/>
        </p:nvSpPr>
        <p:spPr>
          <a:xfrm>
            <a:off x="6080760" y="5596128"/>
            <a:ext cx="5394960" cy="868680"/>
          </a:xfrm>
          <a:prstGeom prst="rect">
            <a:avLst/>
          </a:prstGeom>
          <a:noFill/>
        </p:spPr>
        <p:txBody>
          <a:bodyPr wrap="square" anchor="t" lIns="54864" rIns="54864" tIns="27432" bIns="27432">
            <a:spAutoFit/>
          </a:bodyPr>
          <a:lstStyle/>
          <a:p>
            <a:pPr algn="l" marL="164592" indent="-164592">
              <a:spcAft>
                <a:spcPts val="200"/>
              </a:spcAft>
              <a:buChar char="•"/>
            </a:pPr>
            <a:r>
              <a:rPr sz="1200" b="0" i="0">
                <a:solidFill>
                  <a:srgbClr val="111111"/>
                </a:solidFill>
                <a:latin typeface="Times New Roman"/>
              </a:rPr>
              <a:t>One click scenarios: </a:t>
            </a:r>
            <a:r>
              <a:rPr sz="1200" b="1" i="0">
                <a:solidFill>
                  <a:srgbClr val="111111"/>
                </a:solidFill>
                <a:latin typeface="Times New Roman"/>
              </a:rPr>
              <a:t>smog week, cold snap, stopped inhaler, early warning signs, perfect week</a:t>
            </a:r>
          </a:p>
          <a:p>
            <a:pPr algn="l" marL="164592" indent="-164592">
              <a:spcAft>
                <a:spcPts val="200"/>
              </a:spcAft>
              <a:buChar char="•"/>
            </a:pPr>
            <a:r>
              <a:rPr sz="1200" b="0" i="0">
                <a:solidFill>
                  <a:srgbClr val="111111"/>
                </a:solidFill>
                <a:latin typeface="Times New Roman"/>
              </a:rPr>
              <a:t>Sliders for body signals, inhaler, air, weather and the record; risk re-scores instantly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descr="bg_content.jpg"/>
          <p:cNvPicPr>
            <a:picLocks noChangeAspect="1"/>
          </p:cNvPicPr>
          <p:nvPr/>
        </p:nvPicPr>
        <p:blipFill>
          <a:blip r:embed="rId2"/>
          <a:stretch>
            <a:fillRect/>
          </a:stretch>
        </p:blipFill>
        <p:spPr>
          <a:xfrm>
            <a:off x="0" y="0"/>
            <a:ext cx="12191695" cy="6858000"/>
          </a:xfrm>
          <a:prstGeom prst="rect">
            <a:avLst/>
          </a:prstGeom>
        </p:spPr>
      </p:pic>
      <p:sp>
        <p:nvSpPr>
          <p:cNvPr id="3" name="BreatheTwin logo"/>
          <p:cNvSpPr/>
          <p:nvPr/>
        </p:nvSpPr>
        <p:spPr>
          <a:xfrm>
            <a:off x="411480" y="201168"/>
            <a:ext cx="3794760" cy="603504"/>
          </a:xfrm>
          <a:prstGeom prst="rect">
            <a:avLst/>
          </a:prstGeom>
          <a:solidFill>
            <a:srgbClr val="0B2A78"/>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Logo mark"/>
          <p:cNvSpPr/>
          <p:nvPr/>
        </p:nvSpPr>
        <p:spPr>
          <a:xfrm>
            <a:off x="475488" y="256032"/>
            <a:ext cx="493776" cy="4937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900" b="1">
                <a:solidFill>
                  <a:srgbClr val="B23A2E"/>
                </a:solidFill>
                <a:latin typeface="Arial"/>
              </a:rPr>
              <a:t>BT</a:t>
            </a:r>
          </a:p>
        </p:txBody>
      </p:sp>
      <p:sp>
        <p:nvSpPr>
          <p:cNvPr id="5" name="Logo text"/>
          <p:cNvSpPr txBox="1"/>
          <p:nvPr/>
        </p:nvSpPr>
        <p:spPr>
          <a:xfrm>
            <a:off x="1024128" y="182880"/>
            <a:ext cx="3154680" cy="457200"/>
          </a:xfrm>
          <a:prstGeom prst="rect">
            <a:avLst/>
          </a:prstGeom>
          <a:noFill/>
        </p:spPr>
        <p:txBody>
          <a:bodyPr wrap="none" lIns="0" tIns="0" bIns="0">
            <a:spAutoFit/>
          </a:bodyPr>
          <a:lstStyle/>
          <a:p>
            <a:r>
              <a:rPr sz="2500" b="1">
                <a:solidFill>
                  <a:srgbClr val="FFFFFF"/>
                </a:solidFill>
                <a:latin typeface="Arial"/>
              </a:rPr>
              <a:t>BREATHETWIN</a:t>
            </a:r>
          </a:p>
        </p:txBody>
      </p:sp>
      <p:sp>
        <p:nvSpPr>
          <p:cNvPr id="6" name="Logo sub"/>
          <p:cNvSpPr txBox="1"/>
          <p:nvPr/>
        </p:nvSpPr>
        <p:spPr>
          <a:xfrm>
            <a:off x="1024128" y="585216"/>
            <a:ext cx="3108960" cy="219456"/>
          </a:xfrm>
          <a:prstGeom prst="rect">
            <a:avLst/>
          </a:prstGeom>
          <a:noFill/>
        </p:spPr>
        <p:txBody>
          <a:bodyPr wrap="none" lIns="0" tIns="0" bIns="0" rIns="0">
            <a:spAutoFit/>
          </a:bodyPr>
          <a:lstStyle/>
          <a:p>
            <a:pPr algn="r"/>
            <a:r>
              <a:rPr sz="900" b="1">
                <a:solidFill>
                  <a:srgbClr val="FFFFFF"/>
                </a:solidFill>
                <a:latin typeface="Arial"/>
              </a:rPr>
              <a:t>TEAM MOMENTUM</a:t>
            </a:r>
          </a:p>
        </p:txBody>
      </p:sp>
      <p:sp>
        <p:nvSpPr>
          <p:cNvPr id="7" name="Logo tagline"/>
          <p:cNvSpPr txBox="1"/>
          <p:nvPr/>
        </p:nvSpPr>
        <p:spPr>
          <a:xfrm>
            <a:off x="566928" y="822960"/>
            <a:ext cx="4023360" cy="274320"/>
          </a:xfrm>
          <a:prstGeom prst="rect">
            <a:avLst/>
          </a:prstGeom>
          <a:noFill/>
        </p:spPr>
        <p:txBody>
          <a:bodyPr wrap="none" lIns="0" tIns="0" bIns="0">
            <a:spAutoFit/>
          </a:bodyPr>
          <a:lstStyle/>
          <a:p>
            <a:r>
              <a:rPr sz="1300" b="1" i="1">
                <a:solidFill>
                  <a:srgbClr val="FFFFFF"/>
                </a:solidFill>
                <a:latin typeface="Arial"/>
              </a:rPr>
              <a:t>EARLY WARNING. EASIER BREATHING.</a:t>
            </a:r>
          </a:p>
        </p:txBody>
      </p:sp>
      <p:sp>
        <p:nvSpPr>
          <p:cNvPr id="8" name="Content panel"/>
          <p:cNvSpPr/>
          <p:nvPr/>
        </p:nvSpPr>
        <p:spPr>
          <a:xfrm>
            <a:off x="502920" y="1115568"/>
            <a:ext cx="11201400" cy="5559552"/>
          </a:xfrm>
          <a:prstGeom prst="rect">
            <a:avLst/>
          </a:prstGeom>
          <a:solidFill>
            <a:srgbClr val="FFFFFF"/>
          </a:solidFill>
          <a:ln w="12700">
            <a:solidFill>
              <a:srgbClr val="F4B18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itle box"/>
          <p:cNvSpPr/>
          <p:nvPr/>
        </p:nvSpPr>
        <p:spPr>
          <a:xfrm>
            <a:off x="731520" y="1225296"/>
            <a:ext cx="10744200" cy="658368"/>
          </a:xfrm>
          <a:prstGeom prst="rect">
            <a:avLst/>
          </a:prstGeom>
          <a:solidFill>
            <a:srgbClr val="FFFFFF"/>
          </a:solidFill>
          <a:ln w="12700">
            <a:solidFill>
              <a:srgbClr val="40404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i="0">
                <a:solidFill>
                  <a:srgbClr val="111111"/>
                </a:solidFill>
                <a:latin typeface="Times New Roman"/>
              </a:rPr>
              <a:t>Check a new person in minutes, and see every value the twin used</a:t>
            </a:r>
          </a:p>
        </p:txBody>
      </p:sp>
      <p:sp>
        <p:nvSpPr>
          <p:cNvPr id="10" name="Tag: Result for a new person with warning signs"/>
          <p:cNvSpPr/>
          <p:nvPr/>
        </p:nvSpPr>
        <p:spPr>
          <a:xfrm>
            <a:off x="731520" y="2011680"/>
            <a:ext cx="6217920" cy="384048"/>
          </a:xfrm>
          <a:prstGeom prst="rect">
            <a:avLst/>
          </a:prstGeom>
          <a:solidFill>
            <a:srgbClr val="FFE699"/>
          </a:solidFill>
          <a:ln w="12700">
            <a:solidFill>
              <a:srgbClr val="F4B183"/>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600" b="1" i="0">
                <a:solidFill>
                  <a:srgbClr val="111111"/>
                </a:solidFill>
                <a:latin typeface="Times New Roman"/>
              </a:rPr>
              <a:t>Result for a new person with warning signs</a:t>
            </a:r>
          </a:p>
        </p:txBody>
      </p:sp>
      <p:pic>
        <p:nvPicPr>
          <p:cNvPr id="11" name="New person screenshot" descr="newperson.png"/>
          <p:cNvPicPr>
            <a:picLocks noChangeAspect="1"/>
          </p:cNvPicPr>
          <p:nvPr/>
        </p:nvPicPr>
        <p:blipFill>
          <a:blip r:embed="rId4"/>
          <a:stretch>
            <a:fillRect/>
          </a:stretch>
        </p:blipFill>
        <p:spPr>
          <a:xfrm>
            <a:off x="731520" y="2521784"/>
            <a:ext cx="6217920" cy="3908406"/>
          </a:xfrm>
          <a:prstGeom prst="rect">
            <a:avLst/>
          </a:prstGeom>
          <a:ln w="9525">
            <a:solidFill>
              <a:srgbClr val="BFBFBF"/>
            </a:solidFill>
          </a:ln>
        </p:spPr>
      </p:pic>
      <p:sp>
        <p:nvSpPr>
          <p:cNvPr id="12" name="Tag: How it works"/>
          <p:cNvSpPr/>
          <p:nvPr/>
        </p:nvSpPr>
        <p:spPr>
          <a:xfrm>
            <a:off x="7178040" y="2011680"/>
            <a:ext cx="4297680" cy="384048"/>
          </a:xfrm>
          <a:prstGeom prst="rect">
            <a:avLst/>
          </a:prstGeom>
          <a:solidFill>
            <a:srgbClr val="FFE699"/>
          </a:solidFill>
          <a:ln w="12700">
            <a:solidFill>
              <a:srgbClr val="F4B183"/>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600" b="1" i="0">
                <a:solidFill>
                  <a:srgbClr val="111111"/>
                </a:solidFill>
                <a:latin typeface="Times New Roman"/>
              </a:rPr>
              <a:t>How it works</a:t>
            </a:r>
          </a:p>
        </p:txBody>
      </p:sp>
      <p:sp>
        <p:nvSpPr>
          <p:cNvPr id="13" name="Steps box"/>
          <p:cNvSpPr/>
          <p:nvPr/>
        </p:nvSpPr>
        <p:spPr>
          <a:xfrm>
            <a:off x="7178040" y="2487168"/>
            <a:ext cx="4297680" cy="1600200"/>
          </a:xfrm>
          <a:prstGeom prst="roundRect">
            <a:avLst>
              <a:gd name="adj" fmla="val 10000"/>
            </a:avLst>
          </a:prstGeom>
          <a:solidFill>
            <a:srgbClr val="FFFFFF"/>
          </a:solidFill>
          <a:ln w="12700">
            <a:solidFill>
              <a:srgbClr val="40404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269480" y="2542032"/>
            <a:ext cx="4160520" cy="1508760"/>
          </a:xfrm>
          <a:prstGeom prst="rect">
            <a:avLst/>
          </a:prstGeom>
          <a:noFill/>
        </p:spPr>
        <p:txBody>
          <a:bodyPr wrap="square" anchor="t" lIns="54864" rIns="54864" tIns="27432" bIns="27432">
            <a:spAutoFit/>
          </a:bodyPr>
          <a:lstStyle/>
          <a:p>
            <a:pPr algn="l">
              <a:spcAft>
                <a:spcPts val="400"/>
              </a:spcAft>
              <a:buNone/>
            </a:pPr>
            <a:r>
              <a:rPr sz="1250" b="1" i="0">
                <a:solidFill>
                  <a:srgbClr val="111111"/>
                </a:solidFill>
                <a:latin typeface="Times New Roman"/>
              </a:rPr>
              <a:t>1.</a:t>
            </a:r>
            <a:r>
              <a:rPr sz="1250" b="0" i="0">
                <a:solidFill>
                  <a:srgbClr val="111111"/>
                </a:solidFill>
                <a:latin typeface="Times New Roman"/>
              </a:rPr>
              <a:t> Health record: age, severity, smoking, blood tests</a:t>
            </a:r>
          </a:p>
          <a:p>
            <a:pPr algn="l">
              <a:spcAft>
                <a:spcPts val="400"/>
              </a:spcAft>
              <a:buNone/>
            </a:pPr>
            <a:r>
              <a:rPr sz="1250" b="1" i="0">
                <a:solidFill>
                  <a:srgbClr val="111111"/>
                </a:solidFill>
                <a:latin typeface="Times New Roman"/>
              </a:rPr>
              <a:t>2.</a:t>
            </a:r>
            <a:r>
              <a:rPr sz="1250" b="0" i="0">
                <a:solidFill>
                  <a:srgbClr val="111111"/>
                </a:solidFill>
                <a:latin typeface="Times New Roman"/>
              </a:rPr>
              <a:t> Readings </a:t>
            </a:r>
            <a:r>
              <a:rPr sz="1250" b="1" i="0">
                <a:solidFill>
                  <a:srgbClr val="111111"/>
                </a:solidFill>
                <a:latin typeface="Times New Roman"/>
              </a:rPr>
              <a:t>usual</a:t>
            </a:r>
            <a:r>
              <a:rPr sz="1250" b="0" i="0">
                <a:solidFill>
                  <a:srgbClr val="111111"/>
                </a:solidFill>
                <a:latin typeface="Times New Roman"/>
              </a:rPr>
              <a:t> (a good day) and </a:t>
            </a:r>
            <a:r>
              <a:rPr sz="1250" b="1" i="0">
                <a:solidFill>
                  <a:srgbClr val="111111"/>
                </a:solidFill>
                <a:latin typeface="Times New Roman"/>
              </a:rPr>
              <a:t>now</a:t>
            </a:r>
            <a:r>
              <a:rPr sz="1250" b="0" i="0">
                <a:solidFill>
                  <a:srgbClr val="111111"/>
                </a:solidFill>
                <a:latin typeface="Times New Roman"/>
              </a:rPr>
              <a:t> (last 3 days)</a:t>
            </a:r>
          </a:p>
          <a:p>
            <a:pPr algn="l">
              <a:spcAft>
                <a:spcPts val="400"/>
              </a:spcAft>
              <a:buNone/>
            </a:pPr>
            <a:r>
              <a:rPr sz="1250" b="1" i="0">
                <a:solidFill>
                  <a:srgbClr val="111111"/>
                </a:solidFill>
                <a:latin typeface="Times New Roman"/>
              </a:rPr>
              <a:t>3.</a:t>
            </a:r>
            <a:r>
              <a:rPr sz="1250" b="0" i="0">
                <a:solidFill>
                  <a:srgbClr val="111111"/>
                </a:solidFill>
                <a:latin typeface="Times New Roman"/>
              </a:rPr>
              <a:t> Optional: today's PM2.5 from a CPCB or AQI app</a:t>
            </a:r>
          </a:p>
          <a:p>
            <a:pPr algn="l">
              <a:spcAft>
                <a:spcPts val="400"/>
              </a:spcAft>
              <a:buNone/>
            </a:pPr>
            <a:r>
              <a:rPr sz="1250" b="1" i="0">
                <a:solidFill>
                  <a:srgbClr val="111111"/>
                </a:solidFill>
                <a:latin typeface="Times New Roman"/>
              </a:rPr>
              <a:t>4.</a:t>
            </a:r>
            <a:r>
              <a:rPr sz="1250" b="0" i="0">
                <a:solidFill>
                  <a:srgbClr val="111111"/>
                </a:solidFill>
                <a:latin typeface="Times New Roman"/>
              </a:rPr>
              <a:t> Risk, reasons, safety checks and a table of every value used</a:t>
            </a:r>
          </a:p>
        </p:txBody>
      </p:sp>
      <p:sp>
        <p:nvSpPr>
          <p:cNvPr id="15" name="Tag: We tested it"/>
          <p:cNvSpPr/>
          <p:nvPr/>
        </p:nvSpPr>
        <p:spPr>
          <a:xfrm>
            <a:off x="7178040" y="4279392"/>
            <a:ext cx="4297680" cy="384048"/>
          </a:xfrm>
          <a:prstGeom prst="rect">
            <a:avLst/>
          </a:prstGeom>
          <a:solidFill>
            <a:srgbClr val="FFE699"/>
          </a:solidFill>
          <a:ln w="12700">
            <a:solidFill>
              <a:srgbClr val="F4B183"/>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600" b="1" i="0">
                <a:solidFill>
                  <a:srgbClr val="111111"/>
                </a:solidFill>
                <a:latin typeface="Times New Roman"/>
              </a:rPr>
              <a:t>We tested it</a:t>
            </a:r>
          </a:p>
        </p:txBody>
      </p:sp>
      <p:graphicFrame>
        <p:nvGraphicFramePr>
          <p:cNvPr id="16" name="Tests table"/>
          <p:cNvGraphicFramePr>
            <a:graphicFrameLocks noGrp="1"/>
          </p:cNvGraphicFramePr>
          <p:nvPr/>
        </p:nvGraphicFramePr>
        <p:xfrm>
          <a:off x="7178040" y="4754880"/>
          <a:ext cx="4297680" cy="1682496"/>
        </p:xfrm>
        <a:graphic>
          <a:graphicData uri="http://schemas.openxmlformats.org/drawingml/2006/table">
            <a:tbl>
              <a:tblPr firstRow="0" bandRow="0">
                <a:tableStyleId>{5940675A-B579-460E-94D1-54222C63F5DA}</a:tableStyleId>
              </a:tblPr>
              <a:tblGrid>
                <a:gridCol w="2514600"/>
                <a:gridCol w="1783080"/>
              </a:tblGrid>
              <a:tr h="420624">
                <a:tc>
                  <a:txBody>
                    <a:bodyPr wrap="square"/>
                    <a:lstStyle/>
                    <a:p>
                      <a:pPr algn="ctr"/>
                      <a:r>
                        <a:rPr sz="1300" b="1" i="0">
                          <a:solidFill>
                            <a:srgbClr val="111111"/>
                          </a:solidFill>
                          <a:latin typeface="Times New Roman"/>
                        </a:rPr>
                        <a:t>Test case</a:t>
                      </a:r>
                    </a:p>
                  </a:txBody>
                  <a:tcPr marL="54864" marR="54864" marT="22860" marB="22860" anchor="ctr">
                    <a:solidFill>
                      <a:srgbClr val="8EA9DB"/>
                    </a:solidFill>
                    <a:lnL w="9525">
                      <a:solidFill>
                        <a:srgbClr val="000000"/>
                      </a:solidFill>
                    </a:lnL>
                    <a:lnR w="9525">
                      <a:solidFill>
                        <a:srgbClr val="000000"/>
                      </a:solidFill>
                    </a:lnR>
                    <a:lnT w="9525">
                      <a:solidFill>
                        <a:srgbClr val="000000"/>
                      </a:solidFill>
                    </a:lnT>
                    <a:lnB w="9525">
                      <a:solidFill>
                        <a:srgbClr val="000000"/>
                      </a:solidFill>
                    </a:lnB>
                  </a:tcPr>
                </a:tc>
                <a:tc>
                  <a:txBody>
                    <a:bodyPr wrap="square"/>
                    <a:lstStyle/>
                    <a:p>
                      <a:pPr algn="ctr"/>
                      <a:r>
                        <a:rPr sz="1300" b="1" i="0">
                          <a:solidFill>
                            <a:srgbClr val="111111"/>
                          </a:solidFill>
                          <a:latin typeface="Times New Roman"/>
                        </a:rPr>
                        <a:t>Result</a:t>
                      </a:r>
                    </a:p>
                  </a:txBody>
                  <a:tcPr marL="54864" marR="54864" marT="22860" marB="22860" anchor="ctr">
                    <a:solidFill>
                      <a:srgbClr val="8EA9DB"/>
                    </a:solidFill>
                    <a:lnL w="9525">
                      <a:solidFill>
                        <a:srgbClr val="000000"/>
                      </a:solidFill>
                    </a:lnL>
                    <a:lnR w="9525">
                      <a:solidFill>
                        <a:srgbClr val="000000"/>
                      </a:solidFill>
                    </a:lnR>
                    <a:lnT w="9525">
                      <a:solidFill>
                        <a:srgbClr val="000000"/>
                      </a:solidFill>
                    </a:lnT>
                    <a:lnB w="9525">
                      <a:solidFill>
                        <a:srgbClr val="000000"/>
                      </a:solidFill>
                    </a:lnB>
                  </a:tcPr>
                </a:tc>
              </a:tr>
              <a:tr h="420624">
                <a:tc>
                  <a:txBody>
                    <a:bodyPr wrap="square"/>
                    <a:lstStyle/>
                    <a:p>
                      <a:pPr algn="l"/>
                      <a:r>
                        <a:rPr sz="1200" b="0" i="0">
                          <a:solidFill>
                            <a:srgbClr val="111111"/>
                          </a:solidFill>
                          <a:latin typeface="Times New Roman"/>
                        </a:rPr>
                        <a:t>Readings now = usual</a:t>
                      </a:r>
                    </a:p>
                  </a:txBody>
                  <a:tcPr marL="54864" marR="54864" marT="22860" marB="22860" anchor="ctr">
                    <a:solidFill>
                      <a:srgbClr val="FFFFFF"/>
                    </a:solidFill>
                    <a:lnL w="9525">
                      <a:solidFill>
                        <a:srgbClr val="000000"/>
                      </a:solidFill>
                    </a:lnL>
                    <a:lnR w="9525">
                      <a:solidFill>
                        <a:srgbClr val="000000"/>
                      </a:solidFill>
                    </a:lnR>
                    <a:lnT w="9525">
                      <a:solidFill>
                        <a:srgbClr val="000000"/>
                      </a:solidFill>
                    </a:lnT>
                    <a:lnB w="9525">
                      <a:solidFill>
                        <a:srgbClr val="000000"/>
                      </a:solidFill>
                    </a:lnB>
                  </a:tcPr>
                </a:tc>
                <a:tc>
                  <a:txBody>
                    <a:bodyPr wrap="square"/>
                    <a:lstStyle/>
                    <a:p>
                      <a:pPr algn="l"/>
                      <a:r>
                        <a:rPr sz="1200" b="1" i="0">
                          <a:solidFill>
                            <a:srgbClr val="111111"/>
                          </a:solidFill>
                          <a:latin typeface="Times New Roman"/>
                        </a:rPr>
                        <a:t>Low</a:t>
                      </a:r>
                      <a:r>
                        <a:rPr sz="1200" b="0" i="0">
                          <a:solidFill>
                            <a:srgbClr val="111111"/>
                          </a:solidFill>
                          <a:latin typeface="Times New Roman"/>
                        </a:rPr>
                        <a:t>, about 0.4%</a:t>
                      </a:r>
                    </a:p>
                  </a:txBody>
                  <a:tcPr marL="54864" marR="54864" marT="22860" marB="22860" anchor="ctr">
                    <a:solidFill>
                      <a:srgbClr val="FFFFFF"/>
                    </a:solidFill>
                    <a:lnL w="9525">
                      <a:solidFill>
                        <a:srgbClr val="000000"/>
                      </a:solidFill>
                    </a:lnL>
                    <a:lnR w="9525">
                      <a:solidFill>
                        <a:srgbClr val="000000"/>
                      </a:solidFill>
                    </a:lnR>
                    <a:lnT w="9525">
                      <a:solidFill>
                        <a:srgbClr val="000000"/>
                      </a:solidFill>
                    </a:lnT>
                    <a:lnB w="9525">
                      <a:solidFill>
                        <a:srgbClr val="000000"/>
                      </a:solidFill>
                    </a:lnB>
                  </a:tcPr>
                </a:tc>
              </a:tr>
              <a:tr h="420624">
                <a:tc>
                  <a:txBody>
                    <a:bodyPr wrap="square"/>
                    <a:lstStyle/>
                    <a:p>
                      <a:pPr algn="l"/>
                      <a:r>
                        <a:rPr sz="1200" b="0" i="0">
                          <a:solidFill>
                            <a:srgbClr val="111111"/>
                          </a:solidFill>
                          <a:latin typeface="Times New Roman"/>
                        </a:rPr>
                        <a:t>Faster breathing, lower oxygen, more puffs</a:t>
                      </a:r>
                    </a:p>
                  </a:txBody>
                  <a:tcPr marL="54864" marR="54864" marT="22860" marB="22860" anchor="ctr">
                    <a:solidFill>
                      <a:srgbClr val="FFFFFF"/>
                    </a:solidFill>
                    <a:lnL w="9525">
                      <a:solidFill>
                        <a:srgbClr val="000000"/>
                      </a:solidFill>
                    </a:lnL>
                    <a:lnR w="9525">
                      <a:solidFill>
                        <a:srgbClr val="000000"/>
                      </a:solidFill>
                    </a:lnR>
                    <a:lnT w="9525">
                      <a:solidFill>
                        <a:srgbClr val="000000"/>
                      </a:solidFill>
                    </a:lnT>
                    <a:lnB w="9525">
                      <a:solidFill>
                        <a:srgbClr val="000000"/>
                      </a:solidFill>
                    </a:lnB>
                  </a:tcPr>
                </a:tc>
                <a:tc>
                  <a:txBody>
                    <a:bodyPr wrap="square"/>
                    <a:lstStyle/>
                    <a:p>
                      <a:pPr algn="l"/>
                      <a:r>
                        <a:rPr sz="1200" b="1" i="0">
                          <a:solidFill>
                            <a:srgbClr val="111111"/>
                          </a:solidFill>
                          <a:latin typeface="Times New Roman"/>
                        </a:rPr>
                        <a:t>High</a:t>
                      </a:r>
                      <a:r>
                        <a:rPr sz="1200" b="0" i="0">
                          <a:solidFill>
                            <a:srgbClr val="111111"/>
                          </a:solidFill>
                          <a:latin typeface="Times New Roman"/>
                        </a:rPr>
                        <a:t>, about 96%</a:t>
                      </a:r>
                    </a:p>
                  </a:txBody>
                  <a:tcPr marL="54864" marR="54864" marT="22860" marB="22860" anchor="ctr">
                    <a:solidFill>
                      <a:srgbClr val="FFFFFF"/>
                    </a:solidFill>
                    <a:lnL w="9525">
                      <a:solidFill>
                        <a:srgbClr val="000000"/>
                      </a:solidFill>
                    </a:lnL>
                    <a:lnR w="9525">
                      <a:solidFill>
                        <a:srgbClr val="000000"/>
                      </a:solidFill>
                    </a:lnR>
                    <a:lnT w="9525">
                      <a:solidFill>
                        <a:srgbClr val="000000"/>
                      </a:solidFill>
                    </a:lnT>
                    <a:lnB w="9525">
                      <a:solidFill>
                        <a:srgbClr val="000000"/>
                      </a:solidFill>
                    </a:lnB>
                  </a:tcPr>
                </a:tc>
              </a:tr>
              <a:tr h="420624">
                <a:tc>
                  <a:txBody>
                    <a:bodyPr wrap="square"/>
                    <a:lstStyle/>
                    <a:p>
                      <a:pPr algn="l"/>
                      <a:r>
                        <a:rPr sz="1200" b="0" i="0">
                          <a:solidFill>
                            <a:srgbClr val="111111"/>
                          </a:solidFill>
                          <a:latin typeface="Times New Roman"/>
                        </a:rPr>
                        <a:t>Eosinophils 220 → 520 cells/µL</a:t>
                      </a:r>
                    </a:p>
                  </a:txBody>
                  <a:tcPr marL="54864" marR="54864" marT="22860" marB="22860" anchor="ctr">
                    <a:solidFill>
                      <a:srgbClr val="FFFFFF"/>
                    </a:solidFill>
                    <a:lnL w="9525">
                      <a:solidFill>
                        <a:srgbClr val="000000"/>
                      </a:solidFill>
                    </a:lnL>
                    <a:lnR w="9525">
                      <a:solidFill>
                        <a:srgbClr val="000000"/>
                      </a:solidFill>
                    </a:lnR>
                    <a:lnT w="9525">
                      <a:solidFill>
                        <a:srgbClr val="000000"/>
                      </a:solidFill>
                    </a:lnT>
                    <a:lnB w="9525">
                      <a:solidFill>
                        <a:srgbClr val="000000"/>
                      </a:solidFill>
                    </a:lnB>
                  </a:tcPr>
                </a:tc>
                <a:tc>
                  <a:txBody>
                    <a:bodyPr wrap="square"/>
                    <a:lstStyle/>
                    <a:p>
                      <a:pPr algn="l"/>
                      <a:r>
                        <a:rPr sz="1200" b="0" i="0">
                          <a:solidFill>
                            <a:srgbClr val="111111"/>
                          </a:solidFill>
                          <a:latin typeface="Times New Roman"/>
                        </a:rPr>
                        <a:t>Risk 0.43% → </a:t>
                      </a:r>
                      <a:r>
                        <a:rPr sz="1200" b="1" i="0">
                          <a:solidFill>
                            <a:srgbClr val="111111"/>
                          </a:solidFill>
                          <a:latin typeface="Times New Roman"/>
                        </a:rPr>
                        <a:t>0.80%</a:t>
                      </a:r>
                    </a:p>
                  </a:txBody>
                  <a:tcPr marL="54864" marR="54864" marT="22860" marB="22860" anchor="ctr">
                    <a:solidFill>
                      <a:srgbClr val="FFFFFF"/>
                    </a:solidFill>
                    <a:lnL w="9525">
                      <a:solidFill>
                        <a:srgbClr val="000000"/>
                      </a:solidFill>
                    </a:lnL>
                    <a:lnR w="9525">
                      <a:solidFill>
                        <a:srgbClr val="000000"/>
                      </a:solidFill>
                    </a:lnR>
                    <a:lnT w="9525">
                      <a:solidFill>
                        <a:srgbClr val="000000"/>
                      </a:solidFill>
                    </a:lnT>
                    <a:lnB w="9525">
                      <a:solidFill>
                        <a:srgbClr val="000000"/>
                      </a:solidFill>
                    </a:lnB>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descr="bg_content.jpg"/>
          <p:cNvPicPr>
            <a:picLocks noChangeAspect="1"/>
          </p:cNvPicPr>
          <p:nvPr/>
        </p:nvPicPr>
        <p:blipFill>
          <a:blip r:embed="rId2"/>
          <a:stretch>
            <a:fillRect/>
          </a:stretch>
        </p:blipFill>
        <p:spPr>
          <a:xfrm>
            <a:off x="0" y="0"/>
            <a:ext cx="12191695" cy="6858000"/>
          </a:xfrm>
          <a:prstGeom prst="rect">
            <a:avLst/>
          </a:prstGeom>
        </p:spPr>
      </p:pic>
      <p:sp>
        <p:nvSpPr>
          <p:cNvPr id="3" name="BreatheTwin logo"/>
          <p:cNvSpPr/>
          <p:nvPr/>
        </p:nvSpPr>
        <p:spPr>
          <a:xfrm>
            <a:off x="411480" y="201168"/>
            <a:ext cx="3794760" cy="603504"/>
          </a:xfrm>
          <a:prstGeom prst="rect">
            <a:avLst/>
          </a:prstGeom>
          <a:solidFill>
            <a:srgbClr val="0B2A78"/>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Logo mark"/>
          <p:cNvSpPr/>
          <p:nvPr/>
        </p:nvSpPr>
        <p:spPr>
          <a:xfrm>
            <a:off x="475488" y="256032"/>
            <a:ext cx="493776" cy="4937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900" b="1">
                <a:solidFill>
                  <a:srgbClr val="B23A2E"/>
                </a:solidFill>
                <a:latin typeface="Arial"/>
              </a:rPr>
              <a:t>BT</a:t>
            </a:r>
          </a:p>
        </p:txBody>
      </p:sp>
      <p:sp>
        <p:nvSpPr>
          <p:cNvPr id="5" name="Logo text"/>
          <p:cNvSpPr txBox="1"/>
          <p:nvPr/>
        </p:nvSpPr>
        <p:spPr>
          <a:xfrm>
            <a:off x="1024128" y="182880"/>
            <a:ext cx="3154680" cy="457200"/>
          </a:xfrm>
          <a:prstGeom prst="rect">
            <a:avLst/>
          </a:prstGeom>
          <a:noFill/>
        </p:spPr>
        <p:txBody>
          <a:bodyPr wrap="none" lIns="0" tIns="0" bIns="0">
            <a:spAutoFit/>
          </a:bodyPr>
          <a:lstStyle/>
          <a:p>
            <a:r>
              <a:rPr sz="2500" b="1">
                <a:solidFill>
                  <a:srgbClr val="FFFFFF"/>
                </a:solidFill>
                <a:latin typeface="Arial"/>
              </a:rPr>
              <a:t>BREATHETWIN</a:t>
            </a:r>
          </a:p>
        </p:txBody>
      </p:sp>
      <p:sp>
        <p:nvSpPr>
          <p:cNvPr id="6" name="Logo sub"/>
          <p:cNvSpPr txBox="1"/>
          <p:nvPr/>
        </p:nvSpPr>
        <p:spPr>
          <a:xfrm>
            <a:off x="1024128" y="585216"/>
            <a:ext cx="3108960" cy="219456"/>
          </a:xfrm>
          <a:prstGeom prst="rect">
            <a:avLst/>
          </a:prstGeom>
          <a:noFill/>
        </p:spPr>
        <p:txBody>
          <a:bodyPr wrap="none" lIns="0" tIns="0" bIns="0" rIns="0">
            <a:spAutoFit/>
          </a:bodyPr>
          <a:lstStyle/>
          <a:p>
            <a:pPr algn="r"/>
            <a:r>
              <a:rPr sz="900" b="1">
                <a:solidFill>
                  <a:srgbClr val="FFFFFF"/>
                </a:solidFill>
                <a:latin typeface="Arial"/>
              </a:rPr>
              <a:t>TEAM MOMENTUM</a:t>
            </a:r>
          </a:p>
        </p:txBody>
      </p:sp>
      <p:sp>
        <p:nvSpPr>
          <p:cNvPr id="7" name="Logo tagline"/>
          <p:cNvSpPr txBox="1"/>
          <p:nvPr/>
        </p:nvSpPr>
        <p:spPr>
          <a:xfrm>
            <a:off x="566928" y="822960"/>
            <a:ext cx="4023360" cy="274320"/>
          </a:xfrm>
          <a:prstGeom prst="rect">
            <a:avLst/>
          </a:prstGeom>
          <a:noFill/>
        </p:spPr>
        <p:txBody>
          <a:bodyPr wrap="none" lIns="0" tIns="0" bIns="0">
            <a:spAutoFit/>
          </a:bodyPr>
          <a:lstStyle/>
          <a:p>
            <a:r>
              <a:rPr sz="1300" b="1" i="1">
                <a:solidFill>
                  <a:srgbClr val="FFFFFF"/>
                </a:solidFill>
                <a:latin typeface="Arial"/>
              </a:rPr>
              <a:t>EARLY WARNING. EASIER BREATHING.</a:t>
            </a:r>
          </a:p>
        </p:txBody>
      </p:sp>
      <p:sp>
        <p:nvSpPr>
          <p:cNvPr id="8" name="Content panel"/>
          <p:cNvSpPr/>
          <p:nvPr/>
        </p:nvSpPr>
        <p:spPr>
          <a:xfrm>
            <a:off x="502920" y="1115568"/>
            <a:ext cx="11201400" cy="5559552"/>
          </a:xfrm>
          <a:prstGeom prst="rect">
            <a:avLst/>
          </a:prstGeom>
          <a:solidFill>
            <a:srgbClr val="FFFFFF"/>
          </a:solidFill>
          <a:ln w="12700">
            <a:solidFill>
              <a:srgbClr val="F4B18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itle box"/>
          <p:cNvSpPr/>
          <p:nvPr/>
        </p:nvSpPr>
        <p:spPr>
          <a:xfrm>
            <a:off x="731520" y="1225296"/>
            <a:ext cx="10744200" cy="658368"/>
          </a:xfrm>
          <a:prstGeom prst="rect">
            <a:avLst/>
          </a:prstGeom>
          <a:solidFill>
            <a:srgbClr val="FFFFFF"/>
          </a:solidFill>
          <a:ln w="12700">
            <a:solidFill>
              <a:srgbClr val="40404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i="0">
                <a:solidFill>
                  <a:srgbClr val="111111"/>
                </a:solidFill>
                <a:latin typeface="Times New Roman"/>
              </a:rPr>
              <a:t>From prediction to action: smog warnings and a visit summary</a:t>
            </a:r>
          </a:p>
        </p:txBody>
      </p:sp>
      <p:sp>
        <p:nvSpPr>
          <p:cNvPr id="10" name="Tag: Smog is Coming: next 3 days"/>
          <p:cNvSpPr/>
          <p:nvPr/>
        </p:nvSpPr>
        <p:spPr>
          <a:xfrm>
            <a:off x="731520" y="2011680"/>
            <a:ext cx="6400800" cy="384048"/>
          </a:xfrm>
          <a:prstGeom prst="rect">
            <a:avLst/>
          </a:prstGeom>
          <a:solidFill>
            <a:srgbClr val="FFE699"/>
          </a:solidFill>
          <a:ln w="12700">
            <a:solidFill>
              <a:srgbClr val="F4B183"/>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600" b="1" i="0">
                <a:solidFill>
                  <a:srgbClr val="111111"/>
                </a:solidFill>
                <a:latin typeface="Times New Roman"/>
              </a:rPr>
              <a:t>Smog is Coming: next 3 days</a:t>
            </a:r>
          </a:p>
        </p:txBody>
      </p:sp>
      <p:pic>
        <p:nvPicPr>
          <p:cNvPr id="11" name="Smog screenshot" descr="smog.png"/>
          <p:cNvPicPr>
            <a:picLocks noChangeAspect="1"/>
          </p:cNvPicPr>
          <p:nvPr/>
        </p:nvPicPr>
        <p:blipFill>
          <a:blip r:embed="rId4"/>
          <a:stretch>
            <a:fillRect/>
          </a:stretch>
        </p:blipFill>
        <p:spPr>
          <a:xfrm>
            <a:off x="1058932" y="2487168"/>
            <a:ext cx="5745975" cy="2423160"/>
          </a:xfrm>
          <a:prstGeom prst="rect">
            <a:avLst/>
          </a:prstGeom>
          <a:ln w="9525">
            <a:solidFill>
              <a:srgbClr val="BFBFBF"/>
            </a:solidFill>
          </a:ln>
        </p:spPr>
      </p:pic>
      <p:sp>
        <p:nvSpPr>
          <p:cNvPr id="12" name="Smog notes box"/>
          <p:cNvSpPr/>
          <p:nvPr/>
        </p:nvSpPr>
        <p:spPr>
          <a:xfrm>
            <a:off x="731520" y="5074920"/>
            <a:ext cx="6400800" cy="1371600"/>
          </a:xfrm>
          <a:prstGeom prst="roundRect">
            <a:avLst>
              <a:gd name="adj" fmla="val 12000"/>
            </a:avLst>
          </a:prstGeom>
          <a:solidFill>
            <a:srgbClr val="FFFFFF"/>
          </a:solidFill>
          <a:ln w="12700">
            <a:solidFill>
              <a:srgbClr val="40404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22960" y="5138928"/>
            <a:ext cx="6263640" cy="1280160"/>
          </a:xfrm>
          <a:prstGeom prst="rect">
            <a:avLst/>
          </a:prstGeom>
          <a:noFill/>
        </p:spPr>
        <p:txBody>
          <a:bodyPr wrap="square" anchor="t" lIns="54864" rIns="54864" tIns="27432" bIns="27432">
            <a:spAutoFit/>
          </a:bodyPr>
          <a:lstStyle/>
          <a:p>
            <a:pPr algn="l" marL="164592" indent="-164592">
              <a:spcAft>
                <a:spcPts val="500"/>
              </a:spcAft>
              <a:buChar char="•"/>
            </a:pPr>
            <a:r>
              <a:rPr sz="1300" b="0" i="0">
                <a:solidFill>
                  <a:srgbClr val="111111"/>
                </a:solidFill>
                <a:latin typeface="Times New Roman"/>
              </a:rPr>
              <a:t>Uses India's official </a:t>
            </a:r>
            <a:r>
              <a:rPr sz="1300" b="1" i="0">
                <a:solidFill>
                  <a:srgbClr val="111111"/>
                </a:solidFill>
                <a:latin typeface="Times New Roman"/>
              </a:rPr>
              <a:t>CPCB PM2.5 bands</a:t>
            </a:r>
            <a:r>
              <a:rPr sz="1300" b="0" i="0">
                <a:solidFill>
                  <a:srgbClr val="111111"/>
                </a:solidFill>
                <a:latin typeface="Times New Roman"/>
              </a:rPr>
              <a:t>; advice gets stronger as air gets worse</a:t>
            </a:r>
          </a:p>
          <a:p>
            <a:pPr algn="l" marL="164592" indent="-164592">
              <a:spcAft>
                <a:spcPts val="500"/>
              </a:spcAft>
              <a:buChar char="•"/>
            </a:pPr>
            <a:r>
              <a:rPr sz="1300" b="0" i="0">
                <a:solidFill>
                  <a:srgbClr val="111111"/>
                </a:solidFill>
                <a:latin typeface="Times New Roman"/>
              </a:rPr>
              <a:t>Also warns about </a:t>
            </a:r>
            <a:r>
              <a:rPr sz="1300" b="1" i="0">
                <a:solidFill>
                  <a:srgbClr val="111111"/>
                </a:solidFill>
                <a:latin typeface="Times New Roman"/>
              </a:rPr>
              <a:t>cold nights</a:t>
            </a:r>
            <a:r>
              <a:rPr sz="1300" b="0" i="0">
                <a:solidFill>
                  <a:srgbClr val="111111"/>
                </a:solidFill>
                <a:latin typeface="Times New Roman"/>
              </a:rPr>
              <a:t>; shows the extra flare-up risk from the published effect</a:t>
            </a:r>
          </a:p>
          <a:p>
            <a:pPr algn="l" marL="164592" indent="-164592">
              <a:spcAft>
                <a:spcPts val="500"/>
              </a:spcAft>
              <a:buChar char="•"/>
            </a:pPr>
            <a:r>
              <a:rPr sz="1300" b="0" i="1">
                <a:solidFill>
                  <a:srgbClr val="111111"/>
                </a:solidFill>
                <a:latin typeface="Times New Roman"/>
              </a:rPr>
              <a:t>Demo replays real 2019-20 data; a live version would use an air-quality forecast</a:t>
            </a:r>
          </a:p>
        </p:txBody>
      </p:sp>
      <p:sp>
        <p:nvSpPr>
          <p:cNvPr id="14" name="Tag: One-page Visit Summary"/>
          <p:cNvSpPr/>
          <p:nvPr/>
        </p:nvSpPr>
        <p:spPr>
          <a:xfrm>
            <a:off x="7360920" y="2011680"/>
            <a:ext cx="4114800" cy="384048"/>
          </a:xfrm>
          <a:prstGeom prst="rect">
            <a:avLst/>
          </a:prstGeom>
          <a:solidFill>
            <a:srgbClr val="FFE699"/>
          </a:solidFill>
          <a:ln w="12700">
            <a:solidFill>
              <a:srgbClr val="F4B183"/>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600" b="1" i="0">
                <a:solidFill>
                  <a:srgbClr val="111111"/>
                </a:solidFill>
                <a:latin typeface="Times New Roman"/>
              </a:rPr>
              <a:t>One-page Visit Summary</a:t>
            </a:r>
          </a:p>
        </p:txBody>
      </p:sp>
      <p:pic>
        <p:nvPicPr>
          <p:cNvPr id="15" name="Visit summary image" descr="visit.png"/>
          <p:cNvPicPr>
            <a:picLocks noChangeAspect="1"/>
          </p:cNvPicPr>
          <p:nvPr/>
        </p:nvPicPr>
        <p:blipFill>
          <a:blip r:embed="rId5"/>
          <a:stretch>
            <a:fillRect/>
          </a:stretch>
        </p:blipFill>
        <p:spPr>
          <a:xfrm>
            <a:off x="7901266" y="2487168"/>
            <a:ext cx="3034106" cy="3977639"/>
          </a:xfrm>
          <a:prstGeom prst="rect">
            <a:avLst/>
          </a:prstGeom>
          <a:ln w="9525">
            <a:solidFill>
              <a:srgbClr val="BFBFBF"/>
            </a:solidFill>
          </a:ln>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descr="bg_content.jpg"/>
          <p:cNvPicPr>
            <a:picLocks noChangeAspect="1"/>
          </p:cNvPicPr>
          <p:nvPr/>
        </p:nvPicPr>
        <p:blipFill>
          <a:blip r:embed="rId2"/>
          <a:stretch>
            <a:fillRect/>
          </a:stretch>
        </p:blipFill>
        <p:spPr>
          <a:xfrm>
            <a:off x="0" y="0"/>
            <a:ext cx="12191695" cy="6858000"/>
          </a:xfrm>
          <a:prstGeom prst="rect">
            <a:avLst/>
          </a:prstGeom>
        </p:spPr>
      </p:pic>
      <p:sp>
        <p:nvSpPr>
          <p:cNvPr id="3" name="BreatheTwin logo"/>
          <p:cNvSpPr/>
          <p:nvPr/>
        </p:nvSpPr>
        <p:spPr>
          <a:xfrm>
            <a:off x="411480" y="201168"/>
            <a:ext cx="3794760" cy="603504"/>
          </a:xfrm>
          <a:prstGeom prst="rect">
            <a:avLst/>
          </a:prstGeom>
          <a:solidFill>
            <a:srgbClr val="0B2A78"/>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Logo mark"/>
          <p:cNvSpPr/>
          <p:nvPr/>
        </p:nvSpPr>
        <p:spPr>
          <a:xfrm>
            <a:off x="475488" y="256032"/>
            <a:ext cx="493776" cy="4937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900" b="1">
                <a:solidFill>
                  <a:srgbClr val="B23A2E"/>
                </a:solidFill>
                <a:latin typeface="Arial"/>
              </a:rPr>
              <a:t>BT</a:t>
            </a:r>
          </a:p>
        </p:txBody>
      </p:sp>
      <p:sp>
        <p:nvSpPr>
          <p:cNvPr id="5" name="Logo text"/>
          <p:cNvSpPr txBox="1"/>
          <p:nvPr/>
        </p:nvSpPr>
        <p:spPr>
          <a:xfrm>
            <a:off x="1024128" y="182880"/>
            <a:ext cx="3154680" cy="457200"/>
          </a:xfrm>
          <a:prstGeom prst="rect">
            <a:avLst/>
          </a:prstGeom>
          <a:noFill/>
        </p:spPr>
        <p:txBody>
          <a:bodyPr wrap="none" lIns="0" tIns="0" bIns="0">
            <a:spAutoFit/>
          </a:bodyPr>
          <a:lstStyle/>
          <a:p>
            <a:r>
              <a:rPr sz="2500" b="1">
                <a:solidFill>
                  <a:srgbClr val="FFFFFF"/>
                </a:solidFill>
                <a:latin typeface="Arial"/>
              </a:rPr>
              <a:t>BREATHETWIN</a:t>
            </a:r>
          </a:p>
        </p:txBody>
      </p:sp>
      <p:sp>
        <p:nvSpPr>
          <p:cNvPr id="6" name="Logo sub"/>
          <p:cNvSpPr txBox="1"/>
          <p:nvPr/>
        </p:nvSpPr>
        <p:spPr>
          <a:xfrm>
            <a:off x="1024128" y="585216"/>
            <a:ext cx="3108960" cy="219456"/>
          </a:xfrm>
          <a:prstGeom prst="rect">
            <a:avLst/>
          </a:prstGeom>
          <a:noFill/>
        </p:spPr>
        <p:txBody>
          <a:bodyPr wrap="none" lIns="0" tIns="0" bIns="0" rIns="0">
            <a:spAutoFit/>
          </a:bodyPr>
          <a:lstStyle/>
          <a:p>
            <a:pPr algn="r"/>
            <a:r>
              <a:rPr sz="900" b="1">
                <a:solidFill>
                  <a:srgbClr val="FFFFFF"/>
                </a:solidFill>
                <a:latin typeface="Arial"/>
              </a:rPr>
              <a:t>TEAM MOMENTUM</a:t>
            </a:r>
          </a:p>
        </p:txBody>
      </p:sp>
      <p:sp>
        <p:nvSpPr>
          <p:cNvPr id="7" name="Logo tagline"/>
          <p:cNvSpPr txBox="1"/>
          <p:nvPr/>
        </p:nvSpPr>
        <p:spPr>
          <a:xfrm>
            <a:off x="566928" y="822960"/>
            <a:ext cx="4023360" cy="274320"/>
          </a:xfrm>
          <a:prstGeom prst="rect">
            <a:avLst/>
          </a:prstGeom>
          <a:noFill/>
        </p:spPr>
        <p:txBody>
          <a:bodyPr wrap="none" lIns="0" tIns="0" bIns="0">
            <a:spAutoFit/>
          </a:bodyPr>
          <a:lstStyle/>
          <a:p>
            <a:r>
              <a:rPr sz="1300" b="1" i="1">
                <a:solidFill>
                  <a:srgbClr val="FFFFFF"/>
                </a:solidFill>
                <a:latin typeface="Arial"/>
              </a:rPr>
              <a:t>EARLY WARNING. EASIER BREATHING.</a:t>
            </a:r>
          </a:p>
        </p:txBody>
      </p:sp>
      <p:sp>
        <p:nvSpPr>
          <p:cNvPr id="8" name="Content panel"/>
          <p:cNvSpPr/>
          <p:nvPr/>
        </p:nvSpPr>
        <p:spPr>
          <a:xfrm>
            <a:off x="502920" y="1115568"/>
            <a:ext cx="11201400" cy="5559552"/>
          </a:xfrm>
          <a:prstGeom prst="rect">
            <a:avLst/>
          </a:prstGeom>
          <a:solidFill>
            <a:srgbClr val="FFFFFF"/>
          </a:solidFill>
          <a:ln w="12700">
            <a:solidFill>
              <a:srgbClr val="F4B18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itle box"/>
          <p:cNvSpPr/>
          <p:nvPr/>
        </p:nvSpPr>
        <p:spPr>
          <a:xfrm>
            <a:off x="731520" y="1225296"/>
            <a:ext cx="10744200" cy="658368"/>
          </a:xfrm>
          <a:prstGeom prst="rect">
            <a:avLst/>
          </a:prstGeom>
          <a:solidFill>
            <a:srgbClr val="FFFFFF"/>
          </a:solidFill>
          <a:ln w="12700">
            <a:solidFill>
              <a:srgbClr val="40404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i="0">
                <a:solidFill>
                  <a:srgbClr val="111111"/>
                </a:solidFill>
                <a:latin typeface="Times New Roman"/>
              </a:rPr>
              <a:t>Who it helps: doctors, health workers and families</a:t>
            </a:r>
          </a:p>
        </p:txBody>
      </p:sp>
      <p:sp>
        <p:nvSpPr>
          <p:cNvPr id="10" name="Tag: Value by Stakeholder"/>
          <p:cNvSpPr/>
          <p:nvPr/>
        </p:nvSpPr>
        <p:spPr>
          <a:xfrm>
            <a:off x="731520" y="2011680"/>
            <a:ext cx="6675120" cy="411480"/>
          </a:xfrm>
          <a:prstGeom prst="rect">
            <a:avLst/>
          </a:prstGeom>
          <a:solidFill>
            <a:srgbClr val="FFE699"/>
          </a:solidFill>
          <a:ln w="12700">
            <a:solidFill>
              <a:srgbClr val="F4B183"/>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600" b="1" i="0">
                <a:solidFill>
                  <a:srgbClr val="111111"/>
                </a:solidFill>
                <a:latin typeface="Times New Roman"/>
              </a:rPr>
              <a:t>Value by Stakeholder</a:t>
            </a:r>
          </a:p>
        </p:txBody>
      </p:sp>
      <p:graphicFrame>
        <p:nvGraphicFramePr>
          <p:cNvPr id="11" name="Stakeholder table"/>
          <p:cNvGraphicFramePr>
            <a:graphicFrameLocks noGrp="1"/>
          </p:cNvGraphicFramePr>
          <p:nvPr/>
        </p:nvGraphicFramePr>
        <p:xfrm>
          <a:off x="731520" y="2542032"/>
          <a:ext cx="6675120" cy="2743200"/>
        </p:xfrm>
        <a:graphic>
          <a:graphicData uri="http://schemas.openxmlformats.org/drawingml/2006/table">
            <a:tbl>
              <a:tblPr firstRow="0" bandRow="0">
                <a:tableStyleId>{5940675A-B579-460E-94D1-54222C63F5DA}</a:tableStyleId>
              </a:tblPr>
              <a:tblGrid>
                <a:gridCol w="1600200"/>
                <a:gridCol w="2377440"/>
                <a:gridCol w="2697480"/>
              </a:tblGrid>
              <a:tr h="548640">
                <a:tc>
                  <a:txBody>
                    <a:bodyPr wrap="square"/>
                    <a:lstStyle/>
                    <a:p>
                      <a:pPr algn="ctr"/>
                      <a:r>
                        <a:rPr sz="1250" b="1" i="0">
                          <a:solidFill>
                            <a:srgbClr val="111111"/>
                          </a:solidFill>
                          <a:latin typeface="Times New Roman"/>
                        </a:rPr>
                        <a:t>Who</a:t>
                      </a:r>
                    </a:p>
                  </a:txBody>
                  <a:tcPr marL="54864" marR="54864" marT="22860" marB="22860" anchor="ctr">
                    <a:solidFill>
                      <a:srgbClr val="8EA9DB"/>
                    </a:solidFill>
                    <a:lnL w="9525">
                      <a:solidFill>
                        <a:srgbClr val="000000"/>
                      </a:solidFill>
                    </a:lnL>
                    <a:lnR w="9525">
                      <a:solidFill>
                        <a:srgbClr val="000000"/>
                      </a:solidFill>
                    </a:lnR>
                    <a:lnT w="9525">
                      <a:solidFill>
                        <a:srgbClr val="000000"/>
                      </a:solidFill>
                    </a:lnT>
                    <a:lnB w="9525">
                      <a:solidFill>
                        <a:srgbClr val="000000"/>
                      </a:solidFill>
                    </a:lnB>
                  </a:tcPr>
                </a:tc>
                <a:tc>
                  <a:txBody>
                    <a:bodyPr wrap="square"/>
                    <a:lstStyle/>
                    <a:p>
                      <a:pPr algn="ctr"/>
                      <a:r>
                        <a:rPr sz="1250" b="1" i="0">
                          <a:solidFill>
                            <a:srgbClr val="111111"/>
                          </a:solidFill>
                          <a:latin typeface="Times New Roman"/>
                        </a:rPr>
                        <a:t>Today</a:t>
                      </a:r>
                    </a:p>
                  </a:txBody>
                  <a:tcPr marL="54864" marR="54864" marT="22860" marB="22860" anchor="ctr">
                    <a:solidFill>
                      <a:srgbClr val="8EA9DB"/>
                    </a:solidFill>
                    <a:lnL w="9525">
                      <a:solidFill>
                        <a:srgbClr val="000000"/>
                      </a:solidFill>
                    </a:lnL>
                    <a:lnR w="9525">
                      <a:solidFill>
                        <a:srgbClr val="000000"/>
                      </a:solidFill>
                    </a:lnR>
                    <a:lnT w="9525">
                      <a:solidFill>
                        <a:srgbClr val="000000"/>
                      </a:solidFill>
                    </a:lnT>
                    <a:lnB w="9525">
                      <a:solidFill>
                        <a:srgbClr val="000000"/>
                      </a:solidFill>
                    </a:lnB>
                  </a:tcPr>
                </a:tc>
                <a:tc>
                  <a:txBody>
                    <a:bodyPr wrap="square"/>
                    <a:lstStyle/>
                    <a:p>
                      <a:pPr algn="ctr"/>
                      <a:r>
                        <a:rPr sz="1250" b="1" i="0">
                          <a:solidFill>
                            <a:srgbClr val="111111"/>
                          </a:solidFill>
                          <a:latin typeface="Times New Roman"/>
                        </a:rPr>
                        <a:t>With BreatheTwin</a:t>
                      </a:r>
                    </a:p>
                  </a:txBody>
                  <a:tcPr marL="54864" marR="54864" marT="22860" marB="22860" anchor="ctr">
                    <a:solidFill>
                      <a:srgbClr val="8EA9DB"/>
                    </a:solidFill>
                    <a:lnL w="9525">
                      <a:solidFill>
                        <a:srgbClr val="000000"/>
                      </a:solidFill>
                    </a:lnL>
                    <a:lnR w="9525">
                      <a:solidFill>
                        <a:srgbClr val="000000"/>
                      </a:solidFill>
                    </a:lnR>
                    <a:lnT w="9525">
                      <a:solidFill>
                        <a:srgbClr val="000000"/>
                      </a:solidFill>
                    </a:lnT>
                    <a:lnB w="9525">
                      <a:solidFill>
                        <a:srgbClr val="000000"/>
                      </a:solidFill>
                    </a:lnB>
                  </a:tcPr>
                </a:tc>
              </a:tr>
              <a:tr h="548640">
                <a:tc>
                  <a:txBody>
                    <a:bodyPr wrap="square"/>
                    <a:lstStyle/>
                    <a:p>
                      <a:pPr algn="l"/>
                      <a:r>
                        <a:rPr sz="1150" b="1" i="0">
                          <a:solidFill>
                            <a:srgbClr val="111111"/>
                          </a:solidFill>
                          <a:latin typeface="Times New Roman"/>
                        </a:rPr>
                        <a:t>Doctor / clinic</a:t>
                      </a:r>
                    </a:p>
                  </a:txBody>
                  <a:tcPr marL="54864" marR="54864" marT="22860" marB="22860" anchor="ctr">
                    <a:solidFill>
                      <a:srgbClr val="FFFFFF"/>
                    </a:solidFill>
                    <a:lnL w="9525">
                      <a:solidFill>
                        <a:srgbClr val="000000"/>
                      </a:solidFill>
                    </a:lnL>
                    <a:lnR w="9525">
                      <a:solidFill>
                        <a:srgbClr val="000000"/>
                      </a:solidFill>
                    </a:lnR>
                    <a:lnT w="9525">
                      <a:solidFill>
                        <a:srgbClr val="000000"/>
                      </a:solidFill>
                    </a:lnT>
                    <a:lnB w="9525">
                      <a:solidFill>
                        <a:srgbClr val="000000"/>
                      </a:solidFill>
                    </a:lnB>
                  </a:tcPr>
                </a:tc>
                <a:tc>
                  <a:txBody>
                    <a:bodyPr wrap="square"/>
                    <a:lstStyle/>
                    <a:p>
                      <a:pPr algn="l"/>
                      <a:r>
                        <a:rPr sz="1150" b="0" i="0">
                          <a:solidFill>
                            <a:srgbClr val="111111"/>
                          </a:solidFill>
                          <a:latin typeface="Times New Roman"/>
                        </a:rPr>
                        <a:t>Sees the patient only when they come in sick</a:t>
                      </a:r>
                    </a:p>
                  </a:txBody>
                  <a:tcPr marL="54864" marR="54864" marT="22860" marB="22860" anchor="ctr">
                    <a:solidFill>
                      <a:srgbClr val="FFFFFF"/>
                    </a:solidFill>
                    <a:lnL w="9525">
                      <a:solidFill>
                        <a:srgbClr val="000000"/>
                      </a:solidFill>
                    </a:lnL>
                    <a:lnR w="9525">
                      <a:solidFill>
                        <a:srgbClr val="000000"/>
                      </a:solidFill>
                    </a:lnR>
                    <a:lnT w="9525">
                      <a:solidFill>
                        <a:srgbClr val="000000"/>
                      </a:solidFill>
                    </a:lnT>
                    <a:lnB w="9525">
                      <a:solidFill>
                        <a:srgbClr val="000000"/>
                      </a:solidFill>
                    </a:lnB>
                  </a:tcPr>
                </a:tc>
                <a:tc>
                  <a:txBody>
                    <a:bodyPr wrap="square"/>
                    <a:lstStyle/>
                    <a:p>
                      <a:pPr algn="l"/>
                      <a:r>
                        <a:rPr sz="1150" b="0" i="0">
                          <a:solidFill>
                            <a:srgbClr val="111111"/>
                          </a:solidFill>
                          <a:latin typeface="Times New Roman"/>
                        </a:rPr>
                        <a:t>A ranked daily list of who to call, with reasons</a:t>
                      </a:r>
                    </a:p>
                  </a:txBody>
                  <a:tcPr marL="54864" marR="54864" marT="22860" marB="22860" anchor="ctr">
                    <a:solidFill>
                      <a:srgbClr val="FFFFFF"/>
                    </a:solidFill>
                    <a:lnL w="9525">
                      <a:solidFill>
                        <a:srgbClr val="000000"/>
                      </a:solidFill>
                    </a:lnL>
                    <a:lnR w="9525">
                      <a:solidFill>
                        <a:srgbClr val="000000"/>
                      </a:solidFill>
                    </a:lnR>
                    <a:lnT w="9525">
                      <a:solidFill>
                        <a:srgbClr val="000000"/>
                      </a:solidFill>
                    </a:lnT>
                    <a:lnB w="9525">
                      <a:solidFill>
                        <a:srgbClr val="000000"/>
                      </a:solidFill>
                    </a:lnB>
                  </a:tcPr>
                </a:tc>
              </a:tr>
              <a:tr h="548640">
                <a:tc>
                  <a:txBody>
                    <a:bodyPr wrap="square"/>
                    <a:lstStyle/>
                    <a:p>
                      <a:pPr algn="l"/>
                      <a:r>
                        <a:rPr sz="1150" b="1" i="0">
                          <a:solidFill>
                            <a:srgbClr val="111111"/>
                          </a:solidFill>
                          <a:latin typeface="Times New Roman"/>
                        </a:rPr>
                        <a:t>Community health worker</a:t>
                      </a:r>
                    </a:p>
                  </a:txBody>
                  <a:tcPr marL="54864" marR="54864" marT="22860" marB="22860" anchor="ctr">
                    <a:solidFill>
                      <a:srgbClr val="FFFFFF"/>
                    </a:solidFill>
                    <a:lnL w="9525">
                      <a:solidFill>
                        <a:srgbClr val="000000"/>
                      </a:solidFill>
                    </a:lnL>
                    <a:lnR w="9525">
                      <a:solidFill>
                        <a:srgbClr val="000000"/>
                      </a:solidFill>
                    </a:lnR>
                    <a:lnT w="9525">
                      <a:solidFill>
                        <a:srgbClr val="000000"/>
                      </a:solidFill>
                    </a:lnT>
                    <a:lnB w="9525">
                      <a:solidFill>
                        <a:srgbClr val="000000"/>
                      </a:solidFill>
                    </a:lnB>
                  </a:tcPr>
                </a:tc>
                <a:tc>
                  <a:txBody>
                    <a:bodyPr wrap="square"/>
                    <a:lstStyle/>
                    <a:p>
                      <a:pPr algn="l"/>
                      <a:r>
                        <a:rPr sz="1150" b="0" i="0">
                          <a:solidFill>
                            <a:srgbClr val="111111"/>
                          </a:solidFill>
                          <a:latin typeface="Times New Roman"/>
                        </a:rPr>
                        <a:t>Visits by rota, not by need</a:t>
                      </a:r>
                    </a:p>
                  </a:txBody>
                  <a:tcPr marL="54864" marR="54864" marT="22860" marB="22860" anchor="ctr">
                    <a:solidFill>
                      <a:srgbClr val="FFFFFF"/>
                    </a:solidFill>
                    <a:lnL w="9525">
                      <a:solidFill>
                        <a:srgbClr val="000000"/>
                      </a:solidFill>
                    </a:lnL>
                    <a:lnR w="9525">
                      <a:solidFill>
                        <a:srgbClr val="000000"/>
                      </a:solidFill>
                    </a:lnR>
                    <a:lnT w="9525">
                      <a:solidFill>
                        <a:srgbClr val="000000"/>
                      </a:solidFill>
                    </a:lnT>
                    <a:lnB w="9525">
                      <a:solidFill>
                        <a:srgbClr val="000000"/>
                      </a:solidFill>
                    </a:lnB>
                  </a:tcPr>
                </a:tc>
                <a:tc>
                  <a:txBody>
                    <a:bodyPr wrap="square"/>
                    <a:lstStyle/>
                    <a:p>
                      <a:pPr algn="l"/>
                      <a:r>
                        <a:rPr sz="1150" b="0" i="0">
                          <a:solidFill>
                            <a:srgbClr val="111111"/>
                          </a:solidFill>
                          <a:latin typeface="Times New Roman"/>
                        </a:rPr>
                        <a:t>Visits the few patients at highest risk first</a:t>
                      </a:r>
                    </a:p>
                  </a:txBody>
                  <a:tcPr marL="54864" marR="54864" marT="22860" marB="22860" anchor="ctr">
                    <a:solidFill>
                      <a:srgbClr val="FFFFFF"/>
                    </a:solidFill>
                    <a:lnL w="9525">
                      <a:solidFill>
                        <a:srgbClr val="000000"/>
                      </a:solidFill>
                    </a:lnL>
                    <a:lnR w="9525">
                      <a:solidFill>
                        <a:srgbClr val="000000"/>
                      </a:solidFill>
                    </a:lnR>
                    <a:lnT w="9525">
                      <a:solidFill>
                        <a:srgbClr val="000000"/>
                      </a:solidFill>
                    </a:lnT>
                    <a:lnB w="9525">
                      <a:solidFill>
                        <a:srgbClr val="000000"/>
                      </a:solidFill>
                    </a:lnB>
                  </a:tcPr>
                </a:tc>
              </a:tr>
              <a:tr h="548640">
                <a:tc>
                  <a:txBody>
                    <a:bodyPr wrap="square"/>
                    <a:lstStyle/>
                    <a:p>
                      <a:pPr algn="l"/>
                      <a:r>
                        <a:rPr sz="1150" b="1" i="0">
                          <a:solidFill>
                            <a:srgbClr val="111111"/>
                          </a:solidFill>
                          <a:latin typeface="Times New Roman"/>
                        </a:rPr>
                        <a:t>Patient and family</a:t>
                      </a:r>
                    </a:p>
                  </a:txBody>
                  <a:tcPr marL="54864" marR="54864" marT="22860" marB="22860" anchor="ctr">
                    <a:solidFill>
                      <a:srgbClr val="FFFFFF"/>
                    </a:solidFill>
                    <a:lnL w="9525">
                      <a:solidFill>
                        <a:srgbClr val="000000"/>
                      </a:solidFill>
                    </a:lnL>
                    <a:lnR w="9525">
                      <a:solidFill>
                        <a:srgbClr val="000000"/>
                      </a:solidFill>
                    </a:lnR>
                    <a:lnT w="9525">
                      <a:solidFill>
                        <a:srgbClr val="000000"/>
                      </a:solidFill>
                    </a:lnT>
                    <a:lnB w="9525">
                      <a:solidFill>
                        <a:srgbClr val="000000"/>
                      </a:solidFill>
                    </a:lnB>
                  </a:tcPr>
                </a:tc>
                <a:tc>
                  <a:txBody>
                    <a:bodyPr wrap="square"/>
                    <a:lstStyle/>
                    <a:p>
                      <a:pPr algn="l"/>
                      <a:r>
                        <a:rPr sz="1150" b="0" i="0">
                          <a:solidFill>
                            <a:srgbClr val="111111"/>
                          </a:solidFill>
                          <a:latin typeface="Times New Roman"/>
                        </a:rPr>
                        <a:t>Notice a flare-up when breathing is already bad</a:t>
                      </a:r>
                    </a:p>
                  </a:txBody>
                  <a:tcPr marL="54864" marR="54864" marT="22860" marB="22860" anchor="ctr">
                    <a:solidFill>
                      <a:srgbClr val="FFFFFF"/>
                    </a:solidFill>
                    <a:lnL w="9525">
                      <a:solidFill>
                        <a:srgbClr val="000000"/>
                      </a:solidFill>
                    </a:lnL>
                    <a:lnR w="9525">
                      <a:solidFill>
                        <a:srgbClr val="000000"/>
                      </a:solidFill>
                    </a:lnR>
                    <a:lnT w="9525">
                      <a:solidFill>
                        <a:srgbClr val="000000"/>
                      </a:solidFill>
                    </a:lnT>
                    <a:lnB w="9525">
                      <a:solidFill>
                        <a:srgbClr val="000000"/>
                      </a:solidFill>
                    </a:lnB>
                  </a:tcPr>
                </a:tc>
                <a:tc>
                  <a:txBody>
                    <a:bodyPr wrap="square"/>
                    <a:lstStyle/>
                    <a:p>
                      <a:pPr algn="l"/>
                      <a:r>
                        <a:rPr sz="1150" b="0" i="0">
                          <a:solidFill>
                            <a:srgbClr val="111111"/>
                          </a:solidFill>
                          <a:latin typeface="Times New Roman"/>
                        </a:rPr>
                        <a:t>Early warning, smog advice, a summary to take to the doctor</a:t>
                      </a:r>
                    </a:p>
                  </a:txBody>
                  <a:tcPr marL="54864" marR="54864" marT="22860" marB="22860" anchor="ctr">
                    <a:solidFill>
                      <a:srgbClr val="FFFFFF"/>
                    </a:solidFill>
                    <a:lnL w="9525">
                      <a:solidFill>
                        <a:srgbClr val="000000"/>
                      </a:solidFill>
                    </a:lnL>
                    <a:lnR w="9525">
                      <a:solidFill>
                        <a:srgbClr val="000000"/>
                      </a:solidFill>
                    </a:lnR>
                    <a:lnT w="9525">
                      <a:solidFill>
                        <a:srgbClr val="000000"/>
                      </a:solidFill>
                    </a:lnT>
                    <a:lnB w="9525">
                      <a:solidFill>
                        <a:srgbClr val="000000"/>
                      </a:solidFill>
                    </a:lnB>
                  </a:tcPr>
                </a:tc>
              </a:tr>
              <a:tr h="548640">
                <a:tc>
                  <a:txBody>
                    <a:bodyPr wrap="square"/>
                    <a:lstStyle/>
                    <a:p>
                      <a:pPr algn="l"/>
                      <a:r>
                        <a:rPr sz="1150" b="1" i="0">
                          <a:solidFill>
                            <a:srgbClr val="111111"/>
                          </a:solidFill>
                          <a:latin typeface="Times New Roman"/>
                        </a:rPr>
                        <a:t>Health system</a:t>
                      </a:r>
                    </a:p>
                  </a:txBody>
                  <a:tcPr marL="54864" marR="54864" marT="22860" marB="22860" anchor="ctr">
                    <a:solidFill>
                      <a:srgbClr val="FFFFFF"/>
                    </a:solidFill>
                    <a:lnL w="9525">
                      <a:solidFill>
                        <a:srgbClr val="000000"/>
                      </a:solidFill>
                    </a:lnL>
                    <a:lnR w="9525">
                      <a:solidFill>
                        <a:srgbClr val="000000"/>
                      </a:solidFill>
                    </a:lnR>
                    <a:lnT w="9525">
                      <a:solidFill>
                        <a:srgbClr val="000000"/>
                      </a:solidFill>
                    </a:lnT>
                    <a:lnB w="9525">
                      <a:solidFill>
                        <a:srgbClr val="000000"/>
                      </a:solidFill>
                    </a:lnB>
                  </a:tcPr>
                </a:tc>
                <a:tc>
                  <a:txBody>
                    <a:bodyPr wrap="square"/>
                    <a:lstStyle/>
                    <a:p>
                      <a:pPr algn="l"/>
                      <a:r>
                        <a:rPr sz="1150" b="0" i="0">
                          <a:solidFill>
                            <a:srgbClr val="111111"/>
                          </a:solidFill>
                          <a:latin typeface="Times New Roman"/>
                        </a:rPr>
                        <a:t>Emergency visits in smog season</a:t>
                      </a:r>
                    </a:p>
                  </a:txBody>
                  <a:tcPr marL="54864" marR="54864" marT="22860" marB="22860" anchor="ctr">
                    <a:solidFill>
                      <a:srgbClr val="FFFFFF"/>
                    </a:solidFill>
                    <a:lnL w="9525">
                      <a:solidFill>
                        <a:srgbClr val="000000"/>
                      </a:solidFill>
                    </a:lnL>
                    <a:lnR w="9525">
                      <a:solidFill>
                        <a:srgbClr val="000000"/>
                      </a:solidFill>
                    </a:lnR>
                    <a:lnT w="9525">
                      <a:solidFill>
                        <a:srgbClr val="000000"/>
                      </a:solidFill>
                    </a:lnT>
                    <a:lnB w="9525">
                      <a:solidFill>
                        <a:srgbClr val="000000"/>
                      </a:solidFill>
                    </a:lnB>
                  </a:tcPr>
                </a:tc>
                <a:tc>
                  <a:txBody>
                    <a:bodyPr wrap="square"/>
                    <a:lstStyle/>
                    <a:p>
                      <a:pPr algn="l"/>
                      <a:r>
                        <a:rPr sz="1150" b="0" i="0">
                          <a:solidFill>
                            <a:srgbClr val="111111"/>
                          </a:solidFill>
                          <a:latin typeface="Times New Roman"/>
                        </a:rPr>
                        <a:t>Aim: fewer emergency visits through early action</a:t>
                      </a:r>
                    </a:p>
                  </a:txBody>
                  <a:tcPr marL="54864" marR="54864" marT="22860" marB="22860" anchor="ctr">
                    <a:solidFill>
                      <a:srgbClr val="FFFFFF"/>
                    </a:solidFill>
                    <a:lnL w="9525">
                      <a:solidFill>
                        <a:srgbClr val="000000"/>
                      </a:solidFill>
                    </a:lnL>
                    <a:lnR w="9525">
                      <a:solidFill>
                        <a:srgbClr val="000000"/>
                      </a:solidFill>
                    </a:lnR>
                    <a:lnT w="9525">
                      <a:solidFill>
                        <a:srgbClr val="000000"/>
                      </a:solidFill>
                    </a:lnT>
                    <a:lnB w="9525">
                      <a:solidFill>
                        <a:srgbClr val="000000"/>
                      </a:solidFill>
                    </a:lnB>
                  </a:tcPr>
                </a:tc>
              </a:tr>
            </a:tbl>
          </a:graphicData>
        </a:graphic>
      </p:graphicFrame>
      <p:sp>
        <p:nvSpPr>
          <p:cNvPr id="12" name="Tag: Why it fits India"/>
          <p:cNvSpPr/>
          <p:nvPr/>
        </p:nvSpPr>
        <p:spPr>
          <a:xfrm>
            <a:off x="7635240" y="2011680"/>
            <a:ext cx="3840480" cy="411480"/>
          </a:xfrm>
          <a:prstGeom prst="rect">
            <a:avLst/>
          </a:prstGeom>
          <a:solidFill>
            <a:srgbClr val="FFE699"/>
          </a:solidFill>
          <a:ln w="12700">
            <a:solidFill>
              <a:srgbClr val="F4B183"/>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600" b="1" i="0">
                <a:solidFill>
                  <a:srgbClr val="111111"/>
                </a:solidFill>
                <a:latin typeface="Times New Roman"/>
              </a:rPr>
              <a:t>Why it fits India</a:t>
            </a:r>
          </a:p>
        </p:txBody>
      </p:sp>
      <p:sp>
        <p:nvSpPr>
          <p:cNvPr id="13" name="India box"/>
          <p:cNvSpPr/>
          <p:nvPr/>
        </p:nvSpPr>
        <p:spPr>
          <a:xfrm>
            <a:off x="7635240" y="2542032"/>
            <a:ext cx="3840480" cy="2743200"/>
          </a:xfrm>
          <a:prstGeom prst="roundRect">
            <a:avLst>
              <a:gd name="adj" fmla="val 10000"/>
            </a:avLst>
          </a:prstGeom>
          <a:solidFill>
            <a:srgbClr val="FFFFFF"/>
          </a:solidFill>
          <a:ln w="12700">
            <a:solidFill>
              <a:srgbClr val="40404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726679" y="2606040"/>
            <a:ext cx="3703320" cy="2651760"/>
          </a:xfrm>
          <a:prstGeom prst="rect">
            <a:avLst/>
          </a:prstGeom>
          <a:noFill/>
        </p:spPr>
        <p:txBody>
          <a:bodyPr wrap="square" anchor="t" lIns="54864" rIns="54864" tIns="27432" bIns="27432">
            <a:spAutoFit/>
          </a:bodyPr>
          <a:lstStyle/>
          <a:p>
            <a:pPr algn="l" marL="164592" indent="-164592">
              <a:spcAft>
                <a:spcPts val="400"/>
              </a:spcAft>
              <a:buChar char="•"/>
            </a:pPr>
            <a:r>
              <a:rPr sz="1250" b="0" i="0">
                <a:solidFill>
                  <a:srgbClr val="111111"/>
                </a:solidFill>
                <a:latin typeface="Times New Roman"/>
              </a:rPr>
              <a:t>Built for </a:t>
            </a:r>
            <a:r>
              <a:rPr sz="1250" b="1" i="0">
                <a:solidFill>
                  <a:srgbClr val="111111"/>
                </a:solidFill>
                <a:latin typeface="Times New Roman"/>
              </a:rPr>
              <a:t>Indian triggers</a:t>
            </a:r>
            <a:r>
              <a:rPr sz="1250" b="0" i="0">
                <a:solidFill>
                  <a:srgbClr val="111111"/>
                </a:solidFill>
                <a:latin typeface="Times New Roman"/>
              </a:rPr>
              <a:t>: cooking smoke, bidis, winter smog</a:t>
            </a:r>
          </a:p>
          <a:p>
            <a:pPr algn="l" marL="164592" indent="-164592">
              <a:spcAft>
                <a:spcPts val="400"/>
              </a:spcAft>
              <a:buChar char="•"/>
            </a:pPr>
            <a:r>
              <a:rPr sz="1250" b="0" i="0">
                <a:solidFill>
                  <a:srgbClr val="111111"/>
                </a:solidFill>
                <a:latin typeface="Times New Roman"/>
              </a:rPr>
              <a:t>Covers </a:t>
            </a:r>
            <a:r>
              <a:rPr sz="1250" b="1" i="0">
                <a:solidFill>
                  <a:srgbClr val="111111"/>
                </a:solidFill>
                <a:latin typeface="Times New Roman"/>
              </a:rPr>
              <a:t>ages 30 to 92</a:t>
            </a:r>
            <a:r>
              <a:rPr sz="1250" b="0" i="0">
                <a:solidFill>
                  <a:srgbClr val="111111"/>
                </a:solidFill>
                <a:latin typeface="Times New Roman"/>
              </a:rPr>
              <a:t>, since COPD starts earlier in India</a:t>
            </a:r>
          </a:p>
          <a:p>
            <a:pPr algn="l" marL="164592" indent="-164592">
              <a:spcAft>
                <a:spcPts val="400"/>
              </a:spcAft>
              <a:buChar char="•"/>
            </a:pPr>
            <a:r>
              <a:rPr sz="1250" b="1" i="0">
                <a:solidFill>
                  <a:srgbClr val="111111"/>
                </a:solidFill>
                <a:latin typeface="Times New Roman"/>
              </a:rPr>
              <a:t>Plain language</a:t>
            </a:r>
            <a:r>
              <a:rPr sz="1250" b="0" i="0">
                <a:solidFill>
                  <a:srgbClr val="111111"/>
                </a:solidFill>
                <a:latin typeface="Times New Roman"/>
              </a:rPr>
              <a:t> on every page, with a glossary</a:t>
            </a:r>
          </a:p>
          <a:p>
            <a:pPr algn="l" marL="164592" indent="-164592">
              <a:spcAft>
                <a:spcPts val="400"/>
              </a:spcAft>
              <a:buChar char="•"/>
            </a:pPr>
            <a:r>
              <a:rPr sz="1250" b="1" i="0">
                <a:solidFill>
                  <a:srgbClr val="111111"/>
                </a:solidFill>
                <a:latin typeface="Times New Roman"/>
              </a:rPr>
              <a:t>Open source</a:t>
            </a:r>
            <a:r>
              <a:rPr sz="1250" b="0" i="0">
                <a:solidFill>
                  <a:srgbClr val="111111"/>
                </a:solidFill>
                <a:latin typeface="Times New Roman"/>
              </a:rPr>
              <a:t> and free to adapt</a:t>
            </a:r>
          </a:p>
          <a:p>
            <a:pPr algn="l" marL="164592" indent="-164592">
              <a:spcAft>
                <a:spcPts val="400"/>
              </a:spcAft>
              <a:buChar char="•"/>
            </a:pPr>
            <a:r>
              <a:rPr sz="1250" b="0" i="0">
                <a:solidFill>
                  <a:srgbClr val="111111"/>
                </a:solidFill>
                <a:latin typeface="Times New Roman"/>
              </a:rPr>
              <a:t>Planned: low-cost pulse oximeter + phone, Hindi</a:t>
            </a:r>
          </a:p>
        </p:txBody>
      </p:sp>
      <p:sp>
        <p:nvSpPr>
          <p:cNvPr id="15" name="TextBox 14"/>
          <p:cNvSpPr txBox="1"/>
          <p:nvPr/>
        </p:nvSpPr>
        <p:spPr>
          <a:xfrm>
            <a:off x="731520" y="5376672"/>
            <a:ext cx="2743200" cy="320040"/>
          </a:xfrm>
          <a:prstGeom prst="rect">
            <a:avLst/>
          </a:prstGeom>
          <a:noFill/>
        </p:spPr>
        <p:txBody>
          <a:bodyPr wrap="square" anchor="t" lIns="54864" rIns="54864" tIns="27432" bIns="27432">
            <a:spAutoFit/>
          </a:bodyPr>
          <a:lstStyle/>
          <a:p>
            <a:pPr algn="l">
              <a:spcAft>
                <a:spcPts val="300"/>
              </a:spcAft>
              <a:buNone/>
            </a:pPr>
            <a:r>
              <a:rPr sz="1500" b="1" i="0">
                <a:solidFill>
                  <a:srgbClr val="111111"/>
                </a:solidFill>
                <a:latin typeface="Times New Roman"/>
              </a:rPr>
              <a:t>The care loop</a:t>
            </a:r>
          </a:p>
        </p:txBody>
      </p:sp>
      <p:sp>
        <p:nvSpPr>
          <p:cNvPr id="16" name="Step 1: Watch daily"/>
          <p:cNvSpPr/>
          <p:nvPr/>
        </p:nvSpPr>
        <p:spPr>
          <a:xfrm>
            <a:off x="731520" y="5715000"/>
            <a:ext cx="2236622" cy="731520"/>
          </a:xfrm>
          <a:prstGeom prst="homePlate">
            <a:avLst/>
          </a:prstGeom>
          <a:solidFill>
            <a:srgbClr val="FFE699"/>
          </a:solidFill>
          <a:ln w="9525">
            <a:solidFill>
              <a:srgbClr val="F4B183"/>
            </a:solidFill>
          </a:ln>
          <a:effectLst/>
        </p:spPr>
        <p:style>
          <a:lnRef idx="1">
            <a:schemeClr val="accent1"/>
          </a:lnRef>
          <a:fillRef idx="3">
            <a:schemeClr val="accent1"/>
          </a:fillRef>
          <a:effectRef idx="2">
            <a:schemeClr val="accent1"/>
          </a:effectRef>
          <a:fontRef idx="minor">
            <a:schemeClr val="lt1"/>
          </a:fontRef>
        </p:style>
        <p:txBody>
          <a:bodyPr rtlCol="0" anchor="ctr" wrap="square" rIns="164592"/>
          <a:lstStyle/>
          <a:p>
            <a:pPr algn="ctr"/>
            <a:r>
              <a:rPr sz="1300" b="1" i="0">
                <a:solidFill>
                  <a:srgbClr val="111111"/>
                </a:solidFill>
                <a:latin typeface="Times New Roman"/>
              </a:rPr>
              <a:t>Watch daily</a:t>
            </a:r>
          </a:p>
        </p:txBody>
      </p:sp>
      <p:sp>
        <p:nvSpPr>
          <p:cNvPr id="17" name="Step 2: Warn early"/>
          <p:cNvSpPr/>
          <p:nvPr/>
        </p:nvSpPr>
        <p:spPr>
          <a:xfrm>
            <a:off x="2858414" y="5715000"/>
            <a:ext cx="2236622" cy="731520"/>
          </a:xfrm>
          <a:prstGeom prst="chevron">
            <a:avLst/>
          </a:prstGeom>
          <a:solidFill>
            <a:srgbClr val="FCD5B4"/>
          </a:solidFill>
          <a:ln w="9525">
            <a:solidFill>
              <a:srgbClr val="F4B183"/>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164592"/>
          <a:lstStyle/>
          <a:p>
            <a:pPr algn="ctr"/>
            <a:r>
              <a:rPr sz="1300" b="1" i="0">
                <a:solidFill>
                  <a:srgbClr val="111111"/>
                </a:solidFill>
                <a:latin typeface="Times New Roman"/>
              </a:rPr>
              <a:t>Warn early</a:t>
            </a:r>
          </a:p>
        </p:txBody>
      </p:sp>
      <p:sp>
        <p:nvSpPr>
          <p:cNvPr id="18" name="Step 3: Act at home"/>
          <p:cNvSpPr/>
          <p:nvPr/>
        </p:nvSpPr>
        <p:spPr>
          <a:xfrm>
            <a:off x="4985308" y="5715000"/>
            <a:ext cx="2236622" cy="731520"/>
          </a:xfrm>
          <a:prstGeom prst="chevron">
            <a:avLst/>
          </a:prstGeom>
          <a:solidFill>
            <a:srgbClr val="FFE699"/>
          </a:solidFill>
          <a:ln w="9525">
            <a:solidFill>
              <a:srgbClr val="F4B183"/>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164592"/>
          <a:lstStyle/>
          <a:p>
            <a:pPr algn="ctr"/>
            <a:r>
              <a:rPr sz="1300" b="1" i="0">
                <a:solidFill>
                  <a:srgbClr val="111111"/>
                </a:solidFill>
                <a:latin typeface="Times New Roman"/>
              </a:rPr>
              <a:t>Act at home</a:t>
            </a:r>
          </a:p>
        </p:txBody>
      </p:sp>
      <p:sp>
        <p:nvSpPr>
          <p:cNvPr id="19" name="Step 4: Visit with summary"/>
          <p:cNvSpPr/>
          <p:nvPr/>
        </p:nvSpPr>
        <p:spPr>
          <a:xfrm>
            <a:off x="7112203" y="5715000"/>
            <a:ext cx="2236622" cy="731520"/>
          </a:xfrm>
          <a:prstGeom prst="chevron">
            <a:avLst/>
          </a:prstGeom>
          <a:solidFill>
            <a:srgbClr val="FCD5B4"/>
          </a:solidFill>
          <a:ln w="9525">
            <a:solidFill>
              <a:srgbClr val="F4B183"/>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164592"/>
          <a:lstStyle/>
          <a:p>
            <a:pPr algn="ctr"/>
            <a:r>
              <a:rPr sz="1300" b="1" i="0">
                <a:solidFill>
                  <a:srgbClr val="111111"/>
                </a:solidFill>
                <a:latin typeface="Times New Roman"/>
              </a:rPr>
              <a:t>Visit with summary</a:t>
            </a:r>
          </a:p>
        </p:txBody>
      </p:sp>
      <p:sp>
        <p:nvSpPr>
          <p:cNvPr id="20" name="Step 5: Learn and refine"/>
          <p:cNvSpPr/>
          <p:nvPr/>
        </p:nvSpPr>
        <p:spPr>
          <a:xfrm>
            <a:off x="9239097" y="5715000"/>
            <a:ext cx="2236622" cy="731520"/>
          </a:xfrm>
          <a:prstGeom prst="chevron">
            <a:avLst/>
          </a:prstGeom>
          <a:solidFill>
            <a:srgbClr val="FFE699"/>
          </a:solidFill>
          <a:ln w="9525">
            <a:solidFill>
              <a:srgbClr val="F4B183"/>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164592"/>
          <a:lstStyle/>
          <a:p>
            <a:pPr algn="ctr"/>
            <a:r>
              <a:rPr sz="1300" b="1" i="0">
                <a:solidFill>
                  <a:srgbClr val="111111"/>
                </a:solidFill>
                <a:latin typeface="Times New Roman"/>
              </a:rPr>
              <a:t>Learn and refine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descr="bg_content.jpg"/>
          <p:cNvPicPr>
            <a:picLocks noChangeAspect="1"/>
          </p:cNvPicPr>
          <p:nvPr/>
        </p:nvPicPr>
        <p:blipFill>
          <a:blip r:embed="rId2"/>
          <a:stretch>
            <a:fillRect/>
          </a:stretch>
        </p:blipFill>
        <p:spPr>
          <a:xfrm>
            <a:off x="0" y="0"/>
            <a:ext cx="12191695" cy="6858000"/>
          </a:xfrm>
          <a:prstGeom prst="rect">
            <a:avLst/>
          </a:prstGeom>
        </p:spPr>
      </p:pic>
      <p:sp>
        <p:nvSpPr>
          <p:cNvPr id="3" name="BreatheTwin logo"/>
          <p:cNvSpPr/>
          <p:nvPr/>
        </p:nvSpPr>
        <p:spPr>
          <a:xfrm>
            <a:off x="411480" y="201168"/>
            <a:ext cx="3794760" cy="603504"/>
          </a:xfrm>
          <a:prstGeom prst="rect">
            <a:avLst/>
          </a:prstGeom>
          <a:solidFill>
            <a:srgbClr val="0B2A78"/>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Logo mark"/>
          <p:cNvSpPr/>
          <p:nvPr/>
        </p:nvSpPr>
        <p:spPr>
          <a:xfrm>
            <a:off x="475488" y="256032"/>
            <a:ext cx="493776" cy="4937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900" b="1">
                <a:solidFill>
                  <a:srgbClr val="B23A2E"/>
                </a:solidFill>
                <a:latin typeface="Arial"/>
              </a:rPr>
              <a:t>BT</a:t>
            </a:r>
          </a:p>
        </p:txBody>
      </p:sp>
      <p:sp>
        <p:nvSpPr>
          <p:cNvPr id="5" name="Logo text"/>
          <p:cNvSpPr txBox="1"/>
          <p:nvPr/>
        </p:nvSpPr>
        <p:spPr>
          <a:xfrm>
            <a:off x="1024128" y="182880"/>
            <a:ext cx="3154680" cy="457200"/>
          </a:xfrm>
          <a:prstGeom prst="rect">
            <a:avLst/>
          </a:prstGeom>
          <a:noFill/>
        </p:spPr>
        <p:txBody>
          <a:bodyPr wrap="none" lIns="0" tIns="0" bIns="0">
            <a:spAutoFit/>
          </a:bodyPr>
          <a:lstStyle/>
          <a:p>
            <a:r>
              <a:rPr sz="2500" b="1">
                <a:solidFill>
                  <a:srgbClr val="FFFFFF"/>
                </a:solidFill>
                <a:latin typeface="Arial"/>
              </a:rPr>
              <a:t>BREATHETWIN</a:t>
            </a:r>
          </a:p>
        </p:txBody>
      </p:sp>
      <p:sp>
        <p:nvSpPr>
          <p:cNvPr id="6" name="Logo sub"/>
          <p:cNvSpPr txBox="1"/>
          <p:nvPr/>
        </p:nvSpPr>
        <p:spPr>
          <a:xfrm>
            <a:off x="1024128" y="585216"/>
            <a:ext cx="3108960" cy="219456"/>
          </a:xfrm>
          <a:prstGeom prst="rect">
            <a:avLst/>
          </a:prstGeom>
          <a:noFill/>
        </p:spPr>
        <p:txBody>
          <a:bodyPr wrap="none" lIns="0" tIns="0" bIns="0" rIns="0">
            <a:spAutoFit/>
          </a:bodyPr>
          <a:lstStyle/>
          <a:p>
            <a:pPr algn="r"/>
            <a:r>
              <a:rPr sz="900" b="1">
                <a:solidFill>
                  <a:srgbClr val="FFFFFF"/>
                </a:solidFill>
                <a:latin typeface="Arial"/>
              </a:rPr>
              <a:t>TEAM MOMENTUM</a:t>
            </a:r>
          </a:p>
        </p:txBody>
      </p:sp>
      <p:sp>
        <p:nvSpPr>
          <p:cNvPr id="7" name="Logo tagline"/>
          <p:cNvSpPr txBox="1"/>
          <p:nvPr/>
        </p:nvSpPr>
        <p:spPr>
          <a:xfrm>
            <a:off x="566928" y="822960"/>
            <a:ext cx="4023360" cy="274320"/>
          </a:xfrm>
          <a:prstGeom prst="rect">
            <a:avLst/>
          </a:prstGeom>
          <a:noFill/>
        </p:spPr>
        <p:txBody>
          <a:bodyPr wrap="none" lIns="0" tIns="0" bIns="0">
            <a:spAutoFit/>
          </a:bodyPr>
          <a:lstStyle/>
          <a:p>
            <a:r>
              <a:rPr sz="1300" b="1" i="1">
                <a:solidFill>
                  <a:srgbClr val="FFFFFF"/>
                </a:solidFill>
                <a:latin typeface="Arial"/>
              </a:rPr>
              <a:t>EARLY WARNING. EASIER BREATHING.</a:t>
            </a:r>
          </a:p>
        </p:txBody>
      </p:sp>
      <p:sp>
        <p:nvSpPr>
          <p:cNvPr id="8" name="Content panel"/>
          <p:cNvSpPr/>
          <p:nvPr/>
        </p:nvSpPr>
        <p:spPr>
          <a:xfrm>
            <a:off x="502920" y="1115568"/>
            <a:ext cx="11201400" cy="5559552"/>
          </a:xfrm>
          <a:prstGeom prst="rect">
            <a:avLst/>
          </a:prstGeom>
          <a:solidFill>
            <a:srgbClr val="FFFFFF"/>
          </a:solidFill>
          <a:ln w="12700">
            <a:solidFill>
              <a:srgbClr val="F4B18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itle box"/>
          <p:cNvSpPr/>
          <p:nvPr/>
        </p:nvSpPr>
        <p:spPr>
          <a:xfrm>
            <a:off x="731520" y="1225296"/>
            <a:ext cx="10744200" cy="658368"/>
          </a:xfrm>
          <a:prstGeom prst="rect">
            <a:avLst/>
          </a:prstGeom>
          <a:solidFill>
            <a:srgbClr val="FFFFFF"/>
          </a:solidFill>
          <a:ln w="12700">
            <a:solidFill>
              <a:srgbClr val="40404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i="0">
                <a:solidFill>
                  <a:srgbClr val="111111"/>
                </a:solidFill>
                <a:latin typeface="Times New Roman"/>
              </a:rPr>
              <a:t>Honest limits, and the road from prototype to real patients</a:t>
            </a:r>
          </a:p>
        </p:txBody>
      </p:sp>
      <p:sp>
        <p:nvSpPr>
          <p:cNvPr id="10" name="Tag: Limitations and How We Handle Them"/>
          <p:cNvSpPr/>
          <p:nvPr/>
        </p:nvSpPr>
        <p:spPr>
          <a:xfrm>
            <a:off x="731520" y="2011680"/>
            <a:ext cx="5760720" cy="411480"/>
          </a:xfrm>
          <a:prstGeom prst="rect">
            <a:avLst/>
          </a:prstGeom>
          <a:solidFill>
            <a:srgbClr val="FFE699"/>
          </a:solidFill>
          <a:ln w="12700">
            <a:solidFill>
              <a:srgbClr val="F4B183"/>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600" b="1" i="0">
                <a:solidFill>
                  <a:srgbClr val="111111"/>
                </a:solidFill>
                <a:latin typeface="Times New Roman"/>
              </a:rPr>
              <a:t>Limitations and How We Handle Them</a:t>
            </a:r>
          </a:p>
        </p:txBody>
      </p:sp>
      <p:graphicFrame>
        <p:nvGraphicFramePr>
          <p:cNvPr id="11" name="Limits table"/>
          <p:cNvGraphicFramePr>
            <a:graphicFrameLocks noGrp="1"/>
          </p:cNvGraphicFramePr>
          <p:nvPr/>
        </p:nvGraphicFramePr>
        <p:xfrm>
          <a:off x="731520" y="2542032"/>
          <a:ext cx="5760720" cy="2852928"/>
        </p:xfrm>
        <a:graphic>
          <a:graphicData uri="http://schemas.openxmlformats.org/drawingml/2006/table">
            <a:tbl>
              <a:tblPr firstRow="0" bandRow="0">
                <a:tableStyleId>{5940675A-B579-460E-94D1-54222C63F5DA}</a:tableStyleId>
              </a:tblPr>
              <a:tblGrid>
                <a:gridCol w="2743200"/>
                <a:gridCol w="3017520"/>
              </a:tblGrid>
              <a:tr h="475488">
                <a:tc>
                  <a:txBody>
                    <a:bodyPr wrap="square"/>
                    <a:lstStyle/>
                    <a:p>
                      <a:pPr algn="ctr"/>
                      <a:r>
                        <a:rPr sz="1250" b="1" i="0">
                          <a:solidFill>
                            <a:srgbClr val="111111"/>
                          </a:solidFill>
                          <a:latin typeface="Times New Roman"/>
                        </a:rPr>
                        <a:t>Limitation</a:t>
                      </a:r>
                    </a:p>
                  </a:txBody>
                  <a:tcPr marL="54864" marR="54864" marT="22860" marB="22860" anchor="ctr">
                    <a:solidFill>
                      <a:srgbClr val="8EA9DB"/>
                    </a:solidFill>
                    <a:lnL w="9525">
                      <a:solidFill>
                        <a:srgbClr val="000000"/>
                      </a:solidFill>
                    </a:lnL>
                    <a:lnR w="9525">
                      <a:solidFill>
                        <a:srgbClr val="000000"/>
                      </a:solidFill>
                    </a:lnR>
                    <a:lnT w="9525">
                      <a:solidFill>
                        <a:srgbClr val="000000"/>
                      </a:solidFill>
                    </a:lnT>
                    <a:lnB w="9525">
                      <a:solidFill>
                        <a:srgbClr val="000000"/>
                      </a:solidFill>
                    </a:lnB>
                  </a:tcPr>
                </a:tc>
                <a:tc>
                  <a:txBody>
                    <a:bodyPr wrap="square"/>
                    <a:lstStyle/>
                    <a:p>
                      <a:pPr algn="ctr"/>
                      <a:r>
                        <a:rPr sz="1250" b="1" i="0">
                          <a:solidFill>
                            <a:srgbClr val="111111"/>
                          </a:solidFill>
                          <a:latin typeface="Times New Roman"/>
                        </a:rPr>
                        <a:t>How we handle it</a:t>
                      </a:r>
                    </a:p>
                  </a:txBody>
                  <a:tcPr marL="54864" marR="54864" marT="22860" marB="22860" anchor="ctr">
                    <a:solidFill>
                      <a:srgbClr val="8EA9DB"/>
                    </a:solidFill>
                    <a:lnL w="9525">
                      <a:solidFill>
                        <a:srgbClr val="000000"/>
                      </a:solidFill>
                    </a:lnL>
                    <a:lnR w="9525">
                      <a:solidFill>
                        <a:srgbClr val="000000"/>
                      </a:solidFill>
                    </a:lnR>
                    <a:lnT w="9525">
                      <a:solidFill>
                        <a:srgbClr val="000000"/>
                      </a:solidFill>
                    </a:lnT>
                    <a:lnB w="9525">
                      <a:solidFill>
                        <a:srgbClr val="000000"/>
                      </a:solidFill>
                    </a:lnB>
                  </a:tcPr>
                </a:tc>
              </a:tr>
              <a:tr h="475488">
                <a:tc>
                  <a:txBody>
                    <a:bodyPr wrap="square"/>
                    <a:lstStyle/>
                    <a:p>
                      <a:pPr algn="l"/>
                      <a:r>
                        <a:rPr sz="1150" b="0" i="0">
                          <a:solidFill>
                            <a:srgbClr val="111111"/>
                          </a:solidFill>
                          <a:latin typeface="Times New Roman"/>
                        </a:rPr>
                        <a:t>Patients, readings and flare-ups are simulated</a:t>
                      </a:r>
                    </a:p>
                  </a:txBody>
                  <a:tcPr marL="54864" marR="54864" marT="22860" marB="22860" anchor="ctr">
                    <a:solidFill>
                      <a:srgbClr val="FFFFFF"/>
                    </a:solidFill>
                    <a:lnL w="9525">
                      <a:solidFill>
                        <a:srgbClr val="000000"/>
                      </a:solidFill>
                    </a:lnL>
                    <a:lnR w="9525">
                      <a:solidFill>
                        <a:srgbClr val="000000"/>
                      </a:solidFill>
                    </a:lnR>
                    <a:lnT w="9525">
                      <a:solidFill>
                        <a:srgbClr val="000000"/>
                      </a:solidFill>
                    </a:lnT>
                    <a:lnB w="9525">
                      <a:solidFill>
                        <a:srgbClr val="000000"/>
                      </a:solidFill>
                    </a:lnB>
                  </a:tcPr>
                </a:tc>
                <a:tc>
                  <a:txBody>
                    <a:bodyPr wrap="square"/>
                    <a:lstStyle/>
                    <a:p>
                      <a:pPr algn="l"/>
                      <a:r>
                        <a:rPr sz="1150" b="0" i="0">
                          <a:solidFill>
                            <a:srgbClr val="111111"/>
                          </a:solidFill>
                          <a:latin typeface="Times New Roman"/>
                        </a:rPr>
                        <a:t>Every effect sourced or labelled ASSUMPTION; real air and weather; stress-tested on 100 real patients</a:t>
                      </a:r>
                    </a:p>
                  </a:txBody>
                  <a:tcPr marL="54864" marR="54864" marT="22860" marB="22860" anchor="ctr">
                    <a:solidFill>
                      <a:srgbClr val="FFFFFF"/>
                    </a:solidFill>
                    <a:lnL w="9525">
                      <a:solidFill>
                        <a:srgbClr val="000000"/>
                      </a:solidFill>
                    </a:lnL>
                    <a:lnR w="9525">
                      <a:solidFill>
                        <a:srgbClr val="000000"/>
                      </a:solidFill>
                    </a:lnR>
                    <a:lnT w="9525">
                      <a:solidFill>
                        <a:srgbClr val="000000"/>
                      </a:solidFill>
                    </a:lnT>
                    <a:lnB w="9525">
                      <a:solidFill>
                        <a:srgbClr val="000000"/>
                      </a:solidFill>
                    </a:lnB>
                  </a:tcPr>
                </a:tc>
              </a:tr>
              <a:tr h="475488">
                <a:tc>
                  <a:txBody>
                    <a:bodyPr wrap="square"/>
                    <a:lstStyle/>
                    <a:p>
                      <a:pPr algn="l"/>
                      <a:r>
                        <a:rPr sz="1150" b="0" i="0">
                          <a:solidFill>
                            <a:srgbClr val="111111"/>
                          </a:solidFill>
                          <a:latin typeface="Times New Roman"/>
                        </a:rPr>
                        <a:t>No India-specific PM2.5 effect for COPD</a:t>
                      </a:r>
                    </a:p>
                  </a:txBody>
                  <a:tcPr marL="54864" marR="54864" marT="22860" marB="22860" anchor="ctr">
                    <a:solidFill>
                      <a:srgbClr val="FFFFFF"/>
                    </a:solidFill>
                    <a:lnL w="9525">
                      <a:solidFill>
                        <a:srgbClr val="000000"/>
                      </a:solidFill>
                    </a:lnL>
                    <a:lnR w="9525">
                      <a:solidFill>
                        <a:srgbClr val="000000"/>
                      </a:solidFill>
                    </a:lnR>
                    <a:lnT w="9525">
                      <a:solidFill>
                        <a:srgbClr val="000000"/>
                      </a:solidFill>
                    </a:lnT>
                    <a:lnB w="9525">
                      <a:solidFill>
                        <a:srgbClr val="000000"/>
                      </a:solidFill>
                    </a:lnB>
                  </a:tcPr>
                </a:tc>
                <a:tc>
                  <a:txBody>
                    <a:bodyPr wrap="square"/>
                    <a:lstStyle/>
                    <a:p>
                      <a:pPr algn="l"/>
                      <a:r>
                        <a:rPr sz="1150" b="0" i="0">
                          <a:solidFill>
                            <a:srgbClr val="111111"/>
                          </a:solidFill>
                          <a:latin typeface="Times New Roman"/>
                        </a:rPr>
                        <a:t>Use the global published figure; flag it clearly</a:t>
                      </a:r>
                    </a:p>
                  </a:txBody>
                  <a:tcPr marL="54864" marR="54864" marT="22860" marB="22860" anchor="ctr">
                    <a:solidFill>
                      <a:srgbClr val="FFFFFF"/>
                    </a:solidFill>
                    <a:lnL w="9525">
                      <a:solidFill>
                        <a:srgbClr val="000000"/>
                      </a:solidFill>
                    </a:lnL>
                    <a:lnR w="9525">
                      <a:solidFill>
                        <a:srgbClr val="000000"/>
                      </a:solidFill>
                    </a:lnR>
                    <a:lnT w="9525">
                      <a:solidFill>
                        <a:srgbClr val="000000"/>
                      </a:solidFill>
                    </a:lnT>
                    <a:lnB w="9525">
                      <a:solidFill>
                        <a:srgbClr val="000000"/>
                      </a:solidFill>
                    </a:lnB>
                  </a:tcPr>
                </a:tc>
              </a:tr>
              <a:tr h="475488">
                <a:tc>
                  <a:txBody>
                    <a:bodyPr wrap="square"/>
                    <a:lstStyle/>
                    <a:p>
                      <a:pPr algn="l"/>
                      <a:r>
                        <a:rPr sz="1150" b="0" i="0">
                          <a:solidFill>
                            <a:srgbClr val="111111"/>
                          </a:solidFill>
                          <a:latin typeface="Times New Roman"/>
                        </a:rPr>
                        <a:t>Synthetic records differ from real ones</a:t>
                      </a:r>
                    </a:p>
                  </a:txBody>
                  <a:tcPr marL="54864" marR="54864" marT="22860" marB="22860" anchor="ctr">
                    <a:solidFill>
                      <a:srgbClr val="FFFFFF"/>
                    </a:solidFill>
                    <a:lnL w="9525">
                      <a:solidFill>
                        <a:srgbClr val="000000"/>
                      </a:solidFill>
                    </a:lnL>
                    <a:lnR w="9525">
                      <a:solidFill>
                        <a:srgbClr val="000000"/>
                      </a:solidFill>
                    </a:lnR>
                    <a:lnT w="9525">
                      <a:solidFill>
                        <a:srgbClr val="000000"/>
                      </a:solidFill>
                    </a:lnT>
                    <a:lnB w="9525">
                      <a:solidFill>
                        <a:srgbClr val="000000"/>
                      </a:solidFill>
                    </a:lnB>
                  </a:tcPr>
                </a:tc>
                <a:tc>
                  <a:txBody>
                    <a:bodyPr wrap="square"/>
                    <a:lstStyle/>
                    <a:p>
                      <a:pPr algn="l"/>
                      <a:r>
                        <a:rPr sz="1150" b="0" i="0">
                          <a:solidFill>
                            <a:srgbClr val="111111"/>
                          </a:solidFill>
                          <a:latin typeface="Times New Roman"/>
                        </a:rPr>
                        <a:t>Checked against real MIMIC-IV patients; run on 100 real MIMIC-III patients; gaps reported</a:t>
                      </a:r>
                    </a:p>
                  </a:txBody>
                  <a:tcPr marL="54864" marR="54864" marT="22860" marB="22860" anchor="ctr">
                    <a:solidFill>
                      <a:srgbClr val="FFFFFF"/>
                    </a:solidFill>
                    <a:lnL w="9525">
                      <a:solidFill>
                        <a:srgbClr val="000000"/>
                      </a:solidFill>
                    </a:lnL>
                    <a:lnR w="9525">
                      <a:solidFill>
                        <a:srgbClr val="000000"/>
                      </a:solidFill>
                    </a:lnR>
                    <a:lnT w="9525">
                      <a:solidFill>
                        <a:srgbClr val="000000"/>
                      </a:solidFill>
                    </a:lnT>
                    <a:lnB w="9525">
                      <a:solidFill>
                        <a:srgbClr val="000000"/>
                      </a:solidFill>
                    </a:lnB>
                  </a:tcPr>
                </a:tc>
              </a:tr>
              <a:tr h="475488">
                <a:tc>
                  <a:txBody>
                    <a:bodyPr wrap="square"/>
                    <a:lstStyle/>
                    <a:p>
                      <a:pPr algn="l"/>
                      <a:r>
                        <a:rPr sz="1150" b="0" i="0">
                          <a:solidFill>
                            <a:srgbClr val="111111"/>
                          </a:solidFill>
                          <a:latin typeface="Times New Roman"/>
                        </a:rPr>
                        <a:t>Demo replays past air data</a:t>
                      </a:r>
                    </a:p>
                  </a:txBody>
                  <a:tcPr marL="54864" marR="54864" marT="22860" marB="22860" anchor="ctr">
                    <a:solidFill>
                      <a:srgbClr val="FFFFFF"/>
                    </a:solidFill>
                    <a:lnL w="9525">
                      <a:solidFill>
                        <a:srgbClr val="000000"/>
                      </a:solidFill>
                    </a:lnL>
                    <a:lnR w="9525">
                      <a:solidFill>
                        <a:srgbClr val="000000"/>
                      </a:solidFill>
                    </a:lnR>
                    <a:lnT w="9525">
                      <a:solidFill>
                        <a:srgbClr val="000000"/>
                      </a:solidFill>
                    </a:lnT>
                    <a:lnB w="9525">
                      <a:solidFill>
                        <a:srgbClr val="000000"/>
                      </a:solidFill>
                    </a:lnB>
                  </a:tcPr>
                </a:tc>
                <a:tc>
                  <a:txBody>
                    <a:bodyPr wrap="square"/>
                    <a:lstStyle/>
                    <a:p>
                      <a:pPr algn="l"/>
                      <a:r>
                        <a:rPr sz="1150" b="0" i="0">
                          <a:solidFill>
                            <a:srgbClr val="111111"/>
                          </a:solidFill>
                          <a:latin typeface="Times New Roman"/>
                        </a:rPr>
                        <a:t>Same rules plug into a live forecast</a:t>
                      </a:r>
                    </a:p>
                  </a:txBody>
                  <a:tcPr marL="54864" marR="54864" marT="22860" marB="22860" anchor="ctr">
                    <a:solidFill>
                      <a:srgbClr val="FFFFFF"/>
                    </a:solidFill>
                    <a:lnL w="9525">
                      <a:solidFill>
                        <a:srgbClr val="000000"/>
                      </a:solidFill>
                    </a:lnL>
                    <a:lnR w="9525">
                      <a:solidFill>
                        <a:srgbClr val="000000"/>
                      </a:solidFill>
                    </a:lnR>
                    <a:lnT w="9525">
                      <a:solidFill>
                        <a:srgbClr val="000000"/>
                      </a:solidFill>
                    </a:lnT>
                    <a:lnB w="9525">
                      <a:solidFill>
                        <a:srgbClr val="000000"/>
                      </a:solidFill>
                    </a:lnB>
                  </a:tcPr>
                </a:tc>
              </a:tr>
              <a:tr h="475488">
                <a:tc>
                  <a:txBody>
                    <a:bodyPr wrap="square"/>
                    <a:lstStyle/>
                    <a:p>
                      <a:pPr algn="l"/>
                      <a:r>
                        <a:rPr sz="1150" b="0" i="0">
                          <a:solidFill>
                            <a:srgbClr val="111111"/>
                          </a:solidFill>
                          <a:latin typeface="Times New Roman"/>
                        </a:rPr>
                        <a:t>Needs a smartwatch or oximeter</a:t>
                      </a:r>
                    </a:p>
                  </a:txBody>
                  <a:tcPr marL="54864" marR="54864" marT="22860" marB="22860" anchor="ctr">
                    <a:solidFill>
                      <a:srgbClr val="FFFFFF"/>
                    </a:solidFill>
                    <a:lnL w="9525">
                      <a:solidFill>
                        <a:srgbClr val="000000"/>
                      </a:solidFill>
                    </a:lnL>
                    <a:lnR w="9525">
                      <a:solidFill>
                        <a:srgbClr val="000000"/>
                      </a:solidFill>
                    </a:lnR>
                    <a:lnT w="9525">
                      <a:solidFill>
                        <a:srgbClr val="000000"/>
                      </a:solidFill>
                    </a:lnT>
                    <a:lnB w="9525">
                      <a:solidFill>
                        <a:srgbClr val="000000"/>
                      </a:solidFill>
                    </a:lnB>
                  </a:tcPr>
                </a:tc>
                <a:tc>
                  <a:txBody>
                    <a:bodyPr wrap="square"/>
                    <a:lstStyle/>
                    <a:p>
                      <a:pPr algn="l"/>
                      <a:r>
                        <a:rPr sz="1150" b="0" i="0">
                          <a:solidFill>
                            <a:srgbClr val="111111"/>
                          </a:solidFill>
                          <a:latin typeface="Times New Roman"/>
                        </a:rPr>
                        <a:t>Minimum kit is a watch + oximeter; no-watch kit uses typed readings</a:t>
                      </a:r>
                    </a:p>
                  </a:txBody>
                  <a:tcPr marL="54864" marR="54864" marT="22860" marB="22860" anchor="ctr">
                    <a:solidFill>
                      <a:srgbClr val="FFFFFF"/>
                    </a:solidFill>
                    <a:lnL w="9525">
                      <a:solidFill>
                        <a:srgbClr val="000000"/>
                      </a:solidFill>
                    </a:lnL>
                    <a:lnR w="9525">
                      <a:solidFill>
                        <a:srgbClr val="000000"/>
                      </a:solidFill>
                    </a:lnR>
                    <a:lnT w="9525">
                      <a:solidFill>
                        <a:srgbClr val="000000"/>
                      </a:solidFill>
                    </a:lnT>
                    <a:lnB w="9525">
                      <a:solidFill>
                        <a:srgbClr val="000000"/>
                      </a:solidFill>
                    </a:lnB>
                  </a:tcPr>
                </a:tc>
              </a:tr>
            </a:tbl>
          </a:graphicData>
        </a:graphic>
      </p:graphicFrame>
      <p:sp>
        <p:nvSpPr>
          <p:cNvPr id="12" name="Tag: Roadmap"/>
          <p:cNvSpPr/>
          <p:nvPr/>
        </p:nvSpPr>
        <p:spPr>
          <a:xfrm>
            <a:off x="6720840" y="2011680"/>
            <a:ext cx="4754880" cy="411480"/>
          </a:xfrm>
          <a:prstGeom prst="rect">
            <a:avLst/>
          </a:prstGeom>
          <a:solidFill>
            <a:srgbClr val="FFE699"/>
          </a:solidFill>
          <a:ln w="12700">
            <a:solidFill>
              <a:srgbClr val="F4B183"/>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600" b="1" i="0">
                <a:solidFill>
                  <a:srgbClr val="111111"/>
                </a:solidFill>
                <a:latin typeface="Times New Roman"/>
              </a:rPr>
              <a:t>Roadmap</a:t>
            </a:r>
          </a:p>
        </p:txBody>
      </p:sp>
      <p:sp>
        <p:nvSpPr>
          <p:cNvPr id="13" name="Phase 1: Validate"/>
          <p:cNvSpPr/>
          <p:nvPr/>
        </p:nvSpPr>
        <p:spPr>
          <a:xfrm>
            <a:off x="6720840" y="2542032"/>
            <a:ext cx="1554480" cy="914400"/>
          </a:xfrm>
          <a:prstGeom prst="rect">
            <a:avLst/>
          </a:prstGeom>
          <a:solidFill>
            <a:srgbClr val="8EA9DB"/>
          </a:solidFill>
          <a:ln w="952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i="0">
                <a:solidFill>
                  <a:srgbClr val="111111"/>
                </a:solidFill>
                <a:latin typeface="Times New Roman"/>
              </a:rPr>
              <a:t>Phase 1: Validate</a:t>
            </a:r>
          </a:p>
        </p:txBody>
      </p:sp>
      <p:sp>
        <p:nvSpPr>
          <p:cNvPr id="14" name="Phase 1: Validate details"/>
          <p:cNvSpPr/>
          <p:nvPr/>
        </p:nvSpPr>
        <p:spPr>
          <a:xfrm>
            <a:off x="8366760" y="2542032"/>
            <a:ext cx="3108960" cy="914400"/>
          </a:xfrm>
          <a:prstGeom prst="roundRect">
            <a:avLst>
              <a:gd name="adj" fmla="val 12000"/>
            </a:avLst>
          </a:prstGeom>
          <a:solidFill>
            <a:srgbClr val="FFFFFF"/>
          </a:solidFill>
          <a:ln w="12700">
            <a:solidFill>
              <a:srgbClr val="40404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430768" y="2569463"/>
            <a:ext cx="2999232" cy="868680"/>
          </a:xfrm>
          <a:prstGeom prst="rect">
            <a:avLst/>
          </a:prstGeom>
          <a:noFill/>
        </p:spPr>
        <p:txBody>
          <a:bodyPr wrap="square" anchor="ctr" lIns="54864" rIns="54864" tIns="27432" bIns="27432">
            <a:spAutoFit/>
          </a:bodyPr>
          <a:lstStyle/>
          <a:p>
            <a:pPr algn="l">
              <a:spcAft>
                <a:spcPts val="300"/>
              </a:spcAft>
              <a:buNone/>
            </a:pPr>
            <a:r>
              <a:rPr sz="1200" b="0" i="0">
                <a:solidFill>
                  <a:srgbClr val="111111"/>
                </a:solidFill>
                <a:latin typeface="Times New Roman"/>
              </a:rPr>
              <a:t>Partner hospital · test on real Indian COPD records · tune alert line</a:t>
            </a:r>
          </a:p>
        </p:txBody>
      </p:sp>
      <p:sp>
        <p:nvSpPr>
          <p:cNvPr id="16" name="Down arrow"/>
          <p:cNvSpPr/>
          <p:nvPr/>
        </p:nvSpPr>
        <p:spPr>
          <a:xfrm>
            <a:off x="7360920" y="3465576"/>
            <a:ext cx="274320" cy="137160"/>
          </a:xfrm>
          <a:prstGeom prst="downArrow">
            <a:avLst/>
          </a:prstGeom>
          <a:solidFill>
            <a:srgbClr val="2F55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Phase 2: Patient app"/>
          <p:cNvSpPr/>
          <p:nvPr/>
        </p:nvSpPr>
        <p:spPr>
          <a:xfrm>
            <a:off x="6720840" y="3611879"/>
            <a:ext cx="1554480" cy="914400"/>
          </a:xfrm>
          <a:prstGeom prst="rect">
            <a:avLst/>
          </a:prstGeom>
          <a:solidFill>
            <a:srgbClr val="8EA9DB"/>
          </a:solidFill>
          <a:ln w="952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i="0">
                <a:solidFill>
                  <a:srgbClr val="111111"/>
                </a:solidFill>
                <a:latin typeface="Times New Roman"/>
              </a:rPr>
              <a:t>Phase 2: Patient app</a:t>
            </a:r>
          </a:p>
        </p:txBody>
      </p:sp>
      <p:sp>
        <p:nvSpPr>
          <p:cNvPr id="18" name="Phase 2: Patient app details"/>
          <p:cNvSpPr/>
          <p:nvPr/>
        </p:nvSpPr>
        <p:spPr>
          <a:xfrm>
            <a:off x="8366760" y="3611879"/>
            <a:ext cx="3108960" cy="914400"/>
          </a:xfrm>
          <a:prstGeom prst="roundRect">
            <a:avLst>
              <a:gd name="adj" fmla="val 12000"/>
            </a:avLst>
          </a:prstGeom>
          <a:solidFill>
            <a:srgbClr val="FFFFFF"/>
          </a:solidFill>
          <a:ln w="12700">
            <a:solidFill>
              <a:srgbClr val="40404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8430768" y="3639311"/>
            <a:ext cx="2999232" cy="868680"/>
          </a:xfrm>
          <a:prstGeom prst="rect">
            <a:avLst/>
          </a:prstGeom>
          <a:noFill/>
        </p:spPr>
        <p:txBody>
          <a:bodyPr wrap="square" anchor="ctr" lIns="54864" rIns="54864" tIns="27432" bIns="27432">
            <a:spAutoFit/>
          </a:bodyPr>
          <a:lstStyle/>
          <a:p>
            <a:pPr algn="l">
              <a:spcAft>
                <a:spcPts val="300"/>
              </a:spcAft>
              <a:buNone/>
            </a:pPr>
            <a:r>
              <a:rPr sz="1200" b="0" i="0">
                <a:solidFill>
                  <a:srgbClr val="111111"/>
                </a:solidFill>
                <a:latin typeface="Times New Roman"/>
              </a:rPr>
              <a:t>"My lungs today" · daily symptom check-in · SMS / WhatsApp alerts · Hindi</a:t>
            </a:r>
          </a:p>
        </p:txBody>
      </p:sp>
      <p:sp>
        <p:nvSpPr>
          <p:cNvPr id="20" name="Down arrow"/>
          <p:cNvSpPr/>
          <p:nvPr/>
        </p:nvSpPr>
        <p:spPr>
          <a:xfrm>
            <a:off x="7360920" y="4535424"/>
            <a:ext cx="274320" cy="137160"/>
          </a:xfrm>
          <a:prstGeom prst="downArrow">
            <a:avLst/>
          </a:prstGeom>
          <a:solidFill>
            <a:srgbClr val="2F55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Phase 3: Scale"/>
          <p:cNvSpPr/>
          <p:nvPr/>
        </p:nvSpPr>
        <p:spPr>
          <a:xfrm>
            <a:off x="6720840" y="4681727"/>
            <a:ext cx="1554480" cy="914400"/>
          </a:xfrm>
          <a:prstGeom prst="rect">
            <a:avLst/>
          </a:prstGeom>
          <a:solidFill>
            <a:srgbClr val="8EA9DB"/>
          </a:solidFill>
          <a:ln w="952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i="0">
                <a:solidFill>
                  <a:srgbClr val="111111"/>
                </a:solidFill>
                <a:latin typeface="Times New Roman"/>
              </a:rPr>
              <a:t>Phase 3: Scale</a:t>
            </a:r>
          </a:p>
        </p:txBody>
      </p:sp>
      <p:sp>
        <p:nvSpPr>
          <p:cNvPr id="22" name="Phase 3: Scale details"/>
          <p:cNvSpPr/>
          <p:nvPr/>
        </p:nvSpPr>
        <p:spPr>
          <a:xfrm>
            <a:off x="8366760" y="4681727"/>
            <a:ext cx="3108960" cy="914400"/>
          </a:xfrm>
          <a:prstGeom prst="roundRect">
            <a:avLst>
              <a:gd name="adj" fmla="val 12000"/>
            </a:avLst>
          </a:prstGeom>
          <a:solidFill>
            <a:srgbClr val="FFFFFF"/>
          </a:solidFill>
          <a:ln w="12700">
            <a:solidFill>
              <a:srgbClr val="40404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430768" y="4709159"/>
            <a:ext cx="2999232" cy="868680"/>
          </a:xfrm>
          <a:prstGeom prst="rect">
            <a:avLst/>
          </a:prstGeom>
          <a:noFill/>
        </p:spPr>
        <p:txBody>
          <a:bodyPr wrap="square" anchor="ctr" lIns="54864" rIns="54864" tIns="27432" bIns="27432">
            <a:spAutoFit/>
          </a:bodyPr>
          <a:lstStyle/>
          <a:p>
            <a:pPr algn="l">
              <a:spcAft>
                <a:spcPts val="300"/>
              </a:spcAft>
              <a:buNone/>
            </a:pPr>
            <a:r>
              <a:rPr sz="1200" b="0" i="0">
                <a:solidFill>
                  <a:srgbClr val="111111"/>
                </a:solidFill>
                <a:latin typeface="Times New Roman"/>
              </a:rPr>
              <a:t>Live air-quality forecasts · link to ABDM health records · health-worker rollout</a:t>
            </a:r>
          </a:p>
        </p:txBody>
      </p:sp>
      <p:sp>
        <p:nvSpPr>
          <p:cNvPr id="24" name="Takeaway banner"/>
          <p:cNvSpPr/>
          <p:nvPr/>
        </p:nvSpPr>
        <p:spPr>
          <a:xfrm>
            <a:off x="731520" y="5870448"/>
            <a:ext cx="10744200" cy="658368"/>
          </a:xfrm>
          <a:prstGeom prst="rect">
            <a:avLst/>
          </a:prstGeom>
          <a:solidFill>
            <a:srgbClr val="FFE699"/>
          </a:solidFill>
          <a:ln w="12700">
            <a:solidFill>
              <a:srgbClr val="F4B183"/>
            </a:solid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1700" b="1" i="0">
                <a:solidFill>
                  <a:srgbClr val="111111"/>
                </a:solidFill>
                <a:latin typeface="Times New Roman"/>
              </a:rPr>
              <a:t>Next step:</a:t>
            </a:r>
          </a:p>
          <a:p>
            <a:pPr algn="ctr"/>
            <a:r>
              <a:rPr sz="1500" b="0" i="1">
                <a:solidFill>
                  <a:srgbClr val="111111"/>
                </a:solidFill>
                <a:latin typeface="Times New Roman"/>
              </a:rPr>
              <a:t>Validate on real Indian COPD patients with a hospital partner before any clinical use.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descr="bg_title.jpg"/>
          <p:cNvPicPr>
            <a:picLocks noChangeAspect="1"/>
          </p:cNvPicPr>
          <p:nvPr/>
        </p:nvPicPr>
        <p:blipFill>
          <a:blip r:embed="rId2"/>
          <a:stretch>
            <a:fillRect/>
          </a:stretch>
        </p:blipFill>
        <p:spPr>
          <a:xfrm>
            <a:off x="0" y="0"/>
            <a:ext cx="12191695" cy="6858000"/>
          </a:xfrm>
          <a:prstGeom prst="rect">
            <a:avLst/>
          </a:prstGeom>
        </p:spPr>
      </p:pic>
      <p:sp>
        <p:nvSpPr>
          <p:cNvPr id="3" name="BreatheTwin logo"/>
          <p:cNvSpPr/>
          <p:nvPr/>
        </p:nvSpPr>
        <p:spPr>
          <a:xfrm>
            <a:off x="411480" y="201168"/>
            <a:ext cx="3794760" cy="603504"/>
          </a:xfrm>
          <a:prstGeom prst="rect">
            <a:avLst/>
          </a:prstGeom>
          <a:solidFill>
            <a:srgbClr val="0B2A78"/>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Logo mark"/>
          <p:cNvSpPr/>
          <p:nvPr/>
        </p:nvSpPr>
        <p:spPr>
          <a:xfrm>
            <a:off x="475488" y="256032"/>
            <a:ext cx="493776" cy="4937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900" b="1">
                <a:solidFill>
                  <a:srgbClr val="B23A2E"/>
                </a:solidFill>
                <a:latin typeface="Arial"/>
              </a:rPr>
              <a:t>BT</a:t>
            </a:r>
          </a:p>
        </p:txBody>
      </p:sp>
      <p:sp>
        <p:nvSpPr>
          <p:cNvPr id="5" name="Logo text"/>
          <p:cNvSpPr txBox="1"/>
          <p:nvPr/>
        </p:nvSpPr>
        <p:spPr>
          <a:xfrm>
            <a:off x="1024128" y="182880"/>
            <a:ext cx="3154680" cy="457200"/>
          </a:xfrm>
          <a:prstGeom prst="rect">
            <a:avLst/>
          </a:prstGeom>
          <a:noFill/>
        </p:spPr>
        <p:txBody>
          <a:bodyPr wrap="none" lIns="0" tIns="0" bIns="0">
            <a:spAutoFit/>
          </a:bodyPr>
          <a:lstStyle/>
          <a:p>
            <a:r>
              <a:rPr sz="2500" b="1">
                <a:solidFill>
                  <a:srgbClr val="FFFFFF"/>
                </a:solidFill>
                <a:latin typeface="Arial"/>
              </a:rPr>
              <a:t>BREATHETWIN</a:t>
            </a:r>
          </a:p>
        </p:txBody>
      </p:sp>
      <p:sp>
        <p:nvSpPr>
          <p:cNvPr id="6" name="Logo sub"/>
          <p:cNvSpPr txBox="1"/>
          <p:nvPr/>
        </p:nvSpPr>
        <p:spPr>
          <a:xfrm>
            <a:off x="1024128" y="585216"/>
            <a:ext cx="3108960" cy="219456"/>
          </a:xfrm>
          <a:prstGeom prst="rect">
            <a:avLst/>
          </a:prstGeom>
          <a:noFill/>
        </p:spPr>
        <p:txBody>
          <a:bodyPr wrap="none" lIns="0" tIns="0" bIns="0" rIns="0">
            <a:spAutoFit/>
          </a:bodyPr>
          <a:lstStyle/>
          <a:p>
            <a:pPr algn="r"/>
            <a:r>
              <a:rPr sz="900" b="1">
                <a:solidFill>
                  <a:srgbClr val="FFFFFF"/>
                </a:solidFill>
                <a:latin typeface="Arial"/>
              </a:rPr>
              <a:t>TEAM MOMENTUM</a:t>
            </a:r>
          </a:p>
        </p:txBody>
      </p:sp>
      <p:sp>
        <p:nvSpPr>
          <p:cNvPr id="7" name="Logo tagline"/>
          <p:cNvSpPr txBox="1"/>
          <p:nvPr/>
        </p:nvSpPr>
        <p:spPr>
          <a:xfrm>
            <a:off x="566928" y="822960"/>
            <a:ext cx="4023360" cy="274320"/>
          </a:xfrm>
          <a:prstGeom prst="rect">
            <a:avLst/>
          </a:prstGeom>
          <a:noFill/>
        </p:spPr>
        <p:txBody>
          <a:bodyPr wrap="none" lIns="0" tIns="0" bIns="0">
            <a:spAutoFit/>
          </a:bodyPr>
          <a:lstStyle/>
          <a:p>
            <a:r>
              <a:rPr sz="1300" b="1" i="1">
                <a:solidFill>
                  <a:srgbClr val="FFFFFF"/>
                </a:solidFill>
                <a:latin typeface="Arial"/>
              </a:rPr>
              <a:t>EARLY WARNING. EASIER BREATHING.</a:t>
            </a:r>
          </a:p>
        </p:txBody>
      </p:sp>
      <p:sp>
        <p:nvSpPr>
          <p:cNvPr id="8" name="Thank you"/>
          <p:cNvSpPr txBox="1"/>
          <p:nvPr/>
        </p:nvSpPr>
        <p:spPr>
          <a:xfrm>
            <a:off x="2926080" y="2651760"/>
            <a:ext cx="6309360" cy="1097280"/>
          </a:xfrm>
          <a:prstGeom prst="rect">
            <a:avLst/>
          </a:prstGeom>
          <a:noFill/>
        </p:spPr>
        <p:txBody>
          <a:bodyPr wrap="square" anchor="ctr" lIns="54864" rIns="54864" tIns="27432" bIns="27432">
            <a:spAutoFit/>
          </a:bodyPr>
          <a:lstStyle/>
          <a:p>
            <a:pPr algn="ctr">
              <a:spcAft>
                <a:spcPts val="300"/>
              </a:spcAft>
              <a:buNone/>
            </a:pPr>
            <a:r>
              <a:rPr sz="6000" b="0" i="0">
                <a:solidFill>
                  <a:srgbClr val="111111"/>
                </a:solidFill>
                <a:latin typeface="Times New Roman"/>
              </a:rPr>
              <a:t>Thank You!</a:t>
            </a:r>
          </a:p>
        </p:txBody>
      </p:sp>
      <p:sp>
        <p:nvSpPr>
          <p:cNvPr id="9" name="Team"/>
          <p:cNvSpPr txBox="1"/>
          <p:nvPr/>
        </p:nvSpPr>
        <p:spPr>
          <a:xfrm>
            <a:off x="2926080" y="3749039"/>
            <a:ext cx="6309360" cy="731520"/>
          </a:xfrm>
          <a:prstGeom prst="rect">
            <a:avLst/>
          </a:prstGeom>
          <a:noFill/>
        </p:spPr>
        <p:txBody>
          <a:bodyPr wrap="square" anchor="t" lIns="54864" rIns="54864" tIns="27432" bIns="27432">
            <a:spAutoFit/>
          </a:bodyPr>
          <a:lstStyle/>
          <a:p>
            <a:pPr algn="ctr">
              <a:spcAft>
                <a:spcPts val="300"/>
              </a:spcAft>
              <a:buNone/>
            </a:pPr>
            <a:r>
              <a:rPr sz="1800" b="0" i="0">
                <a:solidFill>
                  <a:srgbClr val="111111"/>
                </a:solidFill>
                <a:latin typeface="Times New Roman"/>
              </a:rPr>
              <a:t>Anushka Tomar (Team leader) · Yash Saxena</a:t>
            </a:r>
          </a:p>
          <a:p>
            <a:pPr algn="ctr">
              <a:spcAft>
                <a:spcPts val="300"/>
              </a:spcAft>
              <a:buNone/>
            </a:pPr>
            <a:r>
              <a:rPr sz="1800" b="0" i="1">
                <a:solidFill>
                  <a:srgbClr val="111111"/>
                </a:solidFill>
                <a:latin typeface="Times New Roman"/>
              </a:rPr>
              <a:t>Team MOMENTUM · SDA Bocconi Asia Center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